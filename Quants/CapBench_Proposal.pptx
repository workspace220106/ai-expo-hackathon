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3B3934"/>
                </a:solidFill>
                <a:latin typeface="Calibri"/>
              </a:defRPr>
            </a:pPr>
            <a:r>
              <a:rPr sz="1100" b="0" i="0" u="none" strike="noStrike">
                <a:solidFill>
                  <a:srgbClr val="3B3934"/>
                </a:solidFill>
                <a:latin typeface="Calibri"/>
              </a:rPr>
              <a:t>Illustrative: they always cross</a:t>
            </a:r>
          </a:p>
        </c:rich>
      </c:tx>
      <c:layout/>
      <c:overlay val="0"/>
    </c:title>
    <c:autoTitleDeleted val="0"/>
    <c:plotArea>
      <c:layout/>
      <c:lineChart>
        <c:varyColors val="0"/>
        <c:ser>
          <c:idx val="0"/>
          <c:order val="0"/>
          <c:tx>
            <c:strRef>
              <c:f>Sheet1!$B$1</c:f>
              <c:strCache>
                <c:ptCount val="1"/>
                <c:pt idx="0">
                  <c:v>Gross profit (∝ W)</c:v>
                </c:pt>
              </c:strCache>
            </c:strRef>
          </c:tx>
          <c:spPr>
            <a:solidFill>
              <a:srgbClr val="2C3E8F"/>
            </a:solidFill>
            <a:ln w="31750" cap="flat">
              <a:solidFill>
                <a:srgbClr val="2C3E8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C3E8F"/>
              </a:solidFill>
              <a:ln w="9525" cap="flat">
                <a:solidFill>
                  <a:srgbClr val="2C3E8F"/>
                </a:solidFill>
                <a:prstDash val="solid"/>
                <a:round/>
              </a:ln>
              <a:effectLst/>
            </c:spPr>
          </c:marker>
          <c:cat>
            <c:multiLvlStrRef>
              <c:f>Sheet1!$A$2:$A$12</c:f>
              <c:multiLvlStrCache>
                <c:ptCount val="11"/>
                <c:lvl>
                  <c:pt idx="0">
                    <c:v>0</c:v>
                  </c:pt>
                  <c:pt idx="1">
                    <c:v>2</c:v>
                  </c:pt>
                  <c:pt idx="2">
                    <c:v>4</c:v>
                  </c:pt>
                  <c:pt idx="3">
                    <c:v>6</c:v>
                  </c:pt>
                  <c:pt idx="4">
                    <c:v>8</c:v>
                  </c:pt>
                  <c:pt idx="5">
                    <c:v>10</c:v>
                  </c:pt>
                  <c:pt idx="6">
                    <c:v>12</c:v>
                  </c:pt>
                  <c:pt idx="7">
                    <c:v>14</c:v>
                  </c:pt>
                  <c:pt idx="8">
                    <c:v>16</c:v>
                  </c:pt>
                  <c:pt idx="9">
                    <c:v>18</c:v>
                  </c:pt>
                  <c:pt idx="10">
                    <c:v>20</c:v>
                  </c:pt>
                </c:lvl>
              </c:multiLvlStrCache>
            </c:multiLvlStrRef>
          </c:cat>
          <c:val>
            <c:numRef>
              <c:f>Sheet1!$B$2:$B$12</c:f>
              <c:numCache>
                <c:formatCode>General</c:formatCode>
                <c:ptCount val="11"/>
                <c:pt idx="0">
                  <c:v>0</c:v>
                </c:pt>
                <c:pt idx="1">
                  <c:v>2</c:v>
                </c:pt>
                <c:pt idx="2">
                  <c:v>4</c:v>
                </c:pt>
                <c:pt idx="3">
                  <c:v>6</c:v>
                </c:pt>
                <c:pt idx="4">
                  <c:v>8</c:v>
                </c:pt>
                <c:pt idx="5">
                  <c:v>10</c:v>
                </c:pt>
                <c:pt idx="6">
                  <c:v>12</c:v>
                </c:pt>
                <c:pt idx="7">
                  <c:v>14</c:v>
                </c:pt>
                <c:pt idx="8">
                  <c:v>16</c:v>
                </c:pt>
                <c:pt idx="9">
                  <c:v>18</c:v>
                </c:pt>
                <c:pt idx="10">
                  <c:v>20</c:v>
                </c:pt>
              </c:numCache>
            </c:numRef>
          </c:val>
          <c:smooth val="0"/>
        </c:ser>
        <c:ser>
          <c:idx val="1"/>
          <c:order val="1"/>
          <c:tx>
            <c:strRef>
              <c:f>Sheet1!$C$1</c:f>
              <c:strCache>
                <c:ptCount val="1"/>
                <c:pt idx="0">
                  <c:v>Trading cost (∝ W^1.5)</c:v>
                </c:pt>
              </c:strCache>
            </c:strRef>
          </c:tx>
          <c:spPr>
            <a:solidFill>
              <a:srgbClr val="B5541F"/>
            </a:solidFill>
            <a:ln w="31750" cap="flat">
              <a:solidFill>
                <a:srgbClr val="B5541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5541F"/>
              </a:solidFill>
              <a:ln w="9525" cap="flat">
                <a:solidFill>
                  <a:srgbClr val="B5541F"/>
                </a:solidFill>
                <a:prstDash val="solid"/>
                <a:round/>
              </a:ln>
              <a:effectLst/>
            </c:spPr>
          </c:marker>
          <c:cat>
            <c:multiLvlStrRef>
              <c:f>Sheet1!$A$2:$A$12</c:f>
              <c:multiLvlStrCache>
                <c:ptCount val="11"/>
                <c:lvl>
                  <c:pt idx="0">
                    <c:v>0</c:v>
                  </c:pt>
                  <c:pt idx="1">
                    <c:v>2</c:v>
                  </c:pt>
                  <c:pt idx="2">
                    <c:v>4</c:v>
                  </c:pt>
                  <c:pt idx="3">
                    <c:v>6</c:v>
                  </c:pt>
                  <c:pt idx="4">
                    <c:v>8</c:v>
                  </c:pt>
                  <c:pt idx="5">
                    <c:v>10</c:v>
                  </c:pt>
                  <c:pt idx="6">
                    <c:v>12</c:v>
                  </c:pt>
                  <c:pt idx="7">
                    <c:v>14</c:v>
                  </c:pt>
                  <c:pt idx="8">
                    <c:v>16</c:v>
                  </c:pt>
                  <c:pt idx="9">
                    <c:v>18</c:v>
                  </c:pt>
                  <c:pt idx="10">
                    <c:v>20</c:v>
                  </c:pt>
                </c:lvl>
              </c:multiLvlStrCache>
            </c:multiLvlStrRef>
          </c:cat>
          <c:val>
            <c:numRef>
              <c:f>Sheet1!$C$2:$C$12</c:f>
              <c:numCache>
                <c:formatCode>General</c:formatCode>
                <c:ptCount val="11"/>
                <c:pt idx="0">
                  <c:v>0</c:v>
                </c:pt>
                <c:pt idx="1">
                  <c:v>0.79</c:v>
                </c:pt>
                <c:pt idx="2">
                  <c:v>2.24</c:v>
                </c:pt>
                <c:pt idx="3">
                  <c:v>4.12</c:v>
                </c:pt>
                <c:pt idx="4">
                  <c:v>6.34</c:v>
                </c:pt>
                <c:pt idx="5">
                  <c:v>8.85</c:v>
                </c:pt>
                <c:pt idx="6">
                  <c:v>11.64</c:v>
                </c:pt>
                <c:pt idx="7">
                  <c:v>14.67</c:v>
                </c:pt>
                <c:pt idx="8">
                  <c:v>17.92</c:v>
                </c:pt>
                <c:pt idx="9">
                  <c:v>21.38</c:v>
                </c:pt>
                <c:pt idx="10">
                  <c:v>25.04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6B6862"/>
                    </a:solidFill>
                    <a:latin typeface="Calibri"/>
                  </a:defRPr>
                </a:pPr>
                <a:r>
                  <a:rPr sz="900" b="0" i="0" u="none" strike="noStrike">
                    <a:solidFill>
                      <a:srgbClr val="6B6862"/>
                    </a:solidFill>
                    <a:latin typeface="Calibri"/>
                  </a:rPr>
                  <a:t>Deployed capital W</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B6862"/>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6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B6862"/>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6B6862"/>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A17"/>
                </a:solidFill>
                <a:latin typeface="Cambria"/>
              </a:defRPr>
            </a:pPr>
            <a:r>
              <a:rPr sz="1300" b="0" i="0" u="none" strike="noStrike">
                <a:solidFill>
                  <a:srgbClr val="1B1A17"/>
                </a:solidFill>
                <a:latin typeface="Cambria"/>
              </a:rPr>
              <a:t>At ₹10 crore — neural net wins</a:t>
            </a:r>
          </a:p>
        </c:rich>
      </c:tx>
      <c:layout/>
      <c:overlay val="0"/>
    </c:title>
    <c:autoTitleDeleted val="0"/>
    <c:plotArea>
      <c:layout/>
      <c:barChart>
        <c:barDir val="col"/>
        <c:grouping val="clustered"/>
        <c:varyColors val="0"/>
        <c:ser>
          <c:idx val="0"/>
          <c:order val="0"/>
          <c:tx>
            <c:strRef>
              <c:f>Sheet1!$B$1</c:f>
              <c:strCache>
                <c:ptCount val="1"/>
                <c:pt idx="0">
                  <c:v>Net Sharpe</c:v>
                </c:pt>
              </c:strCache>
            </c:strRef>
          </c:tx>
          <c:spPr>
            <a:solidFill>
              <a:srgbClr val="2C3E8F"/>
            </a:solidFill>
            <a:effectLst/>
          </c:spPr>
          <c:invertIfNegative val="0"/>
          <c:dLbls>
            <c:numFmt formatCode="0.00" sourceLinked="0"/>
            <c:txPr>
              <a:bodyPr/>
              <a:lstStyle/>
              <a:p>
                <a:pPr>
                  <a:defRPr b="0" i="0" strike="noStrike" sz="1000" u="none">
                    <a:solidFill>
                      <a:srgbClr val="1B1A17"/>
                    </a:solidFill>
                    <a:latin typeface="Calibri"/>
                  </a:defRPr>
                </a:pPr>
              </a:p>
            </c:txPr>
            <c:showLegendKey val="0"/>
            <c:showVal val="1"/>
            <c:showCatName val="0"/>
            <c:showSerName val="0"/>
            <c:showPercent val="0"/>
            <c:showBubbleSize val="0"/>
            <c:showLeaderLines val="0"/>
          </c:dLbls>
          <c:cat>
            <c:multiLvlStrRef>
              <c:f>Sheet1!$A$2:$A$5</c:f>
              <c:multiLvlStrCache>
                <c:ptCount val="4"/>
                <c:lvl>
                  <c:pt idx="0">
                    <c:v>Neural net</c:v>
                  </c:pt>
                  <c:pt idx="1">
                    <c:v>LightGBM</c:v>
                  </c:pt>
                  <c:pt idx="2">
                    <c:v>Linear</c:v>
                  </c:pt>
                  <c:pt idx="3">
                    <c:v>Slow model</c:v>
                  </c:pt>
                </c:lvl>
              </c:multiLvlStrCache>
            </c:multiLvlStrRef>
          </c:cat>
          <c:val>
            <c:numRef>
              <c:f>Sheet1!$B$2:$B$5</c:f>
              <c:numCache>
                <c:formatCode>General</c:formatCode>
                <c:ptCount val="4"/>
                <c:pt idx="0">
                  <c:v>1.35</c:v>
                </c:pt>
                <c:pt idx="1">
                  <c:v>1.1</c:v>
                </c:pt>
                <c:pt idx="2">
                  <c:v>0.7</c:v>
                </c:pt>
                <c:pt idx="3">
                  <c:v>0.65</c:v>
                </c:pt>
              </c:numCache>
            </c:numRef>
          </c:val>
        </c:ser>
        <c:dLbls>
          <c:numFmt formatCode="0.00" sourceLinked="0"/>
          <c:txPr>
            <a:bodyPr/>
            <a:lstStyle/>
            <a:p>
              <a:pPr>
                <a:defRPr b="0" i="0" strike="noStrike" sz="1000" u="none">
                  <a:solidFill>
                    <a:srgbClr val="1B1A17"/>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B3934"/>
                </a:solidFill>
                <a:latin typeface="Calibri"/>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6350" cap="flat">
              <a:solidFill>
                <a:srgbClr val="E8E6E1"/>
              </a:solidFill>
              <a:prstDash val="solid"/>
              <a:round/>
            </a:ln>
          </c:spPr>
        </c:majorGridlines>
        <c:title>
          <c:tx>
            <c:rich>
              <a:bodyPr/>
              <a:lstStyle/>
              <a:p>
                <a:pPr>
                  <a:defRPr sz="900" b="0" i="0" u="none" strike="noStrike">
                    <a:solidFill>
                      <a:srgbClr val="6B6862"/>
                    </a:solidFill>
                    <a:latin typeface="Calibri"/>
                  </a:defRPr>
                </a:pPr>
                <a:r>
                  <a:rPr sz="900" b="0" i="0" u="none" strike="noStrike">
                    <a:solidFill>
                      <a:srgbClr val="6B6862"/>
                    </a:solidFill>
                    <a:latin typeface="Calibri"/>
                  </a:rPr>
                  <a:t>Net Sharpe ratio</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B6862"/>
                </a:solidFill>
                <a:latin typeface="Calibri"/>
              </a:defRPr>
            </a:pPr>
            <a:endParaRPr lang="en-US"/>
          </a:p>
        </c:txPr>
        <c:crossAx val="2094734554"/>
        <c:crosses val="autoZero"/>
        <c:crossBetween val="between"/>
        <c:majorUnit val="0.4"/>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A17"/>
                </a:solidFill>
                <a:latin typeface="Cambria"/>
              </a:defRPr>
            </a:pPr>
            <a:r>
              <a:rPr sz="1300" b="0" i="0" u="none" strike="noStrike">
                <a:solidFill>
                  <a:srgbClr val="1B1A17"/>
                </a:solidFill>
                <a:latin typeface="Cambria"/>
              </a:rPr>
              <a:t>At ₹5,000 crore — slow model wins</a:t>
            </a:r>
          </a:p>
        </c:rich>
      </c:tx>
      <c:layout/>
      <c:overlay val="0"/>
    </c:title>
    <c:autoTitleDeleted val="0"/>
    <c:plotArea>
      <c:layout/>
      <c:barChart>
        <c:barDir val="col"/>
        <c:grouping val="clustered"/>
        <c:varyColors val="0"/>
        <c:ser>
          <c:idx val="0"/>
          <c:order val="0"/>
          <c:tx>
            <c:strRef>
              <c:f>Sheet1!$B$1</c:f>
              <c:strCache>
                <c:ptCount val="1"/>
                <c:pt idx="0">
                  <c:v>Net Sharpe</c:v>
                </c:pt>
              </c:strCache>
            </c:strRef>
          </c:tx>
          <c:spPr>
            <a:solidFill>
              <a:srgbClr val="B5541F"/>
            </a:solidFill>
            <a:effectLst/>
          </c:spPr>
          <c:invertIfNegative val="0"/>
          <c:dLbls>
            <c:numFmt formatCode="0.00" sourceLinked="0"/>
            <c:txPr>
              <a:bodyPr/>
              <a:lstStyle/>
              <a:p>
                <a:pPr>
                  <a:defRPr b="0" i="0" strike="noStrike" sz="1000" u="none">
                    <a:solidFill>
                      <a:srgbClr val="1B1A17"/>
                    </a:solidFill>
                    <a:latin typeface="Calibri"/>
                  </a:defRPr>
                </a:pPr>
              </a:p>
            </c:txPr>
            <c:showLegendKey val="0"/>
            <c:showVal val="1"/>
            <c:showCatName val="0"/>
            <c:showSerName val="0"/>
            <c:showPercent val="0"/>
            <c:showBubbleSize val="0"/>
            <c:showLeaderLines val="0"/>
          </c:dLbls>
          <c:cat>
            <c:multiLvlStrRef>
              <c:f>Sheet1!$A$2:$A$5</c:f>
              <c:multiLvlStrCache>
                <c:ptCount val="4"/>
                <c:lvl>
                  <c:pt idx="0">
                    <c:v>Neural net</c:v>
                  </c:pt>
                  <c:pt idx="1">
                    <c:v>LightGBM</c:v>
                  </c:pt>
                  <c:pt idx="2">
                    <c:v>Linear</c:v>
                  </c:pt>
                  <c:pt idx="3">
                    <c:v>Slow model</c:v>
                  </c:pt>
                </c:lvl>
              </c:multiLvlStrCache>
            </c:multiLvlStrRef>
          </c:cat>
          <c:val>
            <c:numRef>
              <c:f>Sheet1!$B$2:$B$5</c:f>
              <c:numCache>
                <c:formatCode>General</c:formatCode>
                <c:ptCount val="4"/>
                <c:pt idx="0">
                  <c:v>0.3</c:v>
                </c:pt>
                <c:pt idx="1">
                  <c:v>0.45</c:v>
                </c:pt>
                <c:pt idx="2">
                  <c:v>0.58</c:v>
                </c:pt>
                <c:pt idx="3">
                  <c:v>0.62</c:v>
                </c:pt>
              </c:numCache>
            </c:numRef>
          </c:val>
        </c:ser>
        <c:dLbls>
          <c:numFmt formatCode="0.00" sourceLinked="0"/>
          <c:txPr>
            <a:bodyPr/>
            <a:lstStyle/>
            <a:p>
              <a:pPr>
                <a:defRPr b="0" i="0" strike="noStrike" sz="1000" u="none">
                  <a:solidFill>
                    <a:srgbClr val="1B1A17"/>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B3934"/>
                </a:solidFill>
                <a:latin typeface="Calibri"/>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6350" cap="flat">
              <a:solidFill>
                <a:srgbClr val="E8E6E1"/>
              </a:solidFill>
              <a:prstDash val="solid"/>
              <a:round/>
            </a:ln>
          </c:spPr>
        </c:majorGridlines>
        <c:title>
          <c:tx>
            <c:rich>
              <a:bodyPr/>
              <a:lstStyle/>
              <a:p>
                <a:pPr>
                  <a:defRPr sz="900" b="0" i="0" u="none" strike="noStrike">
                    <a:solidFill>
                      <a:srgbClr val="6B6862"/>
                    </a:solidFill>
                    <a:latin typeface="Calibri"/>
                  </a:defRPr>
                </a:pPr>
                <a:r>
                  <a:rPr sz="900" b="0" i="0" u="none" strike="noStrike">
                    <a:solidFill>
                      <a:srgbClr val="6B6862"/>
                    </a:solidFill>
                    <a:latin typeface="Calibri"/>
                  </a:rPr>
                  <a:t>Net Sharpe ratio</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B6862"/>
                </a:solidFill>
                <a:latin typeface="Calibri"/>
              </a:defRPr>
            </a:pPr>
            <a:endParaRPr lang="en-US"/>
          </a:p>
        </c:txPr>
        <c:crossAx val="2094734554"/>
        <c:crosses val="autoZero"/>
        <c:crossBetween val="between"/>
        <c:majorUnit val="0.4"/>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A17"/>
                </a:solidFill>
                <a:latin typeface="Cambria"/>
              </a:defRPr>
            </a:pPr>
            <a:r>
              <a:rPr sz="1200" b="0" i="0" u="none" strike="noStrike">
                <a:solidFill>
                  <a:srgbClr val="1B1A17"/>
                </a:solidFill>
                <a:latin typeface="Cambria"/>
              </a:rPr>
              <a:t>Performance peaks at three hidden layers</a:t>
            </a:r>
          </a:p>
        </c:rich>
      </c:tx>
      <c:layout/>
      <c:overlay val="0"/>
    </c:title>
    <c:autoTitleDeleted val="0"/>
    <c:plotArea>
      <c:layout/>
      <c:lineChart>
        <c:varyColors val="0"/>
        <c:ser>
          <c:idx val="0"/>
          <c:order val="0"/>
          <c:tx>
            <c:strRef>
              <c:f>Sheet1!$B$1</c:f>
              <c:strCache>
                <c:ptCount val="1"/>
                <c:pt idx="0">
                  <c:v>R²</c:v>
                </c:pt>
              </c:strCache>
            </c:strRef>
          </c:tx>
          <c:spPr>
            <a:solidFill>
              <a:srgbClr val="2C3E8F"/>
            </a:solidFill>
            <a:ln w="31750" cap="flat">
              <a:solidFill>
                <a:srgbClr val="2C3E8F"/>
              </a:solidFill>
              <a:prstDash val="solid"/>
              <a:round/>
            </a:ln>
            <a:effectLst/>
          </c:spPr>
          <c:invertIfNegative val="0"/>
          <c:dLbls>
            <c:numFmt formatCode="0.00" sourceLinked="0"/>
            <c:txPr>
              <a:bodyPr/>
              <a:lstStyle/>
              <a:p>
                <a:pPr>
                  <a:defRPr b="0" i="0" strike="noStrike" sz="900" u="none">
                    <a:solidFill>
                      <a:srgbClr val="1B1A17"/>
                    </a:solidFill>
                    <a:latin typeface="Calibri"/>
                  </a:defRPr>
                </a:pPr>
              </a:p>
            </c:txPr>
            <c:dLblPos val="t"/>
            <c:showLegendKey val="0"/>
            <c:showVal val="1"/>
            <c:showCatName val="0"/>
            <c:showSerName val="0"/>
            <c:showPercent val="0"/>
            <c:showBubbleSize val="0"/>
            <c:showLeaderLines val="0"/>
          </c:dLbls>
          <c:marker>
            <c:symbol val="circle"/>
            <c:size val="9"/>
            <c:spPr>
              <a:solidFill>
                <a:srgbClr val="2C3E8F"/>
              </a:solidFill>
              <a:ln w="9525" cap="flat">
                <a:solidFill>
                  <a:srgbClr val="2C3E8F"/>
                </a:solidFill>
                <a:prstDash val="solid"/>
                <a:round/>
              </a:ln>
              <a:effectLst/>
            </c:spPr>
          </c:marker>
          <c:cat>
            <c:multiLvlStrRef>
              <c:f>Sheet1!$A$2:$A$6</c:f>
              <c:multiLvlStrCache>
                <c:ptCount val="5"/>
                <c:lvl>
                  <c:pt idx="0">
                    <c:v>1</c:v>
                  </c:pt>
                  <c:pt idx="1">
                    <c:v>2</c:v>
                  </c:pt>
                  <c:pt idx="2">
                    <c:v>3</c:v>
                  </c:pt>
                  <c:pt idx="3">
                    <c:v>4</c:v>
                  </c:pt>
                  <c:pt idx="4">
                    <c:v>5</c:v>
                  </c:pt>
                </c:lvl>
              </c:multiLvlStrCache>
            </c:multiLvlStrRef>
          </c:cat>
          <c:val>
            <c:numRef>
              <c:f>Sheet1!$B$2:$B$6</c:f>
              <c:numCache>
                <c:formatCode>General</c:formatCode>
                <c:ptCount val="5"/>
                <c:pt idx="0">
                  <c:v>0.33</c:v>
                </c:pt>
                <c:pt idx="1">
                  <c:v>0.39</c:v>
                </c:pt>
                <c:pt idx="2">
                  <c:v>0.4</c:v>
                </c:pt>
                <c:pt idx="3">
                  <c:v>0.37</c:v>
                </c:pt>
                <c:pt idx="4">
                  <c:v>0.36</c:v>
                </c:pt>
              </c:numCache>
            </c:numRef>
          </c:val>
          <c:smooth val="0"/>
        </c:ser>
        <c:dLbls>
          <c:numFmt formatCode="0.00" sourceLinked="0"/>
          <c:txPr>
            <a:bodyPr/>
            <a:lstStyle/>
            <a:p>
              <a:pPr>
                <a:defRPr b="0" i="0" strike="noStrike" sz="900" u="none">
                  <a:solidFill>
                    <a:srgbClr val="1B1A17"/>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6B6862"/>
                    </a:solidFill>
                    <a:latin typeface="Calibri"/>
                  </a:defRPr>
                </a:pPr>
                <a:r>
                  <a:rPr sz="900" b="0" i="0" u="none" strike="noStrike">
                    <a:solidFill>
                      <a:srgbClr val="6B6862"/>
                    </a:solidFill>
                    <a:latin typeface="Calibri"/>
                  </a:rPr>
                  <a:t>Hidden layers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B3934"/>
                </a:solidFill>
                <a:latin typeface="Calibri"/>
              </a:defRPr>
            </a:pPr>
            <a:endParaRPr lang="en-US"/>
          </a:p>
        </c:txPr>
        <c:crossAx val="2094734552"/>
        <c:crosses val="autoZero"/>
        <c:auto val="1"/>
        <c:lblAlgn val="ctr"/>
        <c:noMultiLvlLbl val="1"/>
      </c:catAx>
      <c:valAx>
        <c:axId val="2094734552"/>
        <c:scaling>
          <c:orientation val="minMax"/>
          <c:max val="0.42"/>
          <c:min val="0.3"/>
        </c:scaling>
        <c:delete val="0"/>
        <c:axPos val="l"/>
        <c:majorGridlines>
          <c:spPr>
            <a:ln w="6350" cap="flat">
              <a:solidFill>
                <a:srgbClr val="E8E6E1"/>
              </a:solidFill>
              <a:prstDash val="solid"/>
              <a:round/>
            </a:ln>
          </c:spPr>
        </c:majorGridlines>
        <c:title>
          <c:tx>
            <c:rich>
              <a:bodyPr/>
              <a:lstStyle/>
              <a:p>
                <a:pPr>
                  <a:defRPr sz="900" b="0" i="0" u="none" strike="noStrike">
                    <a:solidFill>
                      <a:srgbClr val="6B6862"/>
                    </a:solidFill>
                    <a:latin typeface="Calibri"/>
                  </a:defRPr>
                </a:pPr>
                <a:r>
                  <a:rPr sz="900" b="0" i="0" u="none" strike="noStrike">
                    <a:solidFill>
                      <a:srgbClr val="6B6862"/>
                    </a:solidFill>
                    <a:latin typeface="Calibri"/>
                  </a:rPr>
                  <a:t>Monthly out-of-sample R²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B6862"/>
                </a:solidFill>
                <a:latin typeface="Calibri"/>
              </a:defRPr>
            </a:pPr>
            <a:endParaRPr lang="en-US"/>
          </a:p>
        </c:txPr>
        <c:crossAx val="2094734554"/>
        <c:crosses val="autoZero"/>
        <c:crossBetween val="between"/>
        <c:majorUnit val="0.03"/>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proposing a project called CapBench. In one sentence: machine learning models in finance are ranked by a score that ignores what it costs to use them, and this project builds the corrected score. I want to stress upfront that this is an evaluation methodology project, not a trading system. I'll show you the problem in the next two slides using an example every one of you will recognise from your own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models. A is 95.2% accurate and runs in 2 milliseconds. B is 95.8% accurate and takes 400 milliseconds. Which is better? [Pause.] Right — it depends on deployment. On a phone, A wins. On a server with no latency budget, B wins. This is so well understood in systems ML that we have entire benchmarks for it. Hold that thought, because there is one field of machine learning where we still report only the accuracy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why finance has a deployment cost. When you buy a stock, you buy from an order book — a queue of sellers at rising prices. Want 1,500 shares? You pay 101 for the first 200, 102 for the next 500, 104 for the rest. Your average is 102.93, nearly two percent worse than the price you saw. That gap is called market impact. It has been measured for decades and it grows with the square root of how much of the daily volume you consume. The point: this cost is real, it is well understood, and financial ML papers leave it out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arithmetic, which is the entire project on one slide. Profit scales with the money you deploy — linearly. But we just saw cost scales with the square root of volume consumed, which means cost in rupees scales with money to the power one-and-a-half. Divide through and net Sharpe ratio equals gross Sharpe minus k times root W. Two consequences. One: there is always a capital level where the lines cross. Two: k depends on turnover to the power 1.5, so trading twice as often costs 2.83 times as much. That is why a fast model loses to a slow one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we expect to see. Left: four models scored the way published papers score them, at a small deployment. The neural net wins, and that is what the literature reports. Right: the same four models at five thousand crore. The ranking has inverted. The slow, boring model is now the best, because it barely trades. These numbers are illustrative — the slide shows the shape we are testing for. And I want to be clear: whether or not this inversion appears, we have a result. That is the property that makes this a safe nine-month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concrete contributions. A metric: performance as a curve over capital rather than a point. A benchmark: those curves measured for four standard model families on Indian equities. An empirical result: the crossover threshold, pre-registered as a hypothesis with a falsification condition. An explainability result: SHAP attribution at each capital level, asking whether the important features change with scale — a question nobody has asked. And an open-source library so other researchers can report the metric without rebuilding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models. The three-feature linear regression is our honesty baseline — the benchmark paper in this field tested thirteen models and, after correcting for multiple comparisons, none significantly beat it. If ours does by a wide margin, we assume a bug. Elastic Net tells us how much comes from having more features versus from nonlinearity. Gradient boosting is the workhorse: it finds interactions automatically and will probably win at small scale. The shallow neural net is there for comparability. And the slow composite is our experimental control — designed to lose at small scale and win at large. Look at the turnover column. That is the variable this whole project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natural question is why we don't use deep learning. The benchmark paper answered it. They trained networks from one to five hidden layers on thirty thousand US stocks. Performance peaked at three and declined. The reason is signal-to-noise: this problem has almost no signal, so extra capacity just memorises noise. And there is no sequence here — we rank five hundred stocks against each other each month, on tabular features. Gradient boosting is the right tool for that. Being able to say why not to use deep learning, with a citation, is more credible than using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standard set from decades of asset pricing research — we deliberately invent none, because the contribution is the evaluation, not the signal. Five families: price trend, liquidity, size, value, quality. The last column is the one that matters to us. Fast-decaying features force frequent trading, which drives turnover, which drives cost. And one preprocessing step: rank every feature within each month. It kills outliers, makes scales comparable, and cannot leak the future because it only ever sees that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Finance ML is notorious for results that don't replicate, so rigour is the core of this proposal. Walk-forward validation: train on the past, tune on a validation window, test on a period touched exactly once at the end, never shuffled. Then proper statistical tests rather than 'the number is bigger', Bonferroni correction because we compare many models, bootstrap intervals, placebo features to catch a broken pipeline, and we publish how many configurations we tried. On the right, the explainability contribution: SHAP attribution at each capital level, with its known limitation stated and addressed by an ablation cross-check.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steps, all using standard libraries — there is no new algorithm to invent, which is exactly why this fits nine months. The novelty is in the experimental design. On the timeline: the first two months are foundations and data, month three is a working baseline, month four adds the cost model, and month five runs the capacity sweep. That is the milestone I want you to note. By month five the first real result exists, with four months of margin for the remaining models, the explainability work, robustness, the paper, and the library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Feasible: Indian equities, about ninety thousand rows, laptop-scale, free data, standard libraries — and Indian markets are less liquid than the US, so the effect we are measuring is larger and easier to detect. Safe: the deliverable is a measured relationship, so a negative result is still a result, and our biggest limitation is handled by reporting a band rather than a false point estimate. The ask: approval of the topic and a supervisor from ML or data science. No cluster needed. In one sentence — an accepted principle from systems ML, applied for the first time to financial ML, on a market where nobody has measured it.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5C"/>
        </a:solidFill>
      </p:bgPr>
    </p:bg>
    <p:spTree>
      <p:nvGrpSpPr>
        <p:cNvPr id="1" name=""/>
        <p:cNvGrpSpPr/>
        <p:nvPr/>
      </p:nvGrpSpPr>
      <p:grpSpPr>
        <a:xfrm>
          <a:off x="0" y="0"/>
          <a:ext cx="0" cy="0"/>
          <a:chOff x="0" y="0"/>
          <a:chExt cx="0" cy="0"/>
        </a:xfrm>
      </p:grpSpPr>
      <p:sp>
        <p:nvSpPr>
          <p:cNvPr id="2" name="Text 0"/>
          <p:cNvSpPr txBox="1"/>
          <p:nvPr/>
        </p:nvSpPr>
        <p:spPr>
          <a:xfrm>
            <a:off x="4754880" y="1005840"/>
            <a:ext cx="4206240" cy="2011680"/>
          </a:xfrm>
          <a:prstGeom prst="rect">
            <a:avLst/>
          </a:prstGeom>
          <a:noFill/>
          <a:ln/>
        </p:spPr>
        <p:txBody>
          <a:bodyPr wrap="square" lIns="0" tIns="0" rIns="0" bIns="0" rtlCol="0" anchor="ctr"/>
          <a:lstStyle/>
          <a:p>
            <a:pPr algn="r" indent="0" marL="0">
              <a:buNone/>
            </a:pPr>
            <a:r>
              <a:rPr lang="en-US" sz="6000" b="1" dirty="0">
                <a:solidFill>
                  <a:srgbClr val="2A3670"/>
                </a:solidFill>
                <a:latin typeface="Courier New" pitchFamily="34" charset="0"/>
                <a:ea typeface="Courier New" pitchFamily="34" charset="-122"/>
                <a:cs typeface="Courier New" pitchFamily="34" charset="-120"/>
              </a:rPr>
              <a:t>SR − k·√W</a:t>
            </a:r>
            <a:endParaRPr lang="en-US" sz="6000" dirty="0"/>
          </a:p>
        </p:txBody>
      </p:sp>
      <p:sp>
        <p:nvSpPr>
          <p:cNvPr id="3" name="Text 1"/>
          <p:cNvSpPr txBox="1"/>
          <p:nvPr/>
        </p:nvSpPr>
        <p:spPr>
          <a:xfrm>
            <a:off x="457200" y="310896"/>
            <a:ext cx="6400800" cy="219456"/>
          </a:xfrm>
          <a:prstGeom prst="rect">
            <a:avLst/>
          </a:prstGeom>
          <a:noFill/>
          <a:ln/>
        </p:spPr>
        <p:txBody>
          <a:bodyPr wrap="square" lIns="0" tIns="0" rIns="0" bIns="0" rtlCol="0" anchor="ctr"/>
          <a:lstStyle/>
          <a:p>
            <a:pPr indent="0" marL="0">
              <a:buNone/>
            </a:pPr>
            <a:r>
              <a:rPr lang="en-US" sz="900" b="1" spc="200" kern="0" dirty="0">
                <a:solidFill>
                  <a:srgbClr val="C9D2F0"/>
                </a:solidFill>
                <a:latin typeface="Calibri" pitchFamily="34" charset="0"/>
                <a:ea typeface="Calibri" pitchFamily="34" charset="-122"/>
                <a:cs typeface="Calibri" pitchFamily="34" charset="-120"/>
              </a:rPr>
              <a:t>FINAL YEAR PROJECT PROPOSAL  ·  COMPUTER SCIENCE &amp; ENGINEERING</a:t>
            </a:r>
            <a:endParaRPr lang="en-US" sz="900" dirty="0"/>
          </a:p>
        </p:txBody>
      </p:sp>
      <p:sp>
        <p:nvSpPr>
          <p:cNvPr id="4" name="Text 2"/>
          <p:cNvSpPr txBox="1"/>
          <p:nvPr/>
        </p:nvSpPr>
        <p:spPr>
          <a:xfrm>
            <a:off x="457200" y="1234440"/>
            <a:ext cx="5943600" cy="1097280"/>
          </a:xfrm>
          <a:prstGeom prst="rect">
            <a:avLst/>
          </a:prstGeom>
          <a:noFill/>
          <a:ln/>
        </p:spPr>
        <p:txBody>
          <a:bodyPr wrap="square" lIns="0" tIns="0" rIns="0" bIns="0" rtlCol="0" anchor="t"/>
          <a:lstStyle/>
          <a:p>
            <a:pPr indent="0" marL="0">
              <a:buNone/>
            </a:pPr>
            <a:r>
              <a:rPr lang="en-US" sz="6000" b="1" dirty="0">
                <a:solidFill>
                  <a:srgbClr val="FFFFFF"/>
                </a:solidFill>
                <a:latin typeface="Cambria" pitchFamily="34" charset="0"/>
                <a:ea typeface="Cambria" pitchFamily="34" charset="-122"/>
                <a:cs typeface="Cambria" pitchFamily="34" charset="-120"/>
              </a:rPr>
              <a:t>CapBench</a:t>
            </a:r>
            <a:endParaRPr lang="en-US" sz="6000" dirty="0"/>
          </a:p>
        </p:txBody>
      </p:sp>
      <p:sp>
        <p:nvSpPr>
          <p:cNvPr id="5" name="Text 3"/>
          <p:cNvSpPr txBox="1"/>
          <p:nvPr/>
        </p:nvSpPr>
        <p:spPr>
          <a:xfrm>
            <a:off x="457200" y="2377440"/>
            <a:ext cx="5669280" cy="1097280"/>
          </a:xfrm>
          <a:prstGeom prst="rect">
            <a:avLst/>
          </a:prstGeom>
          <a:noFill/>
          <a:ln/>
        </p:spPr>
        <p:txBody>
          <a:bodyPr wrap="square" lIns="0" tIns="0" rIns="0" bIns="0" rtlCol="0" anchor="t"/>
          <a:lstStyle/>
          <a:p>
            <a:pPr indent="0" marL="0">
              <a:buNone/>
            </a:pPr>
            <a:r>
              <a:rPr lang="en-US" sz="1800" dirty="0">
                <a:solidFill>
                  <a:srgbClr val="C9D2F0"/>
                </a:solidFill>
                <a:latin typeface="Calibri" pitchFamily="34" charset="0"/>
                <a:ea typeface="Calibri" pitchFamily="34" charset="-122"/>
                <a:cs typeface="Calibri" pitchFamily="34" charset="-120"/>
              </a:rPr>
              <a:t>Machine learning models for finance are ranked by a score that ignores what it costs to use them. This project fixes the score.</a:t>
            </a:r>
            <a:endParaRPr lang="en-US" sz="1800" dirty="0"/>
          </a:p>
        </p:txBody>
      </p:sp>
      <p:sp>
        <p:nvSpPr>
          <p:cNvPr id="6" name="Text 4"/>
          <p:cNvSpPr txBox="1"/>
          <p:nvPr/>
        </p:nvSpPr>
        <p:spPr>
          <a:xfrm>
            <a:off x="457200" y="4160520"/>
            <a:ext cx="8229600" cy="320040"/>
          </a:xfrm>
          <a:prstGeom prst="rect">
            <a:avLst/>
          </a:prstGeom>
          <a:noFill/>
          <a:ln/>
        </p:spPr>
        <p:txBody>
          <a:bodyPr wrap="square" lIns="0" tIns="0" rIns="0" bIns="0" rtlCol="0" anchor="ctr"/>
          <a:lstStyle/>
          <a:p>
            <a:pPr indent="0" marL="0">
              <a:buNone/>
            </a:pPr>
            <a:r>
              <a:rPr lang="en-US" sz="1200" dirty="0">
                <a:solidFill>
                  <a:srgbClr val="8E9AC9"/>
                </a:solidFill>
                <a:latin typeface="Calibri" pitchFamily="34" charset="0"/>
                <a:ea typeface="Calibri" pitchFamily="34" charset="-122"/>
                <a:cs typeface="Calibri" pitchFamily="34" charset="-120"/>
              </a:rPr>
              <a:t>Presented by  </a:t>
            </a:r>
            <a:pPr indent="0" marL="0">
              <a:buNone/>
            </a:pPr>
            <a:r>
              <a:rPr lang="en-US" sz="1200" dirty="0">
                <a:solidFill>
                  <a:srgbClr val="FFFFFF"/>
                </a:solidFill>
                <a:latin typeface="Calibri" pitchFamily="34" charset="0"/>
                <a:ea typeface="Calibri" pitchFamily="34" charset="-122"/>
                <a:cs typeface="Calibri" pitchFamily="34" charset="-120"/>
              </a:rPr>
              <a:t>[Your name]</a:t>
            </a:r>
            <a:pPr indent="0" marL="0">
              <a:buNone/>
            </a:pPr>
            <a:r>
              <a:rPr lang="en-US" sz="1200" dirty="0">
                <a:solidFill>
                  <a:srgbClr val="8E9AC9"/>
                </a:solidFill>
                <a:latin typeface="Calibri" pitchFamily="34" charset="0"/>
                <a:ea typeface="Calibri" pitchFamily="34" charset="-122"/>
                <a:cs typeface="Calibri" pitchFamily="34" charset="-120"/>
              </a:rPr>
              <a:t>     Supervisor  </a:t>
            </a:r>
            <a:pPr indent="0" marL="0">
              <a:buNone/>
            </a:pPr>
            <a:r>
              <a:rPr lang="en-US" sz="1200" dirty="0">
                <a:solidFill>
                  <a:srgbClr val="FFFFFF"/>
                </a:solidFill>
                <a:latin typeface="Calibri" pitchFamily="34" charset="0"/>
                <a:ea typeface="Calibri" pitchFamily="34" charset="-122"/>
                <a:cs typeface="Calibri" pitchFamily="34" charset="-120"/>
              </a:rPr>
              <a:t>[To be assigned]</a:t>
            </a:r>
            <a:pPr indent="0" marL="0">
              <a:buNone/>
            </a:pPr>
            <a:r>
              <a:rPr lang="en-US" sz="1200" dirty="0">
                <a:solidFill>
                  <a:srgbClr val="000000"/>
                </a:solidFill>
                <a:latin typeface="Calibri" pitchFamily="34" charset="0"/>
                <a:ea typeface="Calibri" pitchFamily="34" charset="-122"/>
                <a:cs typeface="Calibri" pitchFamily="34" charset="-120"/>
              </a:rPr>
              <a:t>     </a:t>
            </a:r>
            <a:pPr indent="0" marL="0">
              <a:buNone/>
            </a:pPr>
            <a:r>
              <a:rPr lang="en-US" sz="1200" dirty="0">
                <a:solidFill>
                  <a:srgbClr val="FFFFFF"/>
                </a:solidFill>
                <a:latin typeface="Calibri" pitchFamily="34" charset="0"/>
                <a:ea typeface="Calibri" pitchFamily="34" charset="-122"/>
                <a:cs typeface="Calibri" pitchFamily="34" charset="-120"/>
              </a:rPr>
              <a:t>[Date]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6400800" cy="219456"/>
          </a:xfrm>
          <a:prstGeom prst="rect">
            <a:avLst/>
          </a:prstGeom>
          <a:noFill/>
          <a:ln/>
        </p:spPr>
        <p:txBody>
          <a:bodyPr wrap="square" lIns="0" tIns="0" rIns="0" bIns="0" rtlCol="0" anchor="ctr"/>
          <a:lstStyle/>
          <a:p>
            <a:pPr indent="0" marL="0">
              <a:buNone/>
            </a:pPr>
            <a:r>
              <a:rPr lang="en-US" sz="900" b="1" spc="200" kern="0" dirty="0">
                <a:solidFill>
                  <a:srgbClr val="6B6862"/>
                </a:solidFill>
                <a:latin typeface="Calibri" pitchFamily="34" charset="0"/>
                <a:ea typeface="Calibri" pitchFamily="34" charset="-122"/>
                <a:cs typeface="Calibri" pitchFamily="34" charset="-120"/>
              </a:rPr>
              <a:t>THE PROBLEM</a:t>
            </a:r>
            <a:endParaRPr lang="en-US" sz="900" dirty="0"/>
          </a:p>
        </p:txBody>
      </p:sp>
      <p:sp>
        <p:nvSpPr>
          <p:cNvPr id="3" name="Text 1"/>
          <p:cNvSpPr txBox="1"/>
          <p:nvPr/>
        </p:nvSpPr>
        <p:spPr>
          <a:xfrm>
            <a:off x="457200" y="566928"/>
            <a:ext cx="8229600" cy="777240"/>
          </a:xfrm>
          <a:prstGeom prst="rect">
            <a:avLst/>
          </a:prstGeom>
          <a:noFill/>
          <a:ln/>
        </p:spPr>
        <p:txBody>
          <a:bodyPr wrap="square" lIns="0" tIns="0" rIns="0" bIns="0" rtlCol="0" anchor="t"/>
          <a:lstStyle/>
          <a:p>
            <a:pPr indent="0" marL="0">
              <a:buNone/>
            </a:pPr>
            <a:r>
              <a:rPr lang="en-US" sz="2800" b="1" dirty="0">
                <a:solidFill>
                  <a:srgbClr val="1B1A17"/>
                </a:solidFill>
                <a:latin typeface="Cambria" pitchFamily="34" charset="0"/>
                <a:ea typeface="Cambria" pitchFamily="34" charset="-122"/>
                <a:cs typeface="Cambria" pitchFamily="34" charset="-120"/>
              </a:rPr>
              <a:t>Which model is better?</a:t>
            </a:r>
            <a:endParaRPr lang="en-US" sz="2800" dirty="0"/>
          </a:p>
        </p:txBody>
      </p:sp>
      <p:sp>
        <p:nvSpPr>
          <p:cNvPr id="4" name="Text 2"/>
          <p:cNvSpPr txBox="1"/>
          <p:nvPr/>
        </p:nvSpPr>
        <p:spPr>
          <a:xfrm>
            <a:off x="7772400" y="4773168"/>
            <a:ext cx="914400" cy="201168"/>
          </a:xfrm>
          <a:prstGeom prst="rect">
            <a:avLst/>
          </a:prstGeom>
          <a:noFill/>
          <a:ln/>
        </p:spPr>
        <p:txBody>
          <a:bodyPr wrap="square" lIns="0" tIns="0" rIns="0" bIns="0" rtlCol="0" anchor="ctr"/>
          <a:lstStyle/>
          <a:p>
            <a:pPr algn="r" indent="0" marL="0">
              <a:buNone/>
            </a:pPr>
            <a:r>
              <a:rPr lang="en-US" sz="800" dirty="0">
                <a:solidFill>
                  <a:srgbClr val="A09C94"/>
                </a:solidFill>
                <a:latin typeface="Courier New" pitchFamily="34" charset="0"/>
                <a:ea typeface="Courier New" pitchFamily="34" charset="-122"/>
                <a:cs typeface="Courier New" pitchFamily="34" charset="-120"/>
              </a:rPr>
              <a:t>02 / 12</a:t>
            </a:r>
            <a:endParaRPr lang="en-US" sz="800" dirty="0"/>
          </a:p>
        </p:txBody>
      </p:sp>
      <p:sp>
        <p:nvSpPr>
          <p:cNvPr id="5" name="Shape 3"/>
          <p:cNvSpPr/>
          <p:nvPr/>
        </p:nvSpPr>
        <p:spPr>
          <a:xfrm>
            <a:off x="457200" y="1463040"/>
            <a:ext cx="4023360" cy="1737360"/>
          </a:xfrm>
          <a:prstGeom prst="roundRect">
            <a:avLst>
              <a:gd name="adj" fmla="val 4211"/>
            </a:avLst>
          </a:prstGeom>
          <a:solidFill>
            <a:srgbClr val="E4E7F4"/>
          </a:solidFill>
          <a:ln w="12700">
            <a:solidFill>
              <a:srgbClr val="E4E7F4"/>
            </a:solidFill>
            <a:prstDash val="solid"/>
          </a:ln>
        </p:spPr>
      </p:sp>
      <p:sp>
        <p:nvSpPr>
          <p:cNvPr id="6" name="Text 4"/>
          <p:cNvSpPr txBox="1"/>
          <p:nvPr/>
        </p:nvSpPr>
        <p:spPr>
          <a:xfrm>
            <a:off x="777240" y="1645920"/>
            <a:ext cx="3383280" cy="365760"/>
          </a:xfrm>
          <a:prstGeom prst="rect">
            <a:avLst/>
          </a:prstGeom>
          <a:noFill/>
          <a:ln/>
        </p:spPr>
        <p:txBody>
          <a:bodyPr wrap="square" lIns="0" tIns="0" rIns="0" bIns="0" rtlCol="0" anchor="ctr"/>
          <a:lstStyle/>
          <a:p>
            <a:pPr indent="0" marL="0">
              <a:buNone/>
            </a:pPr>
            <a:r>
              <a:rPr lang="en-US" sz="1300" b="1" spc="150" kern="0" dirty="0">
                <a:solidFill>
                  <a:srgbClr val="6B6862"/>
                </a:solidFill>
                <a:latin typeface="Calibri" pitchFamily="34" charset="0"/>
                <a:ea typeface="Calibri" pitchFamily="34" charset="-122"/>
                <a:cs typeface="Calibri" pitchFamily="34" charset="-120"/>
              </a:rPr>
              <a:t>Model A</a:t>
            </a:r>
            <a:endParaRPr lang="en-US" sz="1300" dirty="0"/>
          </a:p>
        </p:txBody>
      </p:sp>
      <p:sp>
        <p:nvSpPr>
          <p:cNvPr id="7" name="Text 5"/>
          <p:cNvSpPr txBox="1"/>
          <p:nvPr/>
        </p:nvSpPr>
        <p:spPr>
          <a:xfrm>
            <a:off x="777240" y="2011680"/>
            <a:ext cx="1737360" cy="731520"/>
          </a:xfrm>
          <a:prstGeom prst="rect">
            <a:avLst/>
          </a:prstGeom>
          <a:noFill/>
          <a:ln/>
        </p:spPr>
        <p:txBody>
          <a:bodyPr wrap="square" lIns="0" tIns="0" rIns="0" bIns="0" rtlCol="0" anchor="ctr"/>
          <a:lstStyle/>
          <a:p>
            <a:pPr indent="0" marL="0">
              <a:buNone/>
            </a:pPr>
            <a:r>
              <a:rPr lang="en-US" sz="4000" b="1" dirty="0">
                <a:solidFill>
                  <a:srgbClr val="2C3E8F"/>
                </a:solidFill>
                <a:latin typeface="Cambria" pitchFamily="34" charset="0"/>
                <a:ea typeface="Cambria" pitchFamily="34" charset="-122"/>
                <a:cs typeface="Cambria" pitchFamily="34" charset="-120"/>
              </a:rPr>
              <a:t>95.2%</a:t>
            </a:r>
            <a:endParaRPr lang="en-US" sz="4000" dirty="0"/>
          </a:p>
        </p:txBody>
      </p:sp>
      <p:sp>
        <p:nvSpPr>
          <p:cNvPr id="8" name="Text 6"/>
          <p:cNvSpPr txBox="1"/>
          <p:nvPr/>
        </p:nvSpPr>
        <p:spPr>
          <a:xfrm>
            <a:off x="777240" y="2743200"/>
            <a:ext cx="1737360" cy="274320"/>
          </a:xfrm>
          <a:prstGeom prst="rect">
            <a:avLst/>
          </a:prstGeom>
          <a:noFill/>
          <a:ln/>
        </p:spPr>
        <p:txBody>
          <a:bodyPr wrap="square" lIns="0" tIns="0" rIns="0" bIns="0" rtlCol="0" anchor="ctr"/>
          <a:lstStyle/>
          <a:p>
            <a:pPr indent="0" marL="0">
              <a:buNone/>
            </a:pPr>
            <a:r>
              <a:rPr lang="en-US" sz="1100" dirty="0">
                <a:solidFill>
                  <a:srgbClr val="6B6862"/>
                </a:solidFill>
                <a:latin typeface="Calibri" pitchFamily="34" charset="0"/>
                <a:ea typeface="Calibri" pitchFamily="34" charset="-122"/>
                <a:cs typeface="Calibri" pitchFamily="34" charset="-120"/>
              </a:rPr>
              <a:t>accuracy</a:t>
            </a:r>
            <a:endParaRPr lang="en-US" sz="1100" dirty="0"/>
          </a:p>
        </p:txBody>
      </p:sp>
      <p:sp>
        <p:nvSpPr>
          <p:cNvPr id="9" name="Text 7"/>
          <p:cNvSpPr txBox="1"/>
          <p:nvPr/>
        </p:nvSpPr>
        <p:spPr>
          <a:xfrm>
            <a:off x="2560320" y="2011680"/>
            <a:ext cx="1737360" cy="731520"/>
          </a:xfrm>
          <a:prstGeom prst="rect">
            <a:avLst/>
          </a:prstGeom>
          <a:noFill/>
          <a:ln/>
        </p:spPr>
        <p:txBody>
          <a:bodyPr wrap="square" lIns="0" tIns="0" rIns="0" bIns="0" rtlCol="0" anchor="ctr"/>
          <a:lstStyle/>
          <a:p>
            <a:pPr indent="0" marL="0">
              <a:buNone/>
            </a:pPr>
            <a:r>
              <a:rPr lang="en-US" sz="4000" b="1" dirty="0">
                <a:solidFill>
                  <a:srgbClr val="B5541F"/>
                </a:solidFill>
                <a:latin typeface="Cambria" pitchFamily="34" charset="0"/>
                <a:ea typeface="Cambria" pitchFamily="34" charset="-122"/>
                <a:cs typeface="Cambria" pitchFamily="34" charset="-120"/>
              </a:rPr>
              <a:t>2 ms</a:t>
            </a:r>
            <a:endParaRPr lang="en-US" sz="4000" dirty="0"/>
          </a:p>
        </p:txBody>
      </p:sp>
      <p:sp>
        <p:nvSpPr>
          <p:cNvPr id="10" name="Text 8"/>
          <p:cNvSpPr txBox="1"/>
          <p:nvPr/>
        </p:nvSpPr>
        <p:spPr>
          <a:xfrm>
            <a:off x="2560320" y="2743200"/>
            <a:ext cx="1737360" cy="274320"/>
          </a:xfrm>
          <a:prstGeom prst="rect">
            <a:avLst/>
          </a:prstGeom>
          <a:noFill/>
          <a:ln/>
        </p:spPr>
        <p:txBody>
          <a:bodyPr wrap="square" lIns="0" tIns="0" rIns="0" bIns="0" rtlCol="0" anchor="ctr"/>
          <a:lstStyle/>
          <a:p>
            <a:pPr indent="0" marL="0">
              <a:buNone/>
            </a:pPr>
            <a:r>
              <a:rPr lang="en-US" sz="1100" dirty="0">
                <a:solidFill>
                  <a:srgbClr val="6B6862"/>
                </a:solidFill>
                <a:latin typeface="Calibri" pitchFamily="34" charset="0"/>
                <a:ea typeface="Calibri" pitchFamily="34" charset="-122"/>
                <a:cs typeface="Calibri" pitchFamily="34" charset="-120"/>
              </a:rPr>
              <a:t>inference time</a:t>
            </a:r>
            <a:endParaRPr lang="en-US" sz="1100" dirty="0"/>
          </a:p>
        </p:txBody>
      </p:sp>
      <p:sp>
        <p:nvSpPr>
          <p:cNvPr id="11" name="Shape 9"/>
          <p:cNvSpPr/>
          <p:nvPr/>
        </p:nvSpPr>
        <p:spPr>
          <a:xfrm>
            <a:off x="4663440" y="1463040"/>
            <a:ext cx="4023360" cy="1737360"/>
          </a:xfrm>
          <a:prstGeom prst="roundRect">
            <a:avLst>
              <a:gd name="adj" fmla="val 4211"/>
            </a:avLst>
          </a:prstGeom>
          <a:solidFill>
            <a:srgbClr val="E4E7F4"/>
          </a:solidFill>
          <a:ln w="12700">
            <a:solidFill>
              <a:srgbClr val="E4E7F4"/>
            </a:solidFill>
            <a:prstDash val="solid"/>
          </a:ln>
        </p:spPr>
      </p:sp>
      <p:sp>
        <p:nvSpPr>
          <p:cNvPr id="12" name="Text 10"/>
          <p:cNvSpPr txBox="1"/>
          <p:nvPr/>
        </p:nvSpPr>
        <p:spPr>
          <a:xfrm>
            <a:off x="4983480" y="1645920"/>
            <a:ext cx="3383280" cy="365760"/>
          </a:xfrm>
          <a:prstGeom prst="rect">
            <a:avLst/>
          </a:prstGeom>
          <a:noFill/>
          <a:ln/>
        </p:spPr>
        <p:txBody>
          <a:bodyPr wrap="square" lIns="0" tIns="0" rIns="0" bIns="0" rtlCol="0" anchor="ctr"/>
          <a:lstStyle/>
          <a:p>
            <a:pPr indent="0" marL="0">
              <a:buNone/>
            </a:pPr>
            <a:r>
              <a:rPr lang="en-US" sz="1300" b="1" spc="150" kern="0" dirty="0">
                <a:solidFill>
                  <a:srgbClr val="6B6862"/>
                </a:solidFill>
                <a:latin typeface="Calibri" pitchFamily="34" charset="0"/>
                <a:ea typeface="Calibri" pitchFamily="34" charset="-122"/>
                <a:cs typeface="Calibri" pitchFamily="34" charset="-120"/>
              </a:rPr>
              <a:t>Model B</a:t>
            </a:r>
            <a:endParaRPr lang="en-US" sz="1300" dirty="0"/>
          </a:p>
        </p:txBody>
      </p:sp>
      <p:sp>
        <p:nvSpPr>
          <p:cNvPr id="13" name="Text 11"/>
          <p:cNvSpPr txBox="1"/>
          <p:nvPr/>
        </p:nvSpPr>
        <p:spPr>
          <a:xfrm>
            <a:off x="4983480" y="2011680"/>
            <a:ext cx="1737360" cy="731520"/>
          </a:xfrm>
          <a:prstGeom prst="rect">
            <a:avLst/>
          </a:prstGeom>
          <a:noFill/>
          <a:ln/>
        </p:spPr>
        <p:txBody>
          <a:bodyPr wrap="square" lIns="0" tIns="0" rIns="0" bIns="0" rtlCol="0" anchor="ctr"/>
          <a:lstStyle/>
          <a:p>
            <a:pPr indent="0" marL="0">
              <a:buNone/>
            </a:pPr>
            <a:r>
              <a:rPr lang="en-US" sz="4000" b="1" dirty="0">
                <a:solidFill>
                  <a:srgbClr val="2C3E8F"/>
                </a:solidFill>
                <a:latin typeface="Cambria" pitchFamily="34" charset="0"/>
                <a:ea typeface="Cambria" pitchFamily="34" charset="-122"/>
                <a:cs typeface="Cambria" pitchFamily="34" charset="-120"/>
              </a:rPr>
              <a:t>95.8%</a:t>
            </a:r>
            <a:endParaRPr lang="en-US" sz="4000" dirty="0"/>
          </a:p>
        </p:txBody>
      </p:sp>
      <p:sp>
        <p:nvSpPr>
          <p:cNvPr id="14" name="Text 12"/>
          <p:cNvSpPr txBox="1"/>
          <p:nvPr/>
        </p:nvSpPr>
        <p:spPr>
          <a:xfrm>
            <a:off x="4983480" y="2743200"/>
            <a:ext cx="1737360" cy="274320"/>
          </a:xfrm>
          <a:prstGeom prst="rect">
            <a:avLst/>
          </a:prstGeom>
          <a:noFill/>
          <a:ln/>
        </p:spPr>
        <p:txBody>
          <a:bodyPr wrap="square" lIns="0" tIns="0" rIns="0" bIns="0" rtlCol="0" anchor="ctr"/>
          <a:lstStyle/>
          <a:p>
            <a:pPr indent="0" marL="0">
              <a:buNone/>
            </a:pPr>
            <a:r>
              <a:rPr lang="en-US" sz="1100" dirty="0">
                <a:solidFill>
                  <a:srgbClr val="6B6862"/>
                </a:solidFill>
                <a:latin typeface="Calibri" pitchFamily="34" charset="0"/>
                <a:ea typeface="Calibri" pitchFamily="34" charset="-122"/>
                <a:cs typeface="Calibri" pitchFamily="34" charset="-120"/>
              </a:rPr>
              <a:t>accuracy</a:t>
            </a:r>
            <a:endParaRPr lang="en-US" sz="1100" dirty="0"/>
          </a:p>
        </p:txBody>
      </p:sp>
      <p:sp>
        <p:nvSpPr>
          <p:cNvPr id="15" name="Text 13"/>
          <p:cNvSpPr txBox="1"/>
          <p:nvPr/>
        </p:nvSpPr>
        <p:spPr>
          <a:xfrm>
            <a:off x="6766560" y="2011680"/>
            <a:ext cx="1737360" cy="731520"/>
          </a:xfrm>
          <a:prstGeom prst="rect">
            <a:avLst/>
          </a:prstGeom>
          <a:noFill/>
          <a:ln/>
        </p:spPr>
        <p:txBody>
          <a:bodyPr wrap="square" lIns="0" tIns="0" rIns="0" bIns="0" rtlCol="0" anchor="ctr"/>
          <a:lstStyle/>
          <a:p>
            <a:pPr indent="0" marL="0">
              <a:buNone/>
            </a:pPr>
            <a:r>
              <a:rPr lang="en-US" sz="4000" b="1" dirty="0">
                <a:solidFill>
                  <a:srgbClr val="B5541F"/>
                </a:solidFill>
                <a:latin typeface="Cambria" pitchFamily="34" charset="0"/>
                <a:ea typeface="Cambria" pitchFamily="34" charset="-122"/>
                <a:cs typeface="Cambria" pitchFamily="34" charset="-120"/>
              </a:rPr>
              <a:t>400 ms</a:t>
            </a:r>
            <a:endParaRPr lang="en-US" sz="4000" dirty="0"/>
          </a:p>
        </p:txBody>
      </p:sp>
      <p:sp>
        <p:nvSpPr>
          <p:cNvPr id="16" name="Text 14"/>
          <p:cNvSpPr txBox="1"/>
          <p:nvPr/>
        </p:nvSpPr>
        <p:spPr>
          <a:xfrm>
            <a:off x="6766560" y="2743200"/>
            <a:ext cx="1737360" cy="274320"/>
          </a:xfrm>
          <a:prstGeom prst="rect">
            <a:avLst/>
          </a:prstGeom>
          <a:noFill/>
          <a:ln/>
        </p:spPr>
        <p:txBody>
          <a:bodyPr wrap="square" lIns="0" tIns="0" rIns="0" bIns="0" rtlCol="0" anchor="ctr"/>
          <a:lstStyle/>
          <a:p>
            <a:pPr indent="0" marL="0">
              <a:buNone/>
            </a:pPr>
            <a:r>
              <a:rPr lang="en-US" sz="1100" dirty="0">
                <a:solidFill>
                  <a:srgbClr val="6B6862"/>
                </a:solidFill>
                <a:latin typeface="Calibri" pitchFamily="34" charset="0"/>
                <a:ea typeface="Calibri" pitchFamily="34" charset="-122"/>
                <a:cs typeface="Calibri" pitchFamily="34" charset="-120"/>
              </a:rPr>
              <a:t>inference time</a:t>
            </a:r>
            <a:endParaRPr lang="en-US" sz="1100" dirty="0"/>
          </a:p>
        </p:txBody>
      </p:sp>
      <p:sp>
        <p:nvSpPr>
          <p:cNvPr id="17" name="Text 15"/>
          <p:cNvSpPr txBox="1"/>
          <p:nvPr/>
        </p:nvSpPr>
        <p:spPr>
          <a:xfrm>
            <a:off x="457200" y="3520440"/>
            <a:ext cx="8229600" cy="457200"/>
          </a:xfrm>
          <a:prstGeom prst="rect">
            <a:avLst/>
          </a:prstGeom>
          <a:noFill/>
          <a:ln/>
        </p:spPr>
        <p:txBody>
          <a:bodyPr wrap="square" lIns="0" tIns="0" rIns="0" bIns="0" rtlCol="0" anchor="ctr"/>
          <a:lstStyle/>
          <a:p>
            <a:pPr indent="0" marL="0">
              <a:buNone/>
            </a:pPr>
            <a:r>
              <a:rPr lang="en-US" sz="1800" dirty="0">
                <a:solidFill>
                  <a:srgbClr val="3B3934"/>
                </a:solidFill>
                <a:latin typeface="Calibri" pitchFamily="34" charset="0"/>
                <a:ea typeface="Calibri" pitchFamily="34" charset="-122"/>
                <a:cs typeface="Calibri" pitchFamily="34" charset="-120"/>
              </a:rPr>
              <a:t>Everyone in this room knows the answer: </a:t>
            </a:r>
            <a:pPr indent="0" marL="0">
              <a:buNone/>
            </a:pPr>
            <a:r>
              <a:rPr lang="en-US" sz="1800" b="1" dirty="0">
                <a:solidFill>
                  <a:srgbClr val="1B1A17"/>
                </a:solidFill>
                <a:latin typeface="Calibri" pitchFamily="34" charset="0"/>
                <a:ea typeface="Calibri" pitchFamily="34" charset="-122"/>
                <a:cs typeface="Calibri" pitchFamily="34" charset="-120"/>
              </a:rPr>
              <a:t>it depends where you deploy it.</a:t>
            </a:r>
            <a:endParaRPr lang="en-US" sz="1800" dirty="0"/>
          </a:p>
        </p:txBody>
      </p:sp>
      <p:sp>
        <p:nvSpPr>
          <p:cNvPr id="18" name="Text 16"/>
          <p:cNvSpPr txBox="1"/>
          <p:nvPr/>
        </p:nvSpPr>
        <p:spPr>
          <a:xfrm>
            <a:off x="457200" y="3977640"/>
            <a:ext cx="8229600" cy="457200"/>
          </a:xfrm>
          <a:prstGeom prst="rect">
            <a:avLst/>
          </a:prstGeom>
          <a:noFill/>
          <a:ln/>
        </p:spPr>
        <p:txBody>
          <a:bodyPr wrap="square" lIns="0" tIns="0" rIns="0" bIns="0" rtlCol="0" anchor="ctr"/>
          <a:lstStyle/>
          <a:p>
            <a:pPr indent="0" marL="0">
              <a:buNone/>
            </a:pPr>
            <a:r>
              <a:rPr lang="en-US" sz="1250" dirty="0">
                <a:solidFill>
                  <a:srgbClr val="6B6862"/>
                </a:solidFill>
                <a:latin typeface="Calibri" pitchFamily="34" charset="0"/>
                <a:ea typeface="Calibri" pitchFamily="34" charset="-122"/>
                <a:cs typeface="Calibri" pitchFamily="34" charset="-120"/>
              </a:rPr>
              <a:t>Nobody would publish an edge-ML paper reporting only accuracy. That is why MLPerf, model-efficiency research, and the Green AI literature exist.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6400800" cy="219456"/>
          </a:xfrm>
          <a:prstGeom prst="rect">
            <a:avLst/>
          </a:prstGeom>
          <a:noFill/>
          <a:ln/>
        </p:spPr>
        <p:txBody>
          <a:bodyPr wrap="square" lIns="0" tIns="0" rIns="0" bIns="0" rtlCol="0" anchor="ctr"/>
          <a:lstStyle/>
          <a:p>
            <a:pPr indent="0" marL="0">
              <a:buNone/>
            </a:pPr>
            <a:r>
              <a:rPr lang="en-US" sz="900" b="1" spc="200" kern="0" dirty="0">
                <a:solidFill>
                  <a:srgbClr val="6B6862"/>
                </a:solidFill>
                <a:latin typeface="Calibri" pitchFamily="34" charset="0"/>
                <a:ea typeface="Calibri" pitchFamily="34" charset="-122"/>
                <a:cs typeface="Calibri" pitchFamily="34" charset="-120"/>
              </a:rPr>
              <a:t>THE PROBLEM</a:t>
            </a:r>
            <a:endParaRPr lang="en-US" sz="900" dirty="0"/>
          </a:p>
        </p:txBody>
      </p:sp>
      <p:sp>
        <p:nvSpPr>
          <p:cNvPr id="3" name="Text 1"/>
          <p:cNvSpPr txBox="1"/>
          <p:nvPr/>
        </p:nvSpPr>
        <p:spPr>
          <a:xfrm>
            <a:off x="457200" y="566928"/>
            <a:ext cx="8229600" cy="868680"/>
          </a:xfrm>
          <a:prstGeom prst="rect">
            <a:avLst/>
          </a:prstGeom>
          <a:noFill/>
          <a:ln/>
        </p:spPr>
        <p:txBody>
          <a:bodyPr wrap="square" lIns="0" tIns="0" rIns="0" bIns="0" rtlCol="0" anchor="t"/>
          <a:lstStyle/>
          <a:p>
            <a:pPr indent="0" marL="0">
              <a:buNone/>
            </a:pPr>
            <a:r>
              <a:rPr lang="en-US" sz="2400" b="1" dirty="0">
                <a:solidFill>
                  <a:srgbClr val="1B1A17"/>
                </a:solidFill>
                <a:latin typeface="Cambria" pitchFamily="34" charset="0"/>
                <a:ea typeface="Cambria" pitchFamily="34" charset="-122"/>
                <a:cs typeface="Cambria" pitchFamily="34" charset="-120"/>
              </a:rPr>
              <a:t>Financial ML reports accuracy only — but acting on a prediction has a cost</a:t>
            </a:r>
            <a:endParaRPr lang="en-US" sz="2400" dirty="0"/>
          </a:p>
        </p:txBody>
      </p:sp>
      <p:sp>
        <p:nvSpPr>
          <p:cNvPr id="4" name="Text 2"/>
          <p:cNvSpPr txBox="1"/>
          <p:nvPr/>
        </p:nvSpPr>
        <p:spPr>
          <a:xfrm>
            <a:off x="7772400" y="4773168"/>
            <a:ext cx="914400" cy="201168"/>
          </a:xfrm>
          <a:prstGeom prst="rect">
            <a:avLst/>
          </a:prstGeom>
          <a:noFill/>
          <a:ln/>
        </p:spPr>
        <p:txBody>
          <a:bodyPr wrap="square" lIns="0" tIns="0" rIns="0" bIns="0" rtlCol="0" anchor="ctr"/>
          <a:lstStyle/>
          <a:p>
            <a:pPr algn="r" indent="0" marL="0">
              <a:buNone/>
            </a:pPr>
            <a:r>
              <a:rPr lang="en-US" sz="800" dirty="0">
                <a:solidFill>
                  <a:srgbClr val="A09C94"/>
                </a:solidFill>
                <a:latin typeface="Courier New" pitchFamily="34" charset="0"/>
                <a:ea typeface="Courier New" pitchFamily="34" charset="-122"/>
                <a:cs typeface="Courier New" pitchFamily="34" charset="-120"/>
              </a:rPr>
              <a:t>03 / 12</a:t>
            </a:r>
            <a:endParaRPr lang="en-US" sz="800" dirty="0"/>
          </a:p>
        </p:txBody>
      </p:sp>
      <p:sp>
        <p:nvSpPr>
          <p:cNvPr id="5" name="Text 3"/>
          <p:cNvSpPr txBox="1"/>
          <p:nvPr/>
        </p:nvSpPr>
        <p:spPr>
          <a:xfrm>
            <a:off x="457200" y="1508760"/>
            <a:ext cx="3840480" cy="274320"/>
          </a:xfrm>
          <a:prstGeom prst="rect">
            <a:avLst/>
          </a:prstGeom>
          <a:noFill/>
          <a:ln/>
        </p:spPr>
        <p:txBody>
          <a:bodyPr wrap="square" lIns="0" tIns="0" rIns="0" bIns="0" rtlCol="0" anchor="ctr"/>
          <a:lstStyle/>
          <a:p>
            <a:pPr indent="0" marL="0">
              <a:buNone/>
            </a:pPr>
            <a:r>
              <a:rPr lang="en-US" sz="1100" b="1" spc="100" kern="0" dirty="0">
                <a:solidFill>
                  <a:srgbClr val="6B6862"/>
                </a:solidFill>
                <a:latin typeface="Calibri" pitchFamily="34" charset="0"/>
                <a:ea typeface="Calibri" pitchFamily="34" charset="-122"/>
                <a:cs typeface="Calibri" pitchFamily="34" charset="-120"/>
              </a:rPr>
              <a:t>A stock's order book — sellers queued by price</a:t>
            </a:r>
            <a:endParaRPr lang="en-US" sz="1100" dirty="0"/>
          </a:p>
        </p:txBody>
      </p:sp>
      <p:sp>
        <p:nvSpPr>
          <p:cNvPr id="6" name="Shape 4"/>
          <p:cNvSpPr/>
          <p:nvPr/>
        </p:nvSpPr>
        <p:spPr>
          <a:xfrm>
            <a:off x="457200" y="1828800"/>
            <a:ext cx="3840480" cy="420624"/>
          </a:xfrm>
          <a:prstGeom prst="rect">
            <a:avLst/>
          </a:prstGeom>
          <a:solidFill>
            <a:srgbClr val="F2F2EF"/>
          </a:solidFill>
          <a:ln w="6350">
            <a:solidFill>
              <a:srgbClr val="DEDBD3"/>
            </a:solidFill>
            <a:prstDash val="solid"/>
          </a:ln>
        </p:spPr>
      </p:sp>
      <p:sp>
        <p:nvSpPr>
          <p:cNvPr id="7" name="Text 5"/>
          <p:cNvSpPr txBox="1"/>
          <p:nvPr/>
        </p:nvSpPr>
        <p:spPr>
          <a:xfrm>
            <a:off x="640080" y="1828800"/>
            <a:ext cx="1463040" cy="420624"/>
          </a:xfrm>
          <a:prstGeom prst="rect">
            <a:avLst/>
          </a:prstGeom>
          <a:noFill/>
          <a:ln/>
        </p:spPr>
        <p:txBody>
          <a:bodyPr wrap="square" lIns="0" tIns="0" rIns="0" bIns="0" rtlCol="0" anchor="ctr"/>
          <a:lstStyle/>
          <a:p>
            <a:pPr indent="0" marL="0">
              <a:buNone/>
            </a:pPr>
            <a:r>
              <a:rPr lang="en-US" sz="1600" b="1" dirty="0">
                <a:solidFill>
                  <a:srgbClr val="1B1A17"/>
                </a:solidFill>
                <a:latin typeface="Courier New" pitchFamily="34" charset="0"/>
                <a:ea typeface="Courier New" pitchFamily="34" charset="-122"/>
                <a:cs typeface="Courier New" pitchFamily="34" charset="-120"/>
              </a:rPr>
              <a:t>₹101</a:t>
            </a:r>
            <a:endParaRPr lang="en-US" sz="1600" dirty="0"/>
          </a:p>
        </p:txBody>
      </p:sp>
      <p:sp>
        <p:nvSpPr>
          <p:cNvPr id="8" name="Text 6"/>
          <p:cNvSpPr txBox="1"/>
          <p:nvPr/>
        </p:nvSpPr>
        <p:spPr>
          <a:xfrm>
            <a:off x="2377440" y="1828800"/>
            <a:ext cx="1828800" cy="420624"/>
          </a:xfrm>
          <a:prstGeom prst="rect">
            <a:avLst/>
          </a:prstGeom>
          <a:noFill/>
          <a:ln/>
        </p:spPr>
        <p:txBody>
          <a:bodyPr wrap="square" lIns="0" tIns="0" rIns="0" bIns="0" rtlCol="0" anchor="ctr"/>
          <a:lstStyle/>
          <a:p>
            <a:pPr algn="r" indent="0" marL="0">
              <a:buNone/>
            </a:pPr>
            <a:r>
              <a:rPr lang="en-US" sz="1300" dirty="0">
                <a:solidFill>
                  <a:srgbClr val="3B3934"/>
                </a:solidFill>
                <a:latin typeface="Calibri" pitchFamily="34" charset="0"/>
                <a:ea typeface="Calibri" pitchFamily="34" charset="-122"/>
                <a:cs typeface="Calibri" pitchFamily="34" charset="-120"/>
              </a:rPr>
              <a:t>200 shares</a:t>
            </a:r>
            <a:endParaRPr lang="en-US" sz="1300" dirty="0"/>
          </a:p>
        </p:txBody>
      </p:sp>
      <p:sp>
        <p:nvSpPr>
          <p:cNvPr id="9" name="Shape 7"/>
          <p:cNvSpPr/>
          <p:nvPr/>
        </p:nvSpPr>
        <p:spPr>
          <a:xfrm>
            <a:off x="457200" y="2304288"/>
            <a:ext cx="3840480" cy="420624"/>
          </a:xfrm>
          <a:prstGeom prst="rect">
            <a:avLst/>
          </a:prstGeom>
          <a:solidFill>
            <a:srgbClr val="F2F2EF"/>
          </a:solidFill>
          <a:ln w="6350">
            <a:solidFill>
              <a:srgbClr val="DEDBD3"/>
            </a:solidFill>
            <a:prstDash val="solid"/>
          </a:ln>
        </p:spPr>
      </p:sp>
      <p:sp>
        <p:nvSpPr>
          <p:cNvPr id="10" name="Text 8"/>
          <p:cNvSpPr txBox="1"/>
          <p:nvPr/>
        </p:nvSpPr>
        <p:spPr>
          <a:xfrm>
            <a:off x="640080" y="2304288"/>
            <a:ext cx="1463040" cy="420624"/>
          </a:xfrm>
          <a:prstGeom prst="rect">
            <a:avLst/>
          </a:prstGeom>
          <a:noFill/>
          <a:ln/>
        </p:spPr>
        <p:txBody>
          <a:bodyPr wrap="square" lIns="0" tIns="0" rIns="0" bIns="0" rtlCol="0" anchor="ctr"/>
          <a:lstStyle/>
          <a:p>
            <a:pPr indent="0" marL="0">
              <a:buNone/>
            </a:pPr>
            <a:r>
              <a:rPr lang="en-US" sz="1600" b="1" dirty="0">
                <a:solidFill>
                  <a:srgbClr val="1B1A17"/>
                </a:solidFill>
                <a:latin typeface="Courier New" pitchFamily="34" charset="0"/>
                <a:ea typeface="Courier New" pitchFamily="34" charset="-122"/>
                <a:cs typeface="Courier New" pitchFamily="34" charset="-120"/>
              </a:rPr>
              <a:t>₹102</a:t>
            </a:r>
            <a:endParaRPr lang="en-US" sz="1600" dirty="0"/>
          </a:p>
        </p:txBody>
      </p:sp>
      <p:sp>
        <p:nvSpPr>
          <p:cNvPr id="11" name="Text 9"/>
          <p:cNvSpPr txBox="1"/>
          <p:nvPr/>
        </p:nvSpPr>
        <p:spPr>
          <a:xfrm>
            <a:off x="2377440" y="2304288"/>
            <a:ext cx="1828800" cy="420624"/>
          </a:xfrm>
          <a:prstGeom prst="rect">
            <a:avLst/>
          </a:prstGeom>
          <a:noFill/>
          <a:ln/>
        </p:spPr>
        <p:txBody>
          <a:bodyPr wrap="square" lIns="0" tIns="0" rIns="0" bIns="0" rtlCol="0" anchor="ctr"/>
          <a:lstStyle/>
          <a:p>
            <a:pPr algn="r" indent="0" marL="0">
              <a:buNone/>
            </a:pPr>
            <a:r>
              <a:rPr lang="en-US" sz="1300" dirty="0">
                <a:solidFill>
                  <a:srgbClr val="3B3934"/>
                </a:solidFill>
                <a:latin typeface="Calibri" pitchFamily="34" charset="0"/>
                <a:ea typeface="Calibri" pitchFamily="34" charset="-122"/>
                <a:cs typeface="Calibri" pitchFamily="34" charset="-120"/>
              </a:rPr>
              <a:t>500 shares</a:t>
            </a:r>
            <a:endParaRPr lang="en-US" sz="1300" dirty="0"/>
          </a:p>
        </p:txBody>
      </p:sp>
      <p:sp>
        <p:nvSpPr>
          <p:cNvPr id="12" name="Shape 10"/>
          <p:cNvSpPr/>
          <p:nvPr/>
        </p:nvSpPr>
        <p:spPr>
          <a:xfrm>
            <a:off x="457200" y="2779776"/>
            <a:ext cx="3840480" cy="420624"/>
          </a:xfrm>
          <a:prstGeom prst="rect">
            <a:avLst/>
          </a:prstGeom>
          <a:solidFill>
            <a:srgbClr val="F7E8DC"/>
          </a:solidFill>
          <a:ln w="6350">
            <a:solidFill>
              <a:srgbClr val="DEDBD3"/>
            </a:solidFill>
            <a:prstDash val="solid"/>
          </a:ln>
        </p:spPr>
      </p:sp>
      <p:sp>
        <p:nvSpPr>
          <p:cNvPr id="13" name="Text 11"/>
          <p:cNvSpPr txBox="1"/>
          <p:nvPr/>
        </p:nvSpPr>
        <p:spPr>
          <a:xfrm>
            <a:off x="640080" y="2779776"/>
            <a:ext cx="1463040" cy="420624"/>
          </a:xfrm>
          <a:prstGeom prst="rect">
            <a:avLst/>
          </a:prstGeom>
          <a:noFill/>
          <a:ln/>
        </p:spPr>
        <p:txBody>
          <a:bodyPr wrap="square" lIns="0" tIns="0" rIns="0" bIns="0" rtlCol="0" anchor="ctr"/>
          <a:lstStyle/>
          <a:p>
            <a:pPr indent="0" marL="0">
              <a:buNone/>
            </a:pPr>
            <a:r>
              <a:rPr lang="en-US" sz="1600" b="1" dirty="0">
                <a:solidFill>
                  <a:srgbClr val="1B1A17"/>
                </a:solidFill>
                <a:latin typeface="Courier New" pitchFamily="34" charset="0"/>
                <a:ea typeface="Courier New" pitchFamily="34" charset="-122"/>
                <a:cs typeface="Courier New" pitchFamily="34" charset="-120"/>
              </a:rPr>
              <a:t>₹104</a:t>
            </a:r>
            <a:endParaRPr lang="en-US" sz="1600" dirty="0"/>
          </a:p>
        </p:txBody>
      </p:sp>
      <p:sp>
        <p:nvSpPr>
          <p:cNvPr id="14" name="Text 12"/>
          <p:cNvSpPr txBox="1"/>
          <p:nvPr/>
        </p:nvSpPr>
        <p:spPr>
          <a:xfrm>
            <a:off x="2377440" y="2779776"/>
            <a:ext cx="1828800" cy="420624"/>
          </a:xfrm>
          <a:prstGeom prst="rect">
            <a:avLst/>
          </a:prstGeom>
          <a:noFill/>
          <a:ln/>
        </p:spPr>
        <p:txBody>
          <a:bodyPr wrap="square" lIns="0" tIns="0" rIns="0" bIns="0" rtlCol="0" anchor="ctr"/>
          <a:lstStyle/>
          <a:p>
            <a:pPr algn="r" indent="0" marL="0">
              <a:buNone/>
            </a:pPr>
            <a:r>
              <a:rPr lang="en-US" sz="1300" dirty="0">
                <a:solidFill>
                  <a:srgbClr val="3B3934"/>
                </a:solidFill>
                <a:latin typeface="Calibri" pitchFamily="34" charset="0"/>
                <a:ea typeface="Calibri" pitchFamily="34" charset="-122"/>
                <a:cs typeface="Calibri" pitchFamily="34" charset="-120"/>
              </a:rPr>
              <a:t>800 shares</a:t>
            </a:r>
            <a:endParaRPr lang="en-US" sz="1300" dirty="0"/>
          </a:p>
        </p:txBody>
      </p:sp>
      <p:sp>
        <p:nvSpPr>
          <p:cNvPr id="15" name="Shape 13"/>
          <p:cNvSpPr/>
          <p:nvPr/>
        </p:nvSpPr>
        <p:spPr>
          <a:xfrm>
            <a:off x="2194560" y="3310128"/>
            <a:ext cx="365760" cy="292608"/>
          </a:xfrm>
          <a:prstGeom prst="downArrow">
            <a:avLst/>
          </a:prstGeom>
          <a:solidFill>
            <a:srgbClr val="B5541F"/>
          </a:solidFill>
          <a:ln w="12700">
            <a:solidFill>
              <a:srgbClr val="B5541F"/>
            </a:solidFill>
            <a:prstDash val="solid"/>
          </a:ln>
        </p:spPr>
      </p:sp>
      <p:sp>
        <p:nvSpPr>
          <p:cNvPr id="16" name="Shape 14"/>
          <p:cNvSpPr/>
          <p:nvPr/>
        </p:nvSpPr>
        <p:spPr>
          <a:xfrm>
            <a:off x="457200" y="3675888"/>
            <a:ext cx="3840480" cy="868680"/>
          </a:xfrm>
          <a:prstGeom prst="roundRect">
            <a:avLst>
              <a:gd name="adj" fmla="val 6316"/>
            </a:avLst>
          </a:prstGeom>
          <a:solidFill>
            <a:srgbClr val="F7E8DC"/>
          </a:solidFill>
          <a:ln w="12700">
            <a:solidFill>
              <a:srgbClr val="F7E8DC"/>
            </a:solidFill>
            <a:prstDash val="solid"/>
          </a:ln>
        </p:spPr>
      </p:sp>
      <p:sp>
        <p:nvSpPr>
          <p:cNvPr id="17" name="Text 15"/>
          <p:cNvSpPr txBox="1"/>
          <p:nvPr/>
        </p:nvSpPr>
        <p:spPr>
          <a:xfrm>
            <a:off x="640080" y="3730752"/>
            <a:ext cx="3520440" cy="777240"/>
          </a:xfrm>
          <a:prstGeom prst="rect">
            <a:avLst/>
          </a:prstGeom>
          <a:noFill/>
          <a:ln/>
        </p:spPr>
        <p:txBody>
          <a:bodyPr wrap="square" lIns="0" tIns="0" rIns="0" bIns="0" rtlCol="0" anchor="ctr"/>
          <a:lstStyle/>
          <a:p>
            <a:pPr indent="0" marL="0">
              <a:buNone/>
            </a:pPr>
            <a:r>
              <a:rPr lang="en-US" sz="1200" b="1" dirty="0">
                <a:solidFill>
                  <a:srgbClr val="B5541F"/>
                </a:solidFill>
                <a:latin typeface="Calibri" pitchFamily="34" charset="0"/>
                <a:ea typeface="Calibri" pitchFamily="34" charset="-122"/>
                <a:cs typeface="Calibri" pitchFamily="34" charset="-120"/>
              </a:rPr>
              <a:t>Buy 1,500 shares → average price ₹102.93</a:t>
            </a:r>
            <a:endParaRPr lang="en-US" sz="1200" dirty="0"/>
          </a:p>
          <a:p>
            <a:pPr indent="0" marL="0">
              <a:buNone/>
            </a:pPr>
            <a:r>
              <a:rPr lang="en-US" sz="1200" dirty="0">
                <a:solidFill>
                  <a:srgbClr val="3B3934"/>
                </a:solidFill>
                <a:latin typeface="Calibri" pitchFamily="34" charset="0"/>
                <a:ea typeface="Calibri" pitchFamily="34" charset="-122"/>
                <a:cs typeface="Calibri" pitchFamily="34" charset="-120"/>
              </a:rPr>
              <a:t>1.9% worse than the quoted ₹101. That gap is market impact.</a:t>
            </a:r>
            <a:endParaRPr lang="en-US" sz="1200" dirty="0"/>
          </a:p>
        </p:txBody>
      </p:sp>
      <p:sp>
        <p:nvSpPr>
          <p:cNvPr id="18" name="Text 16"/>
          <p:cNvSpPr txBox="1"/>
          <p:nvPr/>
        </p:nvSpPr>
        <p:spPr>
          <a:xfrm>
            <a:off x="4754880" y="1508760"/>
            <a:ext cx="3931920" cy="1554480"/>
          </a:xfrm>
          <a:prstGeom prst="rect">
            <a:avLst/>
          </a:prstGeom>
          <a:noFill/>
          <a:ln/>
        </p:spPr>
        <p:txBody>
          <a:bodyPr wrap="square" lIns="0" tIns="0" rIns="0" bIns="0" rtlCol="0" anchor="t"/>
          <a:lstStyle/>
          <a:p>
            <a:pPr indent="0" marL="0">
              <a:spcAft>
                <a:spcPts val="1000"/>
              </a:spcAft>
              <a:buNone/>
            </a:pPr>
            <a:r>
              <a:rPr lang="en-US" sz="1350" dirty="0">
                <a:solidFill>
                  <a:srgbClr val="3B3934"/>
                </a:solidFill>
                <a:latin typeface="Calibri" pitchFamily="34" charset="0"/>
                <a:ea typeface="Calibri" pitchFamily="34" charset="-122"/>
                <a:cs typeface="Calibri" pitchFamily="34" charset="-120"/>
              </a:rPr>
              <a:t>When you act on a prediction, you buy from a queue. Large orders eat through the cheap sellers and pay more for the same stock.</a:t>
            </a:r>
            <a:endParaRPr lang="en-US" sz="1350" dirty="0"/>
          </a:p>
          <a:p>
            <a:pPr indent="0" marL="0">
              <a:spcAft>
                <a:spcPts val="600"/>
              </a:spcAft>
              <a:buNone/>
            </a:pPr>
            <a:r>
              <a:rPr lang="en-US" sz="1350" dirty="0">
                <a:solidFill>
                  <a:srgbClr val="3B3934"/>
                </a:solidFill>
                <a:latin typeface="Calibri" pitchFamily="34" charset="0"/>
                <a:ea typeface="Calibri" pitchFamily="34" charset="-122"/>
                <a:cs typeface="Calibri" pitchFamily="34" charset="-120"/>
              </a:rPr>
              <a:t>The more you deploy, the worse it gets — and the relationship is well measured:</a:t>
            </a:r>
            <a:endParaRPr lang="en-US" sz="1350" dirty="0"/>
          </a:p>
        </p:txBody>
      </p:sp>
      <p:sp>
        <p:nvSpPr>
          <p:cNvPr id="19" name="Shape 17"/>
          <p:cNvSpPr/>
          <p:nvPr/>
        </p:nvSpPr>
        <p:spPr>
          <a:xfrm>
            <a:off x="4754880" y="2999232"/>
            <a:ext cx="3931920" cy="566928"/>
          </a:xfrm>
          <a:prstGeom prst="roundRect">
            <a:avLst>
              <a:gd name="adj" fmla="val 9677"/>
            </a:avLst>
          </a:prstGeom>
          <a:solidFill>
            <a:srgbClr val="E4E7F4"/>
          </a:solidFill>
          <a:ln w="12700">
            <a:solidFill>
              <a:srgbClr val="E4E7F4"/>
            </a:solidFill>
            <a:prstDash val="solid"/>
          </a:ln>
        </p:spPr>
      </p:sp>
      <p:sp>
        <p:nvSpPr>
          <p:cNvPr id="20" name="Text 18"/>
          <p:cNvSpPr txBox="1"/>
          <p:nvPr/>
        </p:nvSpPr>
        <p:spPr>
          <a:xfrm>
            <a:off x="4892040" y="2999232"/>
            <a:ext cx="3657600" cy="566928"/>
          </a:xfrm>
          <a:prstGeom prst="rect">
            <a:avLst/>
          </a:prstGeom>
          <a:noFill/>
          <a:ln/>
        </p:spPr>
        <p:txBody>
          <a:bodyPr wrap="square" lIns="0" tIns="0" rIns="0" bIns="0" rtlCol="0" anchor="ctr"/>
          <a:lstStyle/>
          <a:p>
            <a:pPr indent="0" marL="0">
              <a:buNone/>
            </a:pPr>
            <a:r>
              <a:rPr lang="en-US" sz="1300" b="1" dirty="0">
                <a:solidFill>
                  <a:srgbClr val="2C3E8F"/>
                </a:solidFill>
                <a:latin typeface="Courier New" pitchFamily="34" charset="0"/>
                <a:ea typeface="Courier New" pitchFamily="34" charset="-122"/>
                <a:cs typeface="Courier New" pitchFamily="34" charset="-120"/>
              </a:rPr>
              <a:t>impact  ≈  Y · σ · √( Q / V )</a:t>
            </a:r>
            <a:endParaRPr lang="en-US" sz="1300" dirty="0"/>
          </a:p>
        </p:txBody>
      </p:sp>
      <p:sp>
        <p:nvSpPr>
          <p:cNvPr id="21" name="Text 19"/>
          <p:cNvSpPr txBox="1"/>
          <p:nvPr/>
        </p:nvSpPr>
        <p:spPr>
          <a:xfrm>
            <a:off x="4754880" y="3611880"/>
            <a:ext cx="3931920" cy="384048"/>
          </a:xfrm>
          <a:prstGeom prst="rect">
            <a:avLst/>
          </a:prstGeom>
          <a:noFill/>
          <a:ln/>
        </p:spPr>
        <p:txBody>
          <a:bodyPr wrap="square" lIns="0" tIns="0" rIns="0" bIns="0" rtlCol="0" anchor="ctr"/>
          <a:lstStyle/>
          <a:p>
            <a:pPr indent="0" marL="0">
              <a:buNone/>
            </a:pPr>
            <a:r>
              <a:rPr lang="en-US" sz="1050" i="1" dirty="0">
                <a:solidFill>
                  <a:srgbClr val="6B6862"/>
                </a:solidFill>
                <a:latin typeface="Calibri" pitchFamily="34" charset="0"/>
                <a:ea typeface="Calibri" pitchFamily="34" charset="-122"/>
                <a:cs typeface="Calibri" pitchFamily="34" charset="-120"/>
              </a:rPr>
              <a:t>Q = amount traded, V = daily volume. The square-root law of market impact, established across decades of trade data.</a:t>
            </a:r>
            <a:endParaRPr lang="en-US" sz="1050" dirty="0"/>
          </a:p>
        </p:txBody>
      </p:sp>
      <p:sp>
        <p:nvSpPr>
          <p:cNvPr id="22" name="Text 20"/>
          <p:cNvSpPr txBox="1"/>
          <p:nvPr/>
        </p:nvSpPr>
        <p:spPr>
          <a:xfrm>
            <a:off x="4754880" y="4023360"/>
            <a:ext cx="3931920" cy="548640"/>
          </a:xfrm>
          <a:prstGeom prst="rect">
            <a:avLst/>
          </a:prstGeom>
          <a:noFill/>
          <a:ln/>
        </p:spPr>
        <p:txBody>
          <a:bodyPr wrap="square" lIns="0" tIns="0" rIns="0" bIns="0" rtlCol="0" anchor="ctr"/>
          <a:lstStyle/>
          <a:p>
            <a:pPr indent="0" marL="0">
              <a:buNone/>
            </a:pPr>
            <a:r>
              <a:rPr lang="en-US" sz="1300" dirty="0">
                <a:solidFill>
                  <a:srgbClr val="3B3934"/>
                </a:solidFill>
                <a:latin typeface="Calibri" pitchFamily="34" charset="0"/>
                <a:ea typeface="Calibri" pitchFamily="34" charset="-122"/>
                <a:cs typeface="Calibri" pitchFamily="34" charset="-120"/>
              </a:rPr>
              <a:t>Systems ML solved this with MLPerf and efficiency benchmarks. </a:t>
            </a:r>
            <a:pPr indent="0" marL="0">
              <a:buNone/>
            </a:pPr>
            <a:r>
              <a:rPr lang="en-US" sz="1300" b="1" dirty="0">
                <a:solidFill>
                  <a:srgbClr val="1B1A17"/>
                </a:solidFill>
                <a:latin typeface="Calibri" pitchFamily="34" charset="0"/>
                <a:ea typeface="Calibri" pitchFamily="34" charset="-122"/>
                <a:cs typeface="Calibri" pitchFamily="34" charset="-120"/>
              </a:rPr>
              <a:t>Financial ML has no equivalent.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6400800" cy="219456"/>
          </a:xfrm>
          <a:prstGeom prst="rect">
            <a:avLst/>
          </a:prstGeom>
          <a:noFill/>
          <a:ln/>
        </p:spPr>
        <p:txBody>
          <a:bodyPr wrap="square" lIns="0" tIns="0" rIns="0" bIns="0" rtlCol="0" anchor="ctr"/>
          <a:lstStyle/>
          <a:p>
            <a:pPr indent="0" marL="0">
              <a:buNone/>
            </a:pPr>
            <a:r>
              <a:rPr lang="en-US" sz="900" b="1" spc="200" kern="0" dirty="0">
                <a:solidFill>
                  <a:srgbClr val="6B6862"/>
                </a:solidFill>
                <a:latin typeface="Calibri" pitchFamily="34" charset="0"/>
                <a:ea typeface="Calibri" pitchFamily="34" charset="-122"/>
                <a:cs typeface="Calibri" pitchFamily="34" charset="-120"/>
              </a:rPr>
              <a:t>THE PROBLEM</a:t>
            </a:r>
            <a:endParaRPr lang="en-US" sz="900" dirty="0"/>
          </a:p>
        </p:txBody>
      </p:sp>
      <p:sp>
        <p:nvSpPr>
          <p:cNvPr id="3" name="Text 1"/>
          <p:cNvSpPr txBox="1"/>
          <p:nvPr/>
        </p:nvSpPr>
        <p:spPr>
          <a:xfrm>
            <a:off x="457200" y="566928"/>
            <a:ext cx="8229600" cy="777240"/>
          </a:xfrm>
          <a:prstGeom prst="rect">
            <a:avLst/>
          </a:prstGeom>
          <a:noFill/>
          <a:ln/>
        </p:spPr>
        <p:txBody>
          <a:bodyPr wrap="square" lIns="0" tIns="0" rIns="0" bIns="0" rtlCol="0" anchor="t"/>
          <a:lstStyle/>
          <a:p>
            <a:pPr indent="0" marL="0">
              <a:buNone/>
            </a:pPr>
            <a:r>
              <a:rPr lang="en-US" sz="2800" b="1" dirty="0">
                <a:solidFill>
                  <a:srgbClr val="1B1A17"/>
                </a:solidFill>
                <a:latin typeface="Cambria" pitchFamily="34" charset="0"/>
                <a:ea typeface="Cambria" pitchFamily="34" charset="-122"/>
                <a:cs typeface="Cambria" pitchFamily="34" charset="-120"/>
              </a:rPr>
              <a:t>Profit grows linearly. Cost grows faster.</a:t>
            </a:r>
            <a:endParaRPr lang="en-US" sz="2800" dirty="0"/>
          </a:p>
        </p:txBody>
      </p:sp>
      <p:sp>
        <p:nvSpPr>
          <p:cNvPr id="4" name="Text 2"/>
          <p:cNvSpPr txBox="1"/>
          <p:nvPr/>
        </p:nvSpPr>
        <p:spPr>
          <a:xfrm>
            <a:off x="7772400" y="4773168"/>
            <a:ext cx="914400" cy="201168"/>
          </a:xfrm>
          <a:prstGeom prst="rect">
            <a:avLst/>
          </a:prstGeom>
          <a:noFill/>
          <a:ln/>
        </p:spPr>
        <p:txBody>
          <a:bodyPr wrap="square" lIns="0" tIns="0" rIns="0" bIns="0" rtlCol="0" anchor="ctr"/>
          <a:lstStyle/>
          <a:p>
            <a:pPr algn="r" indent="0" marL="0">
              <a:buNone/>
            </a:pPr>
            <a:r>
              <a:rPr lang="en-US" sz="800" dirty="0">
                <a:solidFill>
                  <a:srgbClr val="A09C94"/>
                </a:solidFill>
                <a:latin typeface="Courier New" pitchFamily="34" charset="0"/>
                <a:ea typeface="Courier New" pitchFamily="34" charset="-122"/>
                <a:cs typeface="Courier New" pitchFamily="34" charset="-120"/>
              </a:rPr>
              <a:t>04 / 12</a:t>
            </a:r>
            <a:endParaRPr lang="en-US" sz="800" dirty="0"/>
          </a:p>
        </p:txBody>
      </p:sp>
      <p:sp>
        <p:nvSpPr>
          <p:cNvPr id="5" name="Text 3"/>
          <p:cNvSpPr txBox="1"/>
          <p:nvPr/>
        </p:nvSpPr>
        <p:spPr>
          <a:xfrm>
            <a:off x="457200" y="1463040"/>
            <a:ext cx="2011680" cy="502920"/>
          </a:xfrm>
          <a:prstGeom prst="rect">
            <a:avLst/>
          </a:prstGeom>
          <a:noFill/>
          <a:ln/>
        </p:spPr>
        <p:txBody>
          <a:bodyPr wrap="square" lIns="0" tIns="0" rIns="0" bIns="0" rtlCol="0" anchor="ctr"/>
          <a:lstStyle/>
          <a:p>
            <a:pPr indent="0" marL="0">
              <a:buNone/>
            </a:pPr>
            <a:r>
              <a:rPr lang="en-US" sz="1300" dirty="0">
                <a:solidFill>
                  <a:srgbClr val="6B6862"/>
                </a:solidFill>
                <a:latin typeface="Calibri" pitchFamily="34" charset="0"/>
                <a:ea typeface="Calibri" pitchFamily="34" charset="-122"/>
                <a:cs typeface="Calibri" pitchFamily="34" charset="-120"/>
              </a:rPr>
              <a:t>Gross profit</a:t>
            </a:r>
            <a:endParaRPr lang="en-US" sz="1300" dirty="0"/>
          </a:p>
        </p:txBody>
      </p:sp>
      <p:sp>
        <p:nvSpPr>
          <p:cNvPr id="6" name="Text 4"/>
          <p:cNvSpPr txBox="1"/>
          <p:nvPr/>
        </p:nvSpPr>
        <p:spPr>
          <a:xfrm>
            <a:off x="2286000" y="1463040"/>
            <a:ext cx="3017520" cy="502920"/>
          </a:xfrm>
          <a:prstGeom prst="rect">
            <a:avLst/>
          </a:prstGeom>
          <a:noFill/>
          <a:ln/>
        </p:spPr>
        <p:txBody>
          <a:bodyPr wrap="square" lIns="0" tIns="0" rIns="0" bIns="0" rtlCol="0" anchor="ctr"/>
          <a:lstStyle/>
          <a:p>
            <a:pPr indent="0" marL="0">
              <a:buNone/>
            </a:pPr>
            <a:r>
              <a:rPr lang="en-US" sz="2100" b="1" dirty="0">
                <a:solidFill>
                  <a:srgbClr val="2C3E8F"/>
                </a:solidFill>
                <a:latin typeface="Courier New" pitchFamily="34" charset="0"/>
                <a:ea typeface="Courier New" pitchFamily="34" charset="-122"/>
                <a:cs typeface="Courier New" pitchFamily="34" charset="-120"/>
              </a:rPr>
              <a:t>∝ W</a:t>
            </a:r>
            <a:endParaRPr lang="en-US" sz="2100" dirty="0"/>
          </a:p>
        </p:txBody>
      </p:sp>
      <p:sp>
        <p:nvSpPr>
          <p:cNvPr id="7" name="Text 5"/>
          <p:cNvSpPr txBox="1"/>
          <p:nvPr/>
        </p:nvSpPr>
        <p:spPr>
          <a:xfrm>
            <a:off x="457200" y="2057400"/>
            <a:ext cx="2011680" cy="502920"/>
          </a:xfrm>
          <a:prstGeom prst="rect">
            <a:avLst/>
          </a:prstGeom>
          <a:noFill/>
          <a:ln/>
        </p:spPr>
        <p:txBody>
          <a:bodyPr wrap="square" lIns="0" tIns="0" rIns="0" bIns="0" rtlCol="0" anchor="ctr"/>
          <a:lstStyle/>
          <a:p>
            <a:pPr indent="0" marL="0">
              <a:buNone/>
            </a:pPr>
            <a:r>
              <a:rPr lang="en-US" sz="1300" dirty="0">
                <a:solidFill>
                  <a:srgbClr val="6B6862"/>
                </a:solidFill>
                <a:latin typeface="Calibri" pitchFamily="34" charset="0"/>
                <a:ea typeface="Calibri" pitchFamily="34" charset="-122"/>
                <a:cs typeface="Calibri" pitchFamily="34" charset="-120"/>
              </a:rPr>
              <a:t>Trading cost</a:t>
            </a:r>
            <a:endParaRPr lang="en-US" sz="1300" dirty="0"/>
          </a:p>
        </p:txBody>
      </p:sp>
      <p:sp>
        <p:nvSpPr>
          <p:cNvPr id="8" name="Text 6"/>
          <p:cNvSpPr txBox="1"/>
          <p:nvPr/>
        </p:nvSpPr>
        <p:spPr>
          <a:xfrm>
            <a:off x="2286000" y="2057400"/>
            <a:ext cx="3017520" cy="502920"/>
          </a:xfrm>
          <a:prstGeom prst="rect">
            <a:avLst/>
          </a:prstGeom>
          <a:noFill/>
          <a:ln/>
        </p:spPr>
        <p:txBody>
          <a:bodyPr wrap="square" lIns="0" tIns="0" rIns="0" bIns="0" rtlCol="0" anchor="ctr"/>
          <a:lstStyle/>
          <a:p>
            <a:pPr indent="0" marL="0">
              <a:buNone/>
            </a:pPr>
            <a:r>
              <a:rPr lang="en-US" sz="2100" b="1" dirty="0">
                <a:solidFill>
                  <a:srgbClr val="B5541F"/>
                </a:solidFill>
                <a:latin typeface="Courier New" pitchFamily="34" charset="0"/>
                <a:ea typeface="Courier New" pitchFamily="34" charset="-122"/>
                <a:cs typeface="Courier New" pitchFamily="34" charset="-120"/>
              </a:rPr>
              <a:t>∝ W</a:t>
            </a:r>
            <a:pPr indent="0" marL="0">
              <a:buNone/>
            </a:pPr>
            <a:r>
              <a:rPr lang="en-US" sz="2100" b="1" baseline="30000" dirty="0">
                <a:solidFill>
                  <a:srgbClr val="B5541F"/>
                </a:solidFill>
                <a:latin typeface="Courier New" pitchFamily="34" charset="0"/>
                <a:ea typeface="Courier New" pitchFamily="34" charset="-122"/>
                <a:cs typeface="Courier New" pitchFamily="34" charset="-120"/>
              </a:rPr>
              <a:t>1.5</a:t>
            </a:r>
            <a:endParaRPr lang="en-US" sz="2100" dirty="0"/>
          </a:p>
        </p:txBody>
      </p:sp>
      <p:sp>
        <p:nvSpPr>
          <p:cNvPr id="9" name="Text 7"/>
          <p:cNvSpPr txBox="1"/>
          <p:nvPr/>
        </p:nvSpPr>
        <p:spPr>
          <a:xfrm>
            <a:off x="457200" y="2651760"/>
            <a:ext cx="2011680" cy="502920"/>
          </a:xfrm>
          <a:prstGeom prst="rect">
            <a:avLst/>
          </a:prstGeom>
          <a:noFill/>
          <a:ln/>
        </p:spPr>
        <p:txBody>
          <a:bodyPr wrap="square" lIns="0" tIns="0" rIns="0" bIns="0" rtlCol="0" anchor="ctr"/>
          <a:lstStyle/>
          <a:p>
            <a:pPr indent="0" marL="0">
              <a:buNone/>
            </a:pPr>
            <a:r>
              <a:rPr lang="en-US" sz="1300" dirty="0">
                <a:solidFill>
                  <a:srgbClr val="6B6862"/>
                </a:solidFill>
                <a:latin typeface="Calibri" pitchFamily="34" charset="0"/>
                <a:ea typeface="Calibri" pitchFamily="34" charset="-122"/>
                <a:cs typeface="Calibri" pitchFamily="34" charset="-120"/>
              </a:rPr>
              <a:t>Net Sharpe ratio</a:t>
            </a:r>
            <a:endParaRPr lang="en-US" sz="1300" dirty="0"/>
          </a:p>
        </p:txBody>
      </p:sp>
      <p:sp>
        <p:nvSpPr>
          <p:cNvPr id="10" name="Text 8"/>
          <p:cNvSpPr txBox="1"/>
          <p:nvPr/>
        </p:nvSpPr>
        <p:spPr>
          <a:xfrm>
            <a:off x="2286000" y="2651760"/>
            <a:ext cx="3017520" cy="502920"/>
          </a:xfrm>
          <a:prstGeom prst="rect">
            <a:avLst/>
          </a:prstGeom>
          <a:noFill/>
          <a:ln/>
        </p:spPr>
        <p:txBody>
          <a:bodyPr wrap="square" lIns="0" tIns="0" rIns="0" bIns="0" rtlCol="0" anchor="ctr"/>
          <a:lstStyle/>
          <a:p>
            <a:pPr indent="0" marL="0">
              <a:buNone/>
            </a:pPr>
            <a:r>
              <a:rPr lang="en-US" sz="2100" b="1" dirty="0">
                <a:solidFill>
                  <a:srgbClr val="1B1A17"/>
                </a:solidFill>
                <a:latin typeface="Courier New" pitchFamily="34" charset="0"/>
                <a:ea typeface="Courier New" pitchFamily="34" charset="-122"/>
                <a:cs typeface="Courier New" pitchFamily="34" charset="-120"/>
              </a:rPr>
              <a:t>= SR</a:t>
            </a:r>
            <a:pPr indent="0" marL="0">
              <a:buNone/>
            </a:pPr>
            <a:r>
              <a:rPr lang="en-US" sz="2100" b="1" baseline="-40000" dirty="0">
                <a:solidFill>
                  <a:srgbClr val="1B1A17"/>
                </a:solidFill>
                <a:latin typeface="Courier New" pitchFamily="34" charset="0"/>
                <a:ea typeface="Courier New" pitchFamily="34" charset="-122"/>
                <a:cs typeface="Courier New" pitchFamily="34" charset="-120"/>
              </a:rPr>
              <a:t>gross</a:t>
            </a:r>
            <a:pPr indent="0" marL="0">
              <a:buNone/>
            </a:pPr>
            <a:r>
              <a:rPr lang="en-US" sz="2100" b="1" dirty="0">
                <a:solidFill>
                  <a:srgbClr val="1B1A17"/>
                </a:solidFill>
                <a:latin typeface="Courier New" pitchFamily="34" charset="0"/>
                <a:ea typeface="Courier New" pitchFamily="34" charset="-122"/>
                <a:cs typeface="Courier New" pitchFamily="34" charset="-120"/>
              </a:rPr>
              <a:t> − k·√W</a:t>
            </a:r>
            <a:endParaRPr lang="en-US" sz="2100" dirty="0"/>
          </a:p>
        </p:txBody>
      </p:sp>
      <p:sp>
        <p:nvSpPr>
          <p:cNvPr id="11" name="Shape 9"/>
          <p:cNvSpPr/>
          <p:nvPr/>
        </p:nvSpPr>
        <p:spPr>
          <a:xfrm>
            <a:off x="457200" y="3337560"/>
            <a:ext cx="4663440" cy="1051560"/>
          </a:xfrm>
          <a:prstGeom prst="roundRect">
            <a:avLst>
              <a:gd name="adj" fmla="val 5217"/>
            </a:avLst>
          </a:prstGeom>
          <a:solidFill>
            <a:srgbClr val="F7E8DC"/>
          </a:solidFill>
          <a:ln w="12700">
            <a:solidFill>
              <a:srgbClr val="F7E8DC"/>
            </a:solidFill>
            <a:prstDash val="solid"/>
          </a:ln>
        </p:spPr>
      </p:sp>
      <p:sp>
        <p:nvSpPr>
          <p:cNvPr id="12" name="Text 10"/>
          <p:cNvSpPr txBox="1"/>
          <p:nvPr/>
        </p:nvSpPr>
        <p:spPr>
          <a:xfrm>
            <a:off x="640080" y="3401568"/>
            <a:ext cx="4343400" cy="932688"/>
          </a:xfrm>
          <a:prstGeom prst="rect">
            <a:avLst/>
          </a:prstGeom>
          <a:noFill/>
          <a:ln/>
        </p:spPr>
        <p:txBody>
          <a:bodyPr wrap="square" lIns="0" tIns="0" rIns="0" bIns="0" rtlCol="0" anchor="t"/>
          <a:lstStyle/>
          <a:p>
            <a:pPr indent="0" marL="0">
              <a:spcAft>
                <a:spcPts val="400"/>
              </a:spcAft>
              <a:buNone/>
            </a:pPr>
            <a:r>
              <a:rPr lang="en-US" sz="1600" b="1" dirty="0">
                <a:solidFill>
                  <a:srgbClr val="B5541F"/>
                </a:solidFill>
                <a:latin typeface="Courier New" pitchFamily="34" charset="0"/>
                <a:ea typeface="Courier New" pitchFamily="34" charset="-122"/>
                <a:cs typeface="Courier New" pitchFamily="34" charset="-120"/>
              </a:rPr>
              <a:t>k  ∝  turnover</a:t>
            </a:r>
            <a:pPr indent="0" marL="0">
              <a:spcAft>
                <a:spcPts val="400"/>
              </a:spcAft>
              <a:buNone/>
            </a:pPr>
            <a:r>
              <a:rPr lang="en-US" sz="1600" b="1" baseline="30000" dirty="0">
                <a:solidFill>
                  <a:srgbClr val="B5541F"/>
                </a:solidFill>
                <a:latin typeface="Courier New" pitchFamily="34" charset="0"/>
                <a:ea typeface="Courier New" pitchFamily="34" charset="-122"/>
                <a:cs typeface="Courier New" pitchFamily="34" charset="-120"/>
              </a:rPr>
              <a:t>1.5</a:t>
            </a:r>
            <a:endParaRPr lang="en-US" sz="1600" dirty="0"/>
          </a:p>
          <a:p>
            <a:pPr indent="0" marL="0">
              <a:spcAft>
                <a:spcPts val="400"/>
              </a:spcAft>
              <a:buNone/>
            </a:pPr>
            <a:r>
              <a:rPr lang="en-US" sz="1200" dirty="0">
                <a:solidFill>
                  <a:srgbClr val="3B3934"/>
                </a:solidFill>
                <a:latin typeface="Calibri" pitchFamily="34" charset="0"/>
                <a:ea typeface="Calibri" pitchFamily="34" charset="-122"/>
                <a:cs typeface="Calibri" pitchFamily="34" charset="-120"/>
              </a:rPr>
              <a:t>Trade twice as often and you don't pay 2× — you pay 2.83×. That exponent is why a fast, "better" model loses to a slow, "worse" one at scale.</a:t>
            </a:r>
            <a:endParaRPr lang="en-US" sz="1600" dirty="0"/>
          </a:p>
        </p:txBody>
      </p:sp>
      <p:graphicFrame>
        <p:nvGraphicFramePr>
          <p:cNvPr id="13" name="Chart 0" descr=""/>
          <p:cNvGraphicFramePr/>
          <p:nvPr/>
        </p:nvGraphicFramePr>
        <p:xfrm>
          <a:off x="5349240" y="1417320"/>
          <a:ext cx="3429000" cy="31546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6400800" cy="219456"/>
          </a:xfrm>
          <a:prstGeom prst="rect">
            <a:avLst/>
          </a:prstGeom>
          <a:noFill/>
          <a:ln/>
        </p:spPr>
        <p:txBody>
          <a:bodyPr wrap="square" lIns="0" tIns="0" rIns="0" bIns="0" rtlCol="0" anchor="ctr"/>
          <a:lstStyle/>
          <a:p>
            <a:pPr indent="0" marL="0">
              <a:buNone/>
            </a:pPr>
            <a:r>
              <a:rPr lang="en-US" sz="900" b="1" spc="200" kern="0" dirty="0">
                <a:solidFill>
                  <a:srgbClr val="6B6862"/>
                </a:solidFill>
                <a:latin typeface="Calibri" pitchFamily="34" charset="0"/>
                <a:ea typeface="Calibri" pitchFamily="34" charset="-122"/>
                <a:cs typeface="Calibri" pitchFamily="34" charset="-120"/>
              </a:rPr>
              <a:t>THE HYPOTHESIS</a:t>
            </a:r>
            <a:endParaRPr lang="en-US" sz="900" dirty="0"/>
          </a:p>
        </p:txBody>
      </p:sp>
      <p:sp>
        <p:nvSpPr>
          <p:cNvPr id="3" name="Text 1"/>
          <p:cNvSpPr txBox="1"/>
          <p:nvPr/>
        </p:nvSpPr>
        <p:spPr>
          <a:xfrm>
            <a:off x="457200" y="566928"/>
            <a:ext cx="8229600" cy="777240"/>
          </a:xfrm>
          <a:prstGeom prst="rect">
            <a:avLst/>
          </a:prstGeom>
          <a:noFill/>
          <a:ln/>
        </p:spPr>
        <p:txBody>
          <a:bodyPr wrap="square" lIns="0" tIns="0" rIns="0" bIns="0" rtlCol="0" anchor="t"/>
          <a:lstStyle/>
          <a:p>
            <a:pPr indent="0" marL="0">
              <a:buNone/>
            </a:pPr>
            <a:r>
              <a:rPr lang="en-US" sz="2800" b="1" dirty="0">
                <a:solidFill>
                  <a:srgbClr val="1B1A17"/>
                </a:solidFill>
                <a:latin typeface="Cambria" pitchFamily="34" charset="0"/>
                <a:ea typeface="Cambria" pitchFamily="34" charset="-122"/>
                <a:cs typeface="Cambria" pitchFamily="34" charset="-120"/>
              </a:rPr>
              <a:t>The expected finding: the ranking inverts</a:t>
            </a:r>
            <a:endParaRPr lang="en-US" sz="2800" dirty="0"/>
          </a:p>
        </p:txBody>
      </p:sp>
      <p:sp>
        <p:nvSpPr>
          <p:cNvPr id="4" name="Text 2"/>
          <p:cNvSpPr txBox="1"/>
          <p:nvPr/>
        </p:nvSpPr>
        <p:spPr>
          <a:xfrm>
            <a:off x="7772400" y="4773168"/>
            <a:ext cx="914400" cy="201168"/>
          </a:xfrm>
          <a:prstGeom prst="rect">
            <a:avLst/>
          </a:prstGeom>
          <a:noFill/>
          <a:ln/>
        </p:spPr>
        <p:txBody>
          <a:bodyPr wrap="square" lIns="0" tIns="0" rIns="0" bIns="0" rtlCol="0" anchor="ctr"/>
          <a:lstStyle/>
          <a:p>
            <a:pPr algn="r" indent="0" marL="0">
              <a:buNone/>
            </a:pPr>
            <a:r>
              <a:rPr lang="en-US" sz="800" dirty="0">
                <a:solidFill>
                  <a:srgbClr val="A09C94"/>
                </a:solidFill>
                <a:latin typeface="Courier New" pitchFamily="34" charset="0"/>
                <a:ea typeface="Courier New" pitchFamily="34" charset="-122"/>
                <a:cs typeface="Courier New" pitchFamily="34" charset="-120"/>
              </a:rPr>
              <a:t>05 / 12</a:t>
            </a:r>
            <a:endParaRPr lang="en-US" sz="800" dirty="0"/>
          </a:p>
        </p:txBody>
      </p:sp>
      <p:graphicFrame>
        <p:nvGraphicFramePr>
          <p:cNvPr id="5" name="Chart 0" descr=""/>
          <p:cNvGraphicFramePr/>
          <p:nvPr/>
        </p:nvGraphicFramePr>
        <p:xfrm>
          <a:off x="457200" y="1417320"/>
          <a:ext cx="3977640" cy="28346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709160" y="1417320"/>
          <a:ext cx="3977640" cy="283464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457200" y="4315968"/>
            <a:ext cx="8229600" cy="457200"/>
          </a:xfrm>
          <a:prstGeom prst="rect">
            <a:avLst/>
          </a:prstGeom>
          <a:noFill/>
          <a:ln/>
        </p:spPr>
        <p:txBody>
          <a:bodyPr wrap="square" lIns="0" tIns="0" rIns="0" bIns="0" rtlCol="0" anchor="ctr"/>
          <a:lstStyle/>
          <a:p>
            <a:pPr indent="0" marL="0">
              <a:buNone/>
            </a:pPr>
            <a:r>
              <a:rPr lang="en-US" sz="1150" b="1" dirty="0">
                <a:solidFill>
                  <a:srgbClr val="B5541F"/>
                </a:solidFill>
                <a:latin typeface="Calibri" pitchFamily="34" charset="0"/>
                <a:ea typeface="Calibri" pitchFamily="34" charset="-122"/>
                <a:cs typeface="Calibri" pitchFamily="34" charset="-120"/>
              </a:rPr>
              <a:t>ILLUSTRATIVE.  </a:t>
            </a:r>
            <a:pPr indent="0" marL="0">
              <a:buNone/>
            </a:pPr>
            <a:r>
              <a:rPr lang="en-US" sz="1150" dirty="0">
                <a:solidFill>
                  <a:srgbClr val="3B3934"/>
                </a:solidFill>
                <a:latin typeface="Calibri" pitchFamily="34" charset="0"/>
                <a:ea typeface="Calibri" pitchFamily="34" charset="-122"/>
                <a:cs typeface="Calibri" pitchFamily="34" charset="-120"/>
              </a:rPr>
              <a:t>Same four models, two deployment sizes. These are the shapes the experiment is designed to test, not results. If the inversion happens, that is a finding. If it doesn't, that is also a finding — and either way there is a paper.</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6400800" cy="219456"/>
          </a:xfrm>
          <a:prstGeom prst="rect">
            <a:avLst/>
          </a:prstGeom>
          <a:noFill/>
          <a:ln/>
        </p:spPr>
        <p:txBody>
          <a:bodyPr wrap="square" lIns="0" tIns="0" rIns="0" bIns="0" rtlCol="0" anchor="ctr"/>
          <a:lstStyle/>
          <a:p>
            <a:pPr indent="0" marL="0">
              <a:buNone/>
            </a:pPr>
            <a:r>
              <a:rPr lang="en-US" sz="900" b="1" spc="200" kern="0" dirty="0">
                <a:solidFill>
                  <a:srgbClr val="6B6862"/>
                </a:solidFill>
                <a:latin typeface="Calibri" pitchFamily="34" charset="0"/>
                <a:ea typeface="Calibri" pitchFamily="34" charset="-122"/>
                <a:cs typeface="Calibri" pitchFamily="34" charset="-120"/>
              </a:rPr>
              <a:t>THE PROPOSAL</a:t>
            </a:r>
            <a:endParaRPr lang="en-US" sz="900" dirty="0"/>
          </a:p>
        </p:txBody>
      </p:sp>
      <p:sp>
        <p:nvSpPr>
          <p:cNvPr id="3" name="Text 1"/>
          <p:cNvSpPr txBox="1"/>
          <p:nvPr/>
        </p:nvSpPr>
        <p:spPr>
          <a:xfrm>
            <a:off x="457200" y="566928"/>
            <a:ext cx="8229600" cy="777240"/>
          </a:xfrm>
          <a:prstGeom prst="rect">
            <a:avLst/>
          </a:prstGeom>
          <a:noFill/>
          <a:ln/>
        </p:spPr>
        <p:txBody>
          <a:bodyPr wrap="square" lIns="0" tIns="0" rIns="0" bIns="0" rtlCol="0" anchor="t"/>
          <a:lstStyle/>
          <a:p>
            <a:pPr indent="0" marL="0">
              <a:buNone/>
            </a:pPr>
            <a:r>
              <a:rPr lang="en-US" sz="2800" b="1" dirty="0">
                <a:solidFill>
                  <a:srgbClr val="1B1A17"/>
                </a:solidFill>
                <a:latin typeface="Cambria" pitchFamily="34" charset="0"/>
                <a:ea typeface="Cambria" pitchFamily="34" charset="-122"/>
                <a:cs typeface="Cambria" pitchFamily="34" charset="-120"/>
              </a:rPr>
              <a:t>Five contributions</a:t>
            </a:r>
            <a:endParaRPr lang="en-US" sz="2800" dirty="0"/>
          </a:p>
        </p:txBody>
      </p:sp>
      <p:sp>
        <p:nvSpPr>
          <p:cNvPr id="4" name="Text 2"/>
          <p:cNvSpPr txBox="1"/>
          <p:nvPr/>
        </p:nvSpPr>
        <p:spPr>
          <a:xfrm>
            <a:off x="7772400" y="4773168"/>
            <a:ext cx="914400" cy="201168"/>
          </a:xfrm>
          <a:prstGeom prst="rect">
            <a:avLst/>
          </a:prstGeom>
          <a:noFill/>
          <a:ln/>
        </p:spPr>
        <p:txBody>
          <a:bodyPr wrap="square" lIns="0" tIns="0" rIns="0" bIns="0" rtlCol="0" anchor="ctr"/>
          <a:lstStyle/>
          <a:p>
            <a:pPr algn="r" indent="0" marL="0">
              <a:buNone/>
            </a:pPr>
            <a:r>
              <a:rPr lang="en-US" sz="800" dirty="0">
                <a:solidFill>
                  <a:srgbClr val="A09C94"/>
                </a:solidFill>
                <a:latin typeface="Courier New" pitchFamily="34" charset="0"/>
                <a:ea typeface="Courier New" pitchFamily="34" charset="-122"/>
                <a:cs typeface="Courier New" pitchFamily="34" charset="-120"/>
              </a:rPr>
              <a:t>06 / 12</a:t>
            </a:r>
            <a:endParaRPr lang="en-US" sz="800" dirty="0"/>
          </a:p>
        </p:txBody>
      </p:sp>
      <p:sp>
        <p:nvSpPr>
          <p:cNvPr id="5" name="Shape 3"/>
          <p:cNvSpPr/>
          <p:nvPr/>
        </p:nvSpPr>
        <p:spPr>
          <a:xfrm>
            <a:off x="457200" y="1417320"/>
            <a:ext cx="457200" cy="457200"/>
          </a:xfrm>
          <a:prstGeom prst="ellipse">
            <a:avLst/>
          </a:prstGeom>
          <a:solidFill>
            <a:srgbClr val="2C3E8F"/>
          </a:solidFill>
          <a:ln w="12700">
            <a:solidFill>
              <a:srgbClr val="2C3E8F"/>
            </a:solidFill>
            <a:prstDash val="solid"/>
          </a:ln>
        </p:spPr>
      </p:sp>
      <p:pic>
        <p:nvPicPr>
          <p:cNvPr id="6" name="Image 0" descr="preencoded.png">    </p:cNvPr>
          <p:cNvPicPr>
            <a:picLocks noChangeAspect="1"/>
          </p:cNvPicPr>
          <p:nvPr/>
        </p:nvPicPr>
        <p:blipFill>
          <a:blip r:embed="rId1"/>
          <a:stretch>
            <a:fillRect/>
          </a:stretch>
        </p:blipFill>
        <p:spPr>
          <a:xfrm>
            <a:off x="576072" y="1536192"/>
            <a:ext cx="219456" cy="219456"/>
          </a:xfrm>
          <a:prstGeom prst="rect">
            <a:avLst/>
          </a:prstGeom>
        </p:spPr>
      </p:pic>
      <p:sp>
        <p:nvSpPr>
          <p:cNvPr id="7" name="Text 4"/>
          <p:cNvSpPr txBox="1"/>
          <p:nvPr/>
        </p:nvSpPr>
        <p:spPr>
          <a:xfrm>
            <a:off x="1097280" y="1371600"/>
            <a:ext cx="7589520" cy="274320"/>
          </a:xfrm>
          <a:prstGeom prst="rect">
            <a:avLst/>
          </a:prstGeom>
          <a:noFill/>
          <a:ln/>
        </p:spPr>
        <p:txBody>
          <a:bodyPr wrap="square" lIns="0" tIns="0" rIns="0" bIns="0" rtlCol="0" anchor="ctr"/>
          <a:lstStyle/>
          <a:p>
            <a:pPr indent="0" marL="0">
              <a:buNone/>
            </a:pPr>
            <a:r>
              <a:rPr lang="en-US" sz="1100" b="1" dirty="0">
                <a:solidFill>
                  <a:srgbClr val="B5541F"/>
                </a:solidFill>
                <a:latin typeface="Courier New" pitchFamily="34" charset="0"/>
                <a:ea typeface="Courier New" pitchFamily="34" charset="-122"/>
                <a:cs typeface="Courier New" pitchFamily="34" charset="-120"/>
              </a:rPr>
              <a:t>C1   </a:t>
            </a:r>
            <a:pPr indent="0" marL="0">
              <a:buNone/>
            </a:pPr>
            <a:r>
              <a:rPr lang="en-US" sz="1400" b="1" dirty="0">
                <a:solidFill>
                  <a:srgbClr val="1B1A17"/>
                </a:solidFill>
                <a:latin typeface="Calibri" pitchFamily="34" charset="0"/>
                <a:ea typeface="Calibri" pitchFamily="34" charset="-122"/>
                <a:cs typeface="Calibri" pitchFamily="34" charset="-120"/>
              </a:rPr>
              <a:t>A metric</a:t>
            </a:r>
            <a:endParaRPr lang="en-US" sz="1100" dirty="0"/>
          </a:p>
        </p:txBody>
      </p:sp>
      <p:sp>
        <p:nvSpPr>
          <p:cNvPr id="8" name="Text 5"/>
          <p:cNvSpPr txBox="1"/>
          <p:nvPr/>
        </p:nvSpPr>
        <p:spPr>
          <a:xfrm>
            <a:off x="1097280" y="1627632"/>
            <a:ext cx="7589520" cy="365760"/>
          </a:xfrm>
          <a:prstGeom prst="rect">
            <a:avLst/>
          </a:prstGeom>
          <a:noFill/>
          <a:ln/>
        </p:spPr>
        <p:txBody>
          <a:bodyPr wrap="square" lIns="0" tIns="0" rIns="0" bIns="0" rtlCol="0" anchor="t"/>
          <a:lstStyle/>
          <a:p>
            <a:pPr indent="0" marL="0">
              <a:buNone/>
            </a:pPr>
            <a:r>
              <a:rPr lang="en-US" sz="1150" dirty="0">
                <a:solidFill>
                  <a:srgbClr val="3B3934"/>
                </a:solidFill>
                <a:latin typeface="Calibri" pitchFamily="34" charset="0"/>
                <a:ea typeface="Calibri" pitchFamily="34" charset="-122"/>
                <a:cs typeface="Calibri" pitchFamily="34" charset="-120"/>
              </a:rPr>
              <a:t>Capacity-Adjusted Sharpe — performance as a curve over deployed capital, not a single number. The financial equivalent of an accuracy-versus-latency frontier.</a:t>
            </a:r>
            <a:endParaRPr lang="en-US" sz="1150" dirty="0"/>
          </a:p>
        </p:txBody>
      </p:sp>
      <p:sp>
        <p:nvSpPr>
          <p:cNvPr id="9" name="Shape 6"/>
          <p:cNvSpPr/>
          <p:nvPr/>
        </p:nvSpPr>
        <p:spPr>
          <a:xfrm>
            <a:off x="457200" y="2084832"/>
            <a:ext cx="457200" cy="457200"/>
          </a:xfrm>
          <a:prstGeom prst="ellipse">
            <a:avLst/>
          </a:prstGeom>
          <a:solidFill>
            <a:srgbClr val="2C3E8F"/>
          </a:solidFill>
          <a:ln w="12700">
            <a:solidFill>
              <a:srgbClr val="2C3E8F"/>
            </a:solidFill>
            <a:prstDash val="solid"/>
          </a:ln>
        </p:spPr>
      </p:sp>
      <p:pic>
        <p:nvPicPr>
          <p:cNvPr id="10" name="Image 1" descr="preencoded.png">    </p:cNvPr>
          <p:cNvPicPr>
            <a:picLocks noChangeAspect="1"/>
          </p:cNvPicPr>
          <p:nvPr/>
        </p:nvPicPr>
        <p:blipFill>
          <a:blip r:embed="rId2"/>
          <a:stretch>
            <a:fillRect/>
          </a:stretch>
        </p:blipFill>
        <p:spPr>
          <a:xfrm>
            <a:off x="576072" y="2203704"/>
            <a:ext cx="219456" cy="219456"/>
          </a:xfrm>
          <a:prstGeom prst="rect">
            <a:avLst/>
          </a:prstGeom>
        </p:spPr>
      </p:pic>
      <p:sp>
        <p:nvSpPr>
          <p:cNvPr id="11" name="Text 7"/>
          <p:cNvSpPr txBox="1"/>
          <p:nvPr/>
        </p:nvSpPr>
        <p:spPr>
          <a:xfrm>
            <a:off x="1097280" y="2039112"/>
            <a:ext cx="7589520" cy="274320"/>
          </a:xfrm>
          <a:prstGeom prst="rect">
            <a:avLst/>
          </a:prstGeom>
          <a:noFill/>
          <a:ln/>
        </p:spPr>
        <p:txBody>
          <a:bodyPr wrap="square" lIns="0" tIns="0" rIns="0" bIns="0" rtlCol="0" anchor="ctr"/>
          <a:lstStyle/>
          <a:p>
            <a:pPr indent="0" marL="0">
              <a:buNone/>
            </a:pPr>
            <a:r>
              <a:rPr lang="en-US" sz="1100" b="1" dirty="0">
                <a:solidFill>
                  <a:srgbClr val="B5541F"/>
                </a:solidFill>
                <a:latin typeface="Courier New" pitchFamily="34" charset="0"/>
                <a:ea typeface="Courier New" pitchFamily="34" charset="-122"/>
                <a:cs typeface="Courier New" pitchFamily="34" charset="-120"/>
              </a:rPr>
              <a:t>C2   </a:t>
            </a:r>
            <a:pPr indent="0" marL="0">
              <a:buNone/>
            </a:pPr>
            <a:r>
              <a:rPr lang="en-US" sz="1400" b="1" dirty="0">
                <a:solidFill>
                  <a:srgbClr val="1B1A17"/>
                </a:solidFill>
                <a:latin typeface="Calibri" pitchFamily="34" charset="0"/>
                <a:ea typeface="Calibri" pitchFamily="34" charset="-122"/>
                <a:cs typeface="Calibri" pitchFamily="34" charset="-120"/>
              </a:rPr>
              <a:t>A benchmark</a:t>
            </a:r>
            <a:endParaRPr lang="en-US" sz="1100" dirty="0"/>
          </a:p>
        </p:txBody>
      </p:sp>
      <p:sp>
        <p:nvSpPr>
          <p:cNvPr id="12" name="Text 8"/>
          <p:cNvSpPr txBox="1"/>
          <p:nvPr/>
        </p:nvSpPr>
        <p:spPr>
          <a:xfrm>
            <a:off x="1097280" y="2295144"/>
            <a:ext cx="7589520" cy="365760"/>
          </a:xfrm>
          <a:prstGeom prst="rect">
            <a:avLst/>
          </a:prstGeom>
          <a:noFill/>
          <a:ln/>
        </p:spPr>
        <p:txBody>
          <a:bodyPr wrap="square" lIns="0" tIns="0" rIns="0" bIns="0" rtlCol="0" anchor="t"/>
          <a:lstStyle/>
          <a:p>
            <a:pPr indent="0" marL="0">
              <a:buNone/>
            </a:pPr>
            <a:r>
              <a:rPr lang="en-US" sz="1150" dirty="0">
                <a:solidFill>
                  <a:srgbClr val="3B3934"/>
                </a:solidFill>
                <a:latin typeface="Calibri" pitchFamily="34" charset="0"/>
                <a:ea typeface="Calibri" pitchFamily="34" charset="-122"/>
                <a:cs typeface="Calibri" pitchFamily="34" charset="-120"/>
              </a:rPr>
              <a:t>Capacity curves for four standard model families on Indian equities, with US equities as a comparison arm. Neither has been published.</a:t>
            </a:r>
            <a:endParaRPr lang="en-US" sz="1150" dirty="0"/>
          </a:p>
        </p:txBody>
      </p:sp>
      <p:sp>
        <p:nvSpPr>
          <p:cNvPr id="13" name="Shape 9"/>
          <p:cNvSpPr/>
          <p:nvPr/>
        </p:nvSpPr>
        <p:spPr>
          <a:xfrm>
            <a:off x="457200" y="2752344"/>
            <a:ext cx="457200" cy="457200"/>
          </a:xfrm>
          <a:prstGeom prst="ellipse">
            <a:avLst/>
          </a:prstGeom>
          <a:solidFill>
            <a:srgbClr val="2C3E8F"/>
          </a:solidFill>
          <a:ln w="12700">
            <a:solidFill>
              <a:srgbClr val="2C3E8F"/>
            </a:solidFill>
            <a:prstDash val="solid"/>
          </a:ln>
        </p:spPr>
      </p:sp>
      <p:pic>
        <p:nvPicPr>
          <p:cNvPr id="14" name="Image 2" descr="preencoded.png">    </p:cNvPr>
          <p:cNvPicPr>
            <a:picLocks noChangeAspect="1"/>
          </p:cNvPicPr>
          <p:nvPr/>
        </p:nvPicPr>
        <p:blipFill>
          <a:blip r:embed="rId3"/>
          <a:stretch>
            <a:fillRect/>
          </a:stretch>
        </p:blipFill>
        <p:spPr>
          <a:xfrm>
            <a:off x="576072" y="2871216"/>
            <a:ext cx="219456" cy="219456"/>
          </a:xfrm>
          <a:prstGeom prst="rect">
            <a:avLst/>
          </a:prstGeom>
        </p:spPr>
      </p:pic>
      <p:sp>
        <p:nvSpPr>
          <p:cNvPr id="15" name="Text 10"/>
          <p:cNvSpPr txBox="1"/>
          <p:nvPr/>
        </p:nvSpPr>
        <p:spPr>
          <a:xfrm>
            <a:off x="1097280" y="2706624"/>
            <a:ext cx="7589520" cy="274320"/>
          </a:xfrm>
          <a:prstGeom prst="rect">
            <a:avLst/>
          </a:prstGeom>
          <a:noFill/>
          <a:ln/>
        </p:spPr>
        <p:txBody>
          <a:bodyPr wrap="square" lIns="0" tIns="0" rIns="0" bIns="0" rtlCol="0" anchor="ctr"/>
          <a:lstStyle/>
          <a:p>
            <a:pPr indent="0" marL="0">
              <a:buNone/>
            </a:pPr>
            <a:r>
              <a:rPr lang="en-US" sz="1100" b="1" dirty="0">
                <a:solidFill>
                  <a:srgbClr val="B5541F"/>
                </a:solidFill>
                <a:latin typeface="Courier New" pitchFamily="34" charset="0"/>
                <a:ea typeface="Courier New" pitchFamily="34" charset="-122"/>
                <a:cs typeface="Courier New" pitchFamily="34" charset="-120"/>
              </a:rPr>
              <a:t>C3   </a:t>
            </a:r>
            <a:pPr indent="0" marL="0">
              <a:buNone/>
            </a:pPr>
            <a:r>
              <a:rPr lang="en-US" sz="1400" b="1" dirty="0">
                <a:solidFill>
                  <a:srgbClr val="1B1A17"/>
                </a:solidFill>
                <a:latin typeface="Calibri" pitchFamily="34" charset="0"/>
                <a:ea typeface="Calibri" pitchFamily="34" charset="-122"/>
                <a:cs typeface="Calibri" pitchFamily="34" charset="-120"/>
              </a:rPr>
              <a:t>An empirical result</a:t>
            </a:r>
            <a:endParaRPr lang="en-US" sz="1100" dirty="0"/>
          </a:p>
        </p:txBody>
      </p:sp>
      <p:sp>
        <p:nvSpPr>
          <p:cNvPr id="16" name="Text 11"/>
          <p:cNvSpPr txBox="1"/>
          <p:nvPr/>
        </p:nvSpPr>
        <p:spPr>
          <a:xfrm>
            <a:off x="1097280" y="2962656"/>
            <a:ext cx="7589520" cy="365760"/>
          </a:xfrm>
          <a:prstGeom prst="rect">
            <a:avLst/>
          </a:prstGeom>
          <a:noFill/>
          <a:ln/>
        </p:spPr>
        <p:txBody>
          <a:bodyPr wrap="square" lIns="0" tIns="0" rIns="0" bIns="0" rtlCol="0" anchor="t"/>
          <a:lstStyle/>
          <a:p>
            <a:pPr indent="0" marL="0">
              <a:buNone/>
            </a:pPr>
            <a:r>
              <a:rPr lang="en-US" sz="1150" dirty="0">
                <a:solidFill>
                  <a:srgbClr val="3B3934"/>
                </a:solidFill>
                <a:latin typeface="Calibri" pitchFamily="34" charset="0"/>
                <a:ea typeface="Calibri" pitchFamily="34" charset="-122"/>
                <a:cs typeface="Calibri" pitchFamily="34" charset="-120"/>
              </a:rPr>
              <a:t>The capital threshold where model rankings invert — stated as a falsifiable hypothesis before the experiment runs.</a:t>
            </a:r>
            <a:endParaRPr lang="en-US" sz="1150" dirty="0"/>
          </a:p>
        </p:txBody>
      </p:sp>
      <p:sp>
        <p:nvSpPr>
          <p:cNvPr id="17" name="Shape 12"/>
          <p:cNvSpPr/>
          <p:nvPr/>
        </p:nvSpPr>
        <p:spPr>
          <a:xfrm>
            <a:off x="457200" y="3419856"/>
            <a:ext cx="457200" cy="457200"/>
          </a:xfrm>
          <a:prstGeom prst="ellipse">
            <a:avLst/>
          </a:prstGeom>
          <a:solidFill>
            <a:srgbClr val="2C3E8F"/>
          </a:solidFill>
          <a:ln w="12700">
            <a:solidFill>
              <a:srgbClr val="2C3E8F"/>
            </a:solidFill>
            <a:prstDash val="solid"/>
          </a:ln>
        </p:spPr>
      </p:sp>
      <p:pic>
        <p:nvPicPr>
          <p:cNvPr id="18" name="Image 3" descr="preencoded.png">    </p:cNvPr>
          <p:cNvPicPr>
            <a:picLocks noChangeAspect="1"/>
          </p:cNvPicPr>
          <p:nvPr/>
        </p:nvPicPr>
        <p:blipFill>
          <a:blip r:embed="rId4"/>
          <a:stretch>
            <a:fillRect/>
          </a:stretch>
        </p:blipFill>
        <p:spPr>
          <a:xfrm>
            <a:off x="576072" y="3538728"/>
            <a:ext cx="219456" cy="219456"/>
          </a:xfrm>
          <a:prstGeom prst="rect">
            <a:avLst/>
          </a:prstGeom>
        </p:spPr>
      </p:pic>
      <p:sp>
        <p:nvSpPr>
          <p:cNvPr id="19" name="Text 13"/>
          <p:cNvSpPr txBox="1"/>
          <p:nvPr/>
        </p:nvSpPr>
        <p:spPr>
          <a:xfrm>
            <a:off x="1097280" y="3374136"/>
            <a:ext cx="7589520" cy="274320"/>
          </a:xfrm>
          <a:prstGeom prst="rect">
            <a:avLst/>
          </a:prstGeom>
          <a:noFill/>
          <a:ln/>
        </p:spPr>
        <p:txBody>
          <a:bodyPr wrap="square" lIns="0" tIns="0" rIns="0" bIns="0" rtlCol="0" anchor="ctr"/>
          <a:lstStyle/>
          <a:p>
            <a:pPr indent="0" marL="0">
              <a:buNone/>
            </a:pPr>
            <a:r>
              <a:rPr lang="en-US" sz="1100" b="1" dirty="0">
                <a:solidFill>
                  <a:srgbClr val="B5541F"/>
                </a:solidFill>
                <a:latin typeface="Courier New" pitchFamily="34" charset="0"/>
                <a:ea typeface="Courier New" pitchFamily="34" charset="-122"/>
                <a:cs typeface="Courier New" pitchFamily="34" charset="-120"/>
              </a:rPr>
              <a:t>C4   </a:t>
            </a:r>
            <a:pPr indent="0" marL="0">
              <a:buNone/>
            </a:pPr>
            <a:r>
              <a:rPr lang="en-US" sz="1400" b="1" dirty="0">
                <a:solidFill>
                  <a:srgbClr val="1B1A17"/>
                </a:solidFill>
                <a:latin typeface="Calibri" pitchFamily="34" charset="0"/>
                <a:ea typeface="Calibri" pitchFamily="34" charset="-122"/>
                <a:cs typeface="Calibri" pitchFamily="34" charset="-120"/>
              </a:rPr>
              <a:t>An explainability result</a:t>
            </a:r>
            <a:endParaRPr lang="en-US" sz="1100" dirty="0"/>
          </a:p>
        </p:txBody>
      </p:sp>
      <p:sp>
        <p:nvSpPr>
          <p:cNvPr id="20" name="Text 14"/>
          <p:cNvSpPr txBox="1"/>
          <p:nvPr/>
        </p:nvSpPr>
        <p:spPr>
          <a:xfrm>
            <a:off x="1097280" y="3630168"/>
            <a:ext cx="7589520" cy="365760"/>
          </a:xfrm>
          <a:prstGeom prst="rect">
            <a:avLst/>
          </a:prstGeom>
          <a:noFill/>
          <a:ln/>
        </p:spPr>
        <p:txBody>
          <a:bodyPr wrap="square" lIns="0" tIns="0" rIns="0" bIns="0" rtlCol="0" anchor="t"/>
          <a:lstStyle/>
          <a:p>
            <a:pPr indent="0" marL="0">
              <a:buNone/>
            </a:pPr>
            <a:r>
              <a:rPr lang="en-US" sz="1150" dirty="0">
                <a:solidFill>
                  <a:srgbClr val="3B3934"/>
                </a:solidFill>
                <a:latin typeface="Calibri" pitchFamily="34" charset="0"/>
                <a:ea typeface="Calibri" pitchFamily="34" charset="-122"/>
                <a:cs typeface="Calibri" pitchFamily="34" charset="-120"/>
              </a:rPr>
              <a:t>SHAP feature importance computed at each capital level. Do the features a model relies on change identity with scale? Nobody has asked.</a:t>
            </a:r>
            <a:endParaRPr lang="en-US" sz="1150" dirty="0"/>
          </a:p>
        </p:txBody>
      </p:sp>
      <p:sp>
        <p:nvSpPr>
          <p:cNvPr id="21" name="Shape 15"/>
          <p:cNvSpPr/>
          <p:nvPr/>
        </p:nvSpPr>
        <p:spPr>
          <a:xfrm>
            <a:off x="457200" y="4087368"/>
            <a:ext cx="457200" cy="457200"/>
          </a:xfrm>
          <a:prstGeom prst="ellipse">
            <a:avLst/>
          </a:prstGeom>
          <a:solidFill>
            <a:srgbClr val="2C3E8F"/>
          </a:solidFill>
          <a:ln w="12700">
            <a:solidFill>
              <a:srgbClr val="2C3E8F"/>
            </a:solidFill>
            <a:prstDash val="solid"/>
          </a:ln>
        </p:spPr>
      </p:sp>
      <p:pic>
        <p:nvPicPr>
          <p:cNvPr id="22" name="Image 4" descr="preencoded.png">    </p:cNvPr>
          <p:cNvPicPr>
            <a:picLocks noChangeAspect="1"/>
          </p:cNvPicPr>
          <p:nvPr/>
        </p:nvPicPr>
        <p:blipFill>
          <a:blip r:embed="rId5"/>
          <a:stretch>
            <a:fillRect/>
          </a:stretch>
        </p:blipFill>
        <p:spPr>
          <a:xfrm>
            <a:off x="576072" y="4206240"/>
            <a:ext cx="219456" cy="219456"/>
          </a:xfrm>
          <a:prstGeom prst="rect">
            <a:avLst/>
          </a:prstGeom>
        </p:spPr>
      </p:pic>
      <p:sp>
        <p:nvSpPr>
          <p:cNvPr id="23" name="Text 16"/>
          <p:cNvSpPr txBox="1"/>
          <p:nvPr/>
        </p:nvSpPr>
        <p:spPr>
          <a:xfrm>
            <a:off x="1097280" y="4041648"/>
            <a:ext cx="7589520" cy="274320"/>
          </a:xfrm>
          <a:prstGeom prst="rect">
            <a:avLst/>
          </a:prstGeom>
          <a:noFill/>
          <a:ln/>
        </p:spPr>
        <p:txBody>
          <a:bodyPr wrap="square" lIns="0" tIns="0" rIns="0" bIns="0" rtlCol="0" anchor="ctr"/>
          <a:lstStyle/>
          <a:p>
            <a:pPr indent="0" marL="0">
              <a:buNone/>
            </a:pPr>
            <a:r>
              <a:rPr lang="en-US" sz="1100" b="1" dirty="0">
                <a:solidFill>
                  <a:srgbClr val="B5541F"/>
                </a:solidFill>
                <a:latin typeface="Courier New" pitchFamily="34" charset="0"/>
                <a:ea typeface="Courier New" pitchFamily="34" charset="-122"/>
                <a:cs typeface="Courier New" pitchFamily="34" charset="-120"/>
              </a:rPr>
              <a:t>C5   </a:t>
            </a:r>
            <a:pPr indent="0" marL="0">
              <a:buNone/>
            </a:pPr>
            <a:r>
              <a:rPr lang="en-US" sz="1400" b="1" dirty="0">
                <a:solidFill>
                  <a:srgbClr val="1B1A17"/>
                </a:solidFill>
                <a:latin typeface="Calibri" pitchFamily="34" charset="0"/>
                <a:ea typeface="Calibri" pitchFamily="34" charset="-122"/>
                <a:cs typeface="Calibri" pitchFamily="34" charset="-120"/>
              </a:rPr>
              <a:t>An open-source tool</a:t>
            </a:r>
            <a:endParaRPr lang="en-US" sz="1100" dirty="0"/>
          </a:p>
        </p:txBody>
      </p:sp>
      <p:sp>
        <p:nvSpPr>
          <p:cNvPr id="24" name="Text 17"/>
          <p:cNvSpPr txBox="1"/>
          <p:nvPr/>
        </p:nvSpPr>
        <p:spPr>
          <a:xfrm>
            <a:off x="1097280" y="4297680"/>
            <a:ext cx="7589520" cy="365760"/>
          </a:xfrm>
          <a:prstGeom prst="rect">
            <a:avLst/>
          </a:prstGeom>
          <a:noFill/>
          <a:ln/>
        </p:spPr>
        <p:txBody>
          <a:bodyPr wrap="square" lIns="0" tIns="0" rIns="0" bIns="0" rtlCol="0" anchor="t"/>
          <a:lstStyle/>
          <a:p>
            <a:pPr indent="0" marL="0">
              <a:buNone/>
            </a:pPr>
            <a:r>
              <a:rPr lang="en-US" sz="1150" dirty="0">
                <a:solidFill>
                  <a:srgbClr val="3B3934"/>
                </a:solidFill>
                <a:latin typeface="Calibri" pitchFamily="34" charset="0"/>
                <a:ea typeface="Calibri" pitchFamily="34" charset="-122"/>
                <a:cs typeface="Calibri" pitchFamily="34" charset="-120"/>
              </a:rPr>
              <a:t>A small Python library: wrap any prediction model, get its capacity curve. Citable, reusable, and a concrete engineering artifact.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6400800" cy="219456"/>
          </a:xfrm>
          <a:prstGeom prst="rect">
            <a:avLst/>
          </a:prstGeom>
          <a:noFill/>
          <a:ln/>
        </p:spPr>
        <p:txBody>
          <a:bodyPr wrap="square" lIns="0" tIns="0" rIns="0" bIns="0" rtlCol="0" anchor="ctr"/>
          <a:lstStyle/>
          <a:p>
            <a:pPr indent="0" marL="0">
              <a:buNone/>
            </a:pPr>
            <a:r>
              <a:rPr lang="en-US" sz="900" b="1" spc="200" kern="0" dirty="0">
                <a:solidFill>
                  <a:srgbClr val="6B6862"/>
                </a:solidFill>
                <a:latin typeface="Calibri" pitchFamily="34" charset="0"/>
                <a:ea typeface="Calibri" pitchFamily="34" charset="-122"/>
                <a:cs typeface="Calibri" pitchFamily="34" charset="-120"/>
              </a:rPr>
              <a:t>THE MODELS</a:t>
            </a:r>
            <a:endParaRPr lang="en-US" sz="900" dirty="0"/>
          </a:p>
        </p:txBody>
      </p:sp>
      <p:sp>
        <p:nvSpPr>
          <p:cNvPr id="3" name="Text 1"/>
          <p:cNvSpPr txBox="1"/>
          <p:nvPr/>
        </p:nvSpPr>
        <p:spPr>
          <a:xfrm>
            <a:off x="457200" y="566928"/>
            <a:ext cx="8229600" cy="777240"/>
          </a:xfrm>
          <a:prstGeom prst="rect">
            <a:avLst/>
          </a:prstGeom>
          <a:noFill/>
          <a:ln/>
        </p:spPr>
        <p:txBody>
          <a:bodyPr wrap="square" lIns="0" tIns="0" rIns="0" bIns="0" rtlCol="0" anchor="t"/>
          <a:lstStyle/>
          <a:p>
            <a:pPr indent="0" marL="0">
              <a:buNone/>
            </a:pPr>
            <a:r>
              <a:rPr lang="en-US" sz="2800" b="1" dirty="0">
                <a:solidFill>
                  <a:srgbClr val="1B1A17"/>
                </a:solidFill>
                <a:latin typeface="Cambria" pitchFamily="34" charset="0"/>
                <a:ea typeface="Cambria" pitchFamily="34" charset="-122"/>
                <a:cs typeface="Cambria" pitchFamily="34" charset="-120"/>
              </a:rPr>
              <a:t>Five models. Each has a job.</a:t>
            </a:r>
            <a:endParaRPr lang="en-US" sz="2800" dirty="0"/>
          </a:p>
        </p:txBody>
      </p:sp>
      <p:sp>
        <p:nvSpPr>
          <p:cNvPr id="4" name="Text 2"/>
          <p:cNvSpPr txBox="1"/>
          <p:nvPr/>
        </p:nvSpPr>
        <p:spPr>
          <a:xfrm>
            <a:off x="7772400" y="4773168"/>
            <a:ext cx="914400" cy="201168"/>
          </a:xfrm>
          <a:prstGeom prst="rect">
            <a:avLst/>
          </a:prstGeom>
          <a:noFill/>
          <a:ln/>
        </p:spPr>
        <p:txBody>
          <a:bodyPr wrap="square" lIns="0" tIns="0" rIns="0" bIns="0" rtlCol="0" anchor="ctr"/>
          <a:lstStyle/>
          <a:p>
            <a:pPr algn="r" indent="0" marL="0">
              <a:buNone/>
            </a:pPr>
            <a:r>
              <a:rPr lang="en-US" sz="800" dirty="0">
                <a:solidFill>
                  <a:srgbClr val="A09C94"/>
                </a:solidFill>
                <a:latin typeface="Courier New" pitchFamily="34" charset="0"/>
                <a:ea typeface="Courier New" pitchFamily="34" charset="-122"/>
                <a:cs typeface="Courier New" pitchFamily="34" charset="-120"/>
              </a:rPr>
              <a:t>07 / 12</a:t>
            </a:r>
            <a:endParaRPr lang="en-US" sz="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1417320"/>
                <a:gridCol w="2377440"/>
                <a:gridCol w="914400"/>
                <a:gridCol w="777240"/>
                <a:gridCol w="2743200"/>
              </a:tblGrid>
              <a:tr h="292608">
                <a:tc>
                  <a:txBody>
                    <a:bodyPr/>
                    <a:lstStyle/>
                    <a:p>
                      <a:pPr indent="0" marL="0">
                        <a:buNone/>
                      </a:pPr>
                      <a:r>
                        <a:rPr lang="en-US" sz="1000" b="1" dirty="0">
                          <a:solidFill>
                            <a:srgbClr val="6B6862"/>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solidFill>
                      <a:srgbClr val="F2F2EF"/>
                    </a:solidFill>
                  </a:tcPr>
                </a:tc>
                <a:tc>
                  <a:txBody>
                    <a:bodyPr/>
                    <a:lstStyle/>
                    <a:p>
                      <a:pPr indent="0" marL="0">
                        <a:buNone/>
                      </a:pPr>
                      <a:r>
                        <a:rPr lang="en-US" sz="1000" b="1" dirty="0">
                          <a:solidFill>
                            <a:srgbClr val="6B6862"/>
                          </a:solidFill>
                          <a:latin typeface="Calibri" pitchFamily="34" charset="0"/>
                          <a:ea typeface="Calibri" pitchFamily="34" charset="-122"/>
                          <a:cs typeface="Calibri" pitchFamily="34" charset="-120"/>
                        </a:rPr>
                        <a:t>WHAT IT IS</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solidFill>
                      <a:srgbClr val="F2F2EF"/>
                    </a:solidFill>
                  </a:tcPr>
                </a:tc>
                <a:tc>
                  <a:txBody>
                    <a:bodyPr/>
                    <a:lstStyle/>
                    <a:p>
                      <a:pPr indent="0" marL="0">
                        <a:buNone/>
                      </a:pPr>
                      <a:r>
                        <a:rPr lang="en-US" sz="1000" b="1" dirty="0">
                          <a:solidFill>
                            <a:srgbClr val="6B6862"/>
                          </a:solidFill>
                          <a:latin typeface="Calibri" pitchFamily="34" charset="0"/>
                          <a:ea typeface="Calibri" pitchFamily="34" charset="-122"/>
                          <a:cs typeface="Calibri" pitchFamily="34" charset="-120"/>
                        </a:rPr>
                        <a:t>INTERACTS?</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solidFill>
                      <a:srgbClr val="F2F2EF"/>
                    </a:solidFill>
                  </a:tcPr>
                </a:tc>
                <a:tc>
                  <a:txBody>
                    <a:bodyPr/>
                    <a:lstStyle/>
                    <a:p>
                      <a:pPr indent="0" marL="0">
                        <a:buNone/>
                      </a:pPr>
                      <a:r>
                        <a:rPr lang="en-US" sz="1000" b="1" dirty="0">
                          <a:solidFill>
                            <a:srgbClr val="6B6862"/>
                          </a:solidFill>
                          <a:latin typeface="Calibri" pitchFamily="34" charset="0"/>
                          <a:ea typeface="Calibri" pitchFamily="34" charset="-122"/>
                          <a:cs typeface="Calibri" pitchFamily="34" charset="-120"/>
                        </a:rPr>
                        <a:t>TURNOVER</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solidFill>
                      <a:srgbClr val="F2F2EF"/>
                    </a:solidFill>
                  </a:tcPr>
                </a:tc>
                <a:tc>
                  <a:txBody>
                    <a:bodyPr/>
                    <a:lstStyle/>
                    <a:p>
                      <a:pPr indent="0" marL="0">
                        <a:buNone/>
                      </a:pPr>
                      <a:r>
                        <a:rPr lang="en-US" sz="1000" b="1" dirty="0">
                          <a:solidFill>
                            <a:srgbClr val="6B6862"/>
                          </a:solidFill>
                          <a:latin typeface="Calibri" pitchFamily="34" charset="0"/>
                          <a:ea typeface="Calibri" pitchFamily="34" charset="-122"/>
                          <a:cs typeface="Calibri" pitchFamily="34" charset="-120"/>
                        </a:rPr>
                        <a:t>ROLE</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solidFill>
                      <a:srgbClr val="F2F2EF"/>
                    </a:solidFill>
                  </a:tcPr>
                </a:tc>
              </a:tr>
              <a:tr h="457200">
                <a:tc>
                  <a:txBody>
                    <a:bodyPr/>
                    <a:lstStyle/>
                    <a:p>
                      <a:pPr indent="0" marL="0">
                        <a:buNone/>
                      </a:pPr>
                      <a:r>
                        <a:rPr lang="en-US" sz="1000" b="1" dirty="0">
                          <a:solidFill>
                            <a:srgbClr val="1B1A17"/>
                          </a:solidFill>
                          <a:latin typeface="Calibri" pitchFamily="34" charset="0"/>
                          <a:ea typeface="Calibri" pitchFamily="34" charset="-122"/>
                          <a:cs typeface="Calibri" pitchFamily="34" charset="-120"/>
                        </a:rPr>
                        <a:t>Linear (3 features)</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00" dirty="0">
                          <a:solidFill>
                            <a:srgbClr val="3B3934"/>
                          </a:solidFill>
                          <a:latin typeface="Calibri" pitchFamily="34" charset="0"/>
                          <a:ea typeface="Calibri" pitchFamily="34" charset="-122"/>
                          <a:cs typeface="Calibri" pitchFamily="34" charset="-120"/>
                        </a:rPr>
                        <a:t>ŷ = w₁·size + w₂·value + w₃·momentum</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00" dirty="0">
                          <a:solidFill>
                            <a:srgbClr val="3B3934"/>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00" b="1" dirty="0">
                          <a:solidFill>
                            <a:srgbClr val="2C3E8F"/>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00" dirty="0">
                          <a:solidFill>
                            <a:srgbClr val="3B3934"/>
                          </a:solidFill>
                          <a:latin typeface="Calibri" pitchFamily="34" charset="0"/>
                          <a:ea typeface="Calibri" pitchFamily="34" charset="-122"/>
                          <a:cs typeface="Calibri" pitchFamily="34" charset="-120"/>
                        </a:rPr>
                        <a:t>Honesty baseline — nothing beat it in the benchmark paper after multiple-testing correction</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r>
              <a:tr h="457200">
                <a:tc>
                  <a:txBody>
                    <a:bodyPr/>
                    <a:lstStyle/>
                    <a:p>
                      <a:pPr indent="0" marL="0">
                        <a:buNone/>
                      </a:pPr>
                      <a:r>
                        <a:rPr lang="en-US" sz="1000" b="1" dirty="0">
                          <a:solidFill>
                            <a:srgbClr val="1B1A17"/>
                          </a:solidFill>
                          <a:latin typeface="Calibri" pitchFamily="34" charset="0"/>
                          <a:ea typeface="Calibri" pitchFamily="34" charset="-122"/>
                          <a:cs typeface="Calibri" pitchFamily="34" charset="-120"/>
                        </a:rPr>
                        <a:t>Elastic Net</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00" dirty="0">
                          <a:solidFill>
                            <a:srgbClr val="3B3934"/>
                          </a:solidFill>
                          <a:latin typeface="Calibri" pitchFamily="34" charset="0"/>
                          <a:ea typeface="Calibri" pitchFamily="34" charset="-122"/>
                          <a:cs typeface="Calibri" pitchFamily="34" charset="-120"/>
                        </a:rPr>
                        <a:t>Linear + L1 (selects) + L2 (handles correlation), 50+ features</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00" dirty="0">
                          <a:solidFill>
                            <a:srgbClr val="3B3934"/>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00" b="1" dirty="0">
                          <a:solidFill>
                            <a:srgbClr val="3B3934"/>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00" dirty="0">
                          <a:solidFill>
                            <a:srgbClr val="3B3934"/>
                          </a:solidFill>
                          <a:latin typeface="Calibri" pitchFamily="34" charset="0"/>
                          <a:ea typeface="Calibri" pitchFamily="34" charset="-122"/>
                          <a:cs typeface="Calibri" pitchFamily="34" charset="-120"/>
                        </a:rPr>
                        <a:t>Isolates "more features" from "nonlinearity"</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r>
              <a:tr h="457200">
                <a:tc>
                  <a:txBody>
                    <a:bodyPr/>
                    <a:lstStyle/>
                    <a:p>
                      <a:pPr indent="0" marL="0">
                        <a:buNone/>
                      </a:pPr>
                      <a:r>
                        <a:rPr lang="en-US" sz="1000" b="1" dirty="0">
                          <a:solidFill>
                            <a:srgbClr val="1B1A17"/>
                          </a:solidFill>
                          <a:latin typeface="Calibri" pitchFamily="34" charset="0"/>
                          <a:ea typeface="Calibri" pitchFamily="34" charset="-122"/>
                          <a:cs typeface="Calibri" pitchFamily="34" charset="-120"/>
                        </a:rPr>
                        <a:t>Gradient boosting (LightGBM)</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00" dirty="0">
                          <a:solidFill>
                            <a:srgbClr val="3B3934"/>
                          </a:solidFill>
                          <a:latin typeface="Calibri" pitchFamily="34" charset="0"/>
                          <a:ea typeface="Calibri" pitchFamily="34" charset="-122"/>
                          <a:cs typeface="Calibri" pitchFamily="34" charset="-120"/>
                        </a:rPr>
                        <a:t>200 shallow trees, each fit to the previous ensemble's errors</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00" dirty="0">
                          <a:solidFill>
                            <a:srgbClr val="3B3934"/>
                          </a:solidFill>
                          <a:latin typeface="Calibri" pitchFamily="34" charset="0"/>
                          <a:ea typeface="Calibri" pitchFamily="34" charset="-122"/>
                          <a:cs typeface="Calibri" pitchFamily="34" charset="-120"/>
                        </a:rPr>
                        <a:t>Yes — automatic</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00" b="1" dirty="0">
                          <a:solidFill>
                            <a:srgbClr val="B5541F"/>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00" dirty="0">
                          <a:solidFill>
                            <a:srgbClr val="3B3934"/>
                          </a:solidFill>
                          <a:latin typeface="Calibri" pitchFamily="34" charset="0"/>
                          <a:ea typeface="Calibri" pitchFamily="34" charset="-122"/>
                          <a:cs typeface="Calibri" pitchFamily="34" charset="-120"/>
                        </a:rPr>
                        <a:t>Workhorse; expected winner at small capital</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r>
              <a:tr h="457200">
                <a:tc>
                  <a:txBody>
                    <a:bodyPr/>
                    <a:lstStyle/>
                    <a:p>
                      <a:pPr indent="0" marL="0">
                        <a:buNone/>
                      </a:pPr>
                      <a:r>
                        <a:rPr lang="en-US" sz="1000" b="1" dirty="0">
                          <a:solidFill>
                            <a:srgbClr val="1B1A17"/>
                          </a:solidFill>
                          <a:latin typeface="Calibri" pitchFamily="34" charset="0"/>
                          <a:ea typeface="Calibri" pitchFamily="34" charset="-122"/>
                          <a:cs typeface="Calibri" pitchFamily="34" charset="-120"/>
                        </a:rPr>
                        <a:t>Shallow neural net</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00" dirty="0">
                          <a:solidFill>
                            <a:srgbClr val="3B3934"/>
                          </a:solidFill>
                          <a:latin typeface="Calibri" pitchFamily="34" charset="0"/>
                          <a:ea typeface="Calibri" pitchFamily="34" charset="-122"/>
                          <a:cs typeface="Calibri" pitchFamily="34" charset="-120"/>
                        </a:rPr>
                        <a:t>2–3 hidden layers, ReLU, early stopping, seed ensemble</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00" dirty="0">
                          <a:solidFill>
                            <a:srgbClr val="3B3934"/>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00" b="1" dirty="0">
                          <a:solidFill>
                            <a:srgbClr val="B5541F"/>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00" dirty="0">
                          <a:solidFill>
                            <a:srgbClr val="3B3934"/>
                          </a:solidFill>
                          <a:latin typeface="Calibri" pitchFamily="34" charset="0"/>
                          <a:ea typeface="Calibri" pitchFamily="34" charset="-122"/>
                          <a:cs typeface="Calibri" pitchFamily="34" charset="-120"/>
                        </a:rPr>
                        <a:t>Comparability with the benchmark literature</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r>
              <a:tr h="457200">
                <a:tc>
                  <a:txBody>
                    <a:bodyPr/>
                    <a:lstStyle/>
                    <a:p>
                      <a:pPr indent="0" marL="0">
                        <a:buNone/>
                      </a:pPr>
                      <a:r>
                        <a:rPr lang="en-US" sz="1000" b="1" dirty="0">
                          <a:solidFill>
                            <a:srgbClr val="1B1A17"/>
                          </a:solidFill>
                          <a:latin typeface="Calibri" pitchFamily="34" charset="0"/>
                          <a:ea typeface="Calibri" pitchFamily="34" charset="-122"/>
                          <a:cs typeface="Calibri" pitchFamily="34" charset="-120"/>
                        </a:rPr>
                        <a:t>Slow composite</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00" dirty="0">
                          <a:solidFill>
                            <a:srgbClr val="3B3934"/>
                          </a:solidFill>
                          <a:latin typeface="Calibri" pitchFamily="34" charset="0"/>
                          <a:ea typeface="Calibri" pitchFamily="34" charset="-122"/>
                          <a:cs typeface="Calibri" pitchFamily="34" charset="-120"/>
                        </a:rPr>
                        <a:t>Value + quality + size, equal-weighted, rebalanced quarterly</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00" dirty="0">
                          <a:solidFill>
                            <a:srgbClr val="3B3934"/>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00" b="1" dirty="0">
                          <a:solidFill>
                            <a:srgbClr val="2C3E8F"/>
                          </a:solidFill>
                          <a:latin typeface="Calibri" pitchFamily="34" charset="0"/>
                          <a:ea typeface="Calibri" pitchFamily="34" charset="-122"/>
                          <a:cs typeface="Calibri" pitchFamily="34" charset="-120"/>
                        </a:rPr>
                        <a:t>Very low</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00" dirty="0">
                          <a:solidFill>
                            <a:srgbClr val="3B3934"/>
                          </a:solidFill>
                          <a:latin typeface="Calibri" pitchFamily="34" charset="0"/>
                          <a:ea typeface="Calibri" pitchFamily="34" charset="-122"/>
                          <a:cs typeface="Calibri" pitchFamily="34" charset="-120"/>
                        </a:rPr>
                        <a:t>Experimental control; expected winner at large capital</a:t>
                      </a:r>
                      <a:endParaRPr lang="en-US" sz="1000" dirty="0">
                        <a:latin typeface="Calibri" charset="0"/>
                        <a:ea typeface="Calibri" charset="0"/>
                        <a:cs typeface="Calibri" charset="0"/>
                      </a:endParaRPr>
                    </a:p>
                  </a:txBody>
                  <a:tcPr marL="45720" marR="45720" marT="45720" marB="45720"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r>
            </a:tbl>
          </a:graphicData>
        </a:graphic>
      </p:graphicFrame>
      <p:sp>
        <p:nvSpPr>
          <p:cNvPr id="6" name="Text 3"/>
          <p:cNvSpPr txBox="1"/>
          <p:nvPr/>
        </p:nvSpPr>
        <p:spPr>
          <a:xfrm>
            <a:off x="457200" y="4407408"/>
            <a:ext cx="8229600" cy="365760"/>
          </a:xfrm>
          <a:prstGeom prst="rect">
            <a:avLst/>
          </a:prstGeom>
          <a:noFill/>
          <a:ln/>
        </p:spPr>
        <p:txBody>
          <a:bodyPr wrap="square" lIns="0" tIns="0" rIns="0" bIns="0" rtlCol="0" anchor="ctr"/>
          <a:lstStyle/>
          <a:p>
            <a:pPr indent="0" marL="0">
              <a:buNone/>
            </a:pPr>
            <a:r>
              <a:rPr lang="en-US" sz="1150" dirty="0">
                <a:solidFill>
                  <a:srgbClr val="3B3934"/>
                </a:solidFill>
                <a:latin typeface="Calibri" pitchFamily="34" charset="0"/>
                <a:ea typeface="Calibri" pitchFamily="34" charset="-122"/>
                <a:cs typeface="Calibri" pitchFamily="34" charset="-120"/>
              </a:rPr>
              <a:t>The novelty isn't the models — every one is in our syllabus. It's the turnover column: </a:t>
            </a:r>
            <a:pPr indent="0" marL="0">
              <a:buNone/>
            </a:pPr>
            <a:r>
              <a:rPr lang="en-US" sz="1150" b="1" dirty="0">
                <a:solidFill>
                  <a:srgbClr val="1B1A17"/>
                </a:solidFill>
                <a:latin typeface="Calibri" pitchFamily="34" charset="0"/>
                <a:ea typeface="Calibri" pitchFamily="34" charset="-122"/>
                <a:cs typeface="Calibri" pitchFamily="34" charset="-120"/>
              </a:rPr>
              <a:t>a property no ML course teaches you to measure, because everywhere else it costs nothing.</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6400800" cy="219456"/>
          </a:xfrm>
          <a:prstGeom prst="rect">
            <a:avLst/>
          </a:prstGeom>
          <a:noFill/>
          <a:ln/>
        </p:spPr>
        <p:txBody>
          <a:bodyPr wrap="square" lIns="0" tIns="0" rIns="0" bIns="0" rtlCol="0" anchor="ctr"/>
          <a:lstStyle/>
          <a:p>
            <a:pPr indent="0" marL="0">
              <a:buNone/>
            </a:pPr>
            <a:r>
              <a:rPr lang="en-US" sz="900" b="1" spc="200" kern="0" dirty="0">
                <a:solidFill>
                  <a:srgbClr val="6B6862"/>
                </a:solidFill>
                <a:latin typeface="Calibri" pitchFamily="34" charset="0"/>
                <a:ea typeface="Calibri" pitchFamily="34" charset="-122"/>
                <a:cs typeface="Calibri" pitchFamily="34" charset="-120"/>
              </a:rPr>
              <a:t>THE MODELS</a:t>
            </a:r>
            <a:endParaRPr lang="en-US" sz="900" dirty="0"/>
          </a:p>
        </p:txBody>
      </p:sp>
      <p:sp>
        <p:nvSpPr>
          <p:cNvPr id="3" name="Text 1"/>
          <p:cNvSpPr txBox="1"/>
          <p:nvPr/>
        </p:nvSpPr>
        <p:spPr>
          <a:xfrm>
            <a:off x="457200" y="566928"/>
            <a:ext cx="8229600" cy="777240"/>
          </a:xfrm>
          <a:prstGeom prst="rect">
            <a:avLst/>
          </a:prstGeom>
          <a:noFill/>
          <a:ln/>
        </p:spPr>
        <p:txBody>
          <a:bodyPr wrap="square" lIns="0" tIns="0" rIns="0" bIns="0" rtlCol="0" anchor="t"/>
          <a:lstStyle/>
          <a:p>
            <a:pPr indent="0" marL="0">
              <a:buNone/>
            </a:pPr>
            <a:r>
              <a:rPr lang="en-US" sz="2800" b="1" dirty="0">
                <a:solidFill>
                  <a:srgbClr val="1B1A17"/>
                </a:solidFill>
                <a:latin typeface="Cambria" pitchFamily="34" charset="0"/>
                <a:ea typeface="Cambria" pitchFamily="34" charset="-122"/>
                <a:cs typeface="Cambria" pitchFamily="34" charset="-120"/>
              </a:rPr>
              <a:t>Why shallow, not deep</a:t>
            </a:r>
            <a:endParaRPr lang="en-US" sz="2800" dirty="0"/>
          </a:p>
        </p:txBody>
      </p:sp>
      <p:sp>
        <p:nvSpPr>
          <p:cNvPr id="4" name="Text 2"/>
          <p:cNvSpPr txBox="1"/>
          <p:nvPr/>
        </p:nvSpPr>
        <p:spPr>
          <a:xfrm>
            <a:off x="7772400" y="4773168"/>
            <a:ext cx="914400" cy="201168"/>
          </a:xfrm>
          <a:prstGeom prst="rect">
            <a:avLst/>
          </a:prstGeom>
          <a:noFill/>
          <a:ln/>
        </p:spPr>
        <p:txBody>
          <a:bodyPr wrap="square" lIns="0" tIns="0" rIns="0" bIns="0" rtlCol="0" anchor="ctr"/>
          <a:lstStyle/>
          <a:p>
            <a:pPr algn="r" indent="0" marL="0">
              <a:buNone/>
            </a:pPr>
            <a:r>
              <a:rPr lang="en-US" sz="800" dirty="0">
                <a:solidFill>
                  <a:srgbClr val="A09C94"/>
                </a:solidFill>
                <a:latin typeface="Courier New" pitchFamily="34" charset="0"/>
                <a:ea typeface="Courier New" pitchFamily="34" charset="-122"/>
                <a:cs typeface="Courier New" pitchFamily="34" charset="-120"/>
              </a:rPr>
              <a:t>08 / 12</a:t>
            </a:r>
            <a:endParaRPr lang="en-US" sz="800" dirty="0"/>
          </a:p>
        </p:txBody>
      </p:sp>
      <p:graphicFrame>
        <p:nvGraphicFramePr>
          <p:cNvPr id="5" name="Chart 0" descr=""/>
          <p:cNvGraphicFramePr/>
          <p:nvPr/>
        </p:nvGraphicFramePr>
        <p:xfrm>
          <a:off x="457200" y="1417320"/>
          <a:ext cx="4114800" cy="29260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457200" y="4370832"/>
            <a:ext cx="4114800" cy="274320"/>
          </a:xfrm>
          <a:prstGeom prst="rect">
            <a:avLst/>
          </a:prstGeom>
          <a:noFill/>
          <a:ln/>
        </p:spPr>
        <p:txBody>
          <a:bodyPr wrap="square" lIns="0" tIns="0" rIns="0" bIns="0" rtlCol="0" anchor="ctr"/>
          <a:lstStyle/>
          <a:p>
            <a:pPr indent="0" marL="0">
              <a:buNone/>
            </a:pPr>
            <a:r>
              <a:rPr lang="en-US" sz="950" i="1" dirty="0">
                <a:solidFill>
                  <a:srgbClr val="6B6862"/>
                </a:solidFill>
                <a:latin typeface="Calibri" pitchFamily="34" charset="0"/>
                <a:ea typeface="Calibri" pitchFamily="34" charset="-122"/>
                <a:cs typeface="Calibri" pitchFamily="34" charset="-120"/>
              </a:rPr>
              <a:t>Gu, Kelly &amp; Xiu (2020), Review of Financial Studies — 30,000 US stocks, 1957–2016</a:t>
            </a:r>
            <a:endParaRPr lang="en-US" sz="950" dirty="0"/>
          </a:p>
        </p:txBody>
      </p:sp>
      <p:sp>
        <p:nvSpPr>
          <p:cNvPr id="7" name="Text 4"/>
          <p:cNvSpPr txBox="1"/>
          <p:nvPr/>
        </p:nvSpPr>
        <p:spPr>
          <a:xfrm>
            <a:off x="4846320" y="1417320"/>
            <a:ext cx="3840480" cy="3200400"/>
          </a:xfrm>
          <a:prstGeom prst="rect">
            <a:avLst/>
          </a:prstGeom>
          <a:noFill/>
          <a:ln/>
        </p:spPr>
        <p:txBody>
          <a:bodyPr wrap="square" lIns="0" tIns="0" rIns="0" bIns="0" rtlCol="0" anchor="t"/>
          <a:lstStyle/>
          <a:p>
            <a:pPr indent="0" marL="0">
              <a:spcAft>
                <a:spcPts val="800"/>
              </a:spcAft>
              <a:buNone/>
            </a:pPr>
            <a:r>
              <a:rPr lang="en-US" sz="1200" b="1" dirty="0">
                <a:solidFill>
                  <a:srgbClr val="1B1A17"/>
                </a:solidFill>
                <a:latin typeface="Calibri" pitchFamily="34" charset="0"/>
                <a:ea typeface="Calibri" pitchFamily="34" charset="-122"/>
                <a:cs typeface="Calibri" pitchFamily="34" charset="-120"/>
              </a:rPr>
              <a:t>The benchmark paper tested depth directly.</a:t>
            </a:r>
            <a:endParaRPr lang="en-US" sz="1200" dirty="0"/>
          </a:p>
          <a:p>
            <a:pPr marL="342900" indent="-342900">
              <a:spcAft>
                <a:spcPts val="600"/>
              </a:spcAft>
              <a:buSzPct val="100000"/>
              <a:buChar char="•"/>
            </a:pPr>
            <a:r>
              <a:rPr lang="en-US" sz="1200" dirty="0">
                <a:solidFill>
                  <a:srgbClr val="3B3934"/>
                </a:solidFill>
                <a:latin typeface="Calibri" pitchFamily="34" charset="0"/>
                <a:ea typeface="Calibri" pitchFamily="34" charset="-122"/>
                <a:cs typeface="Calibri" pitchFamily="34" charset="-120"/>
              </a:rPr>
              <a:t>Performance rose to three layers, then fell. Four and five layers did worse.</a:t>
            </a:r>
            <a:endParaRPr lang="en-US" sz="1200" dirty="0"/>
          </a:p>
          <a:p>
            <a:pPr marL="342900" indent="-342900">
              <a:spcAft>
                <a:spcPts val="600"/>
              </a:spcAft>
              <a:buSzPct val="100000"/>
              <a:buChar char="•"/>
            </a:pPr>
            <a:r>
              <a:rPr lang="en-US" sz="1200" dirty="0">
                <a:solidFill>
                  <a:srgbClr val="3B3934"/>
                </a:solidFill>
                <a:latin typeface="Calibri" pitchFamily="34" charset="0"/>
                <a:ea typeface="Calibri" pitchFamily="34" charset="-122"/>
                <a:cs typeface="Calibri" pitchFamily="34" charset="-120"/>
              </a:rPr>
              <a:t>Why: image recognition has millions of examples and a strong signal. We have ~180 monthly snapshots and a prediction–outcome correlation of about 0.04. Extra capacity memorises noise.</a:t>
            </a:r>
            <a:endParaRPr lang="en-US" sz="1200" dirty="0"/>
          </a:p>
          <a:p>
            <a:pPr marL="342900" indent="-342900">
              <a:spcAft>
                <a:spcPts val="600"/>
              </a:spcAft>
              <a:buSzPct val="100000"/>
              <a:buChar char="•"/>
            </a:pPr>
            <a:r>
              <a:rPr lang="en-US" sz="1200" dirty="0">
                <a:solidFill>
                  <a:srgbClr val="3B3934"/>
                </a:solidFill>
                <a:latin typeface="Calibri" pitchFamily="34" charset="0"/>
                <a:ea typeface="Calibri" pitchFamily="34" charset="-122"/>
                <a:cs typeface="Calibri" pitchFamily="34" charset="-120"/>
              </a:rPr>
              <a:t>No transformers, no LSTMs: this is a ranking task on a table — 500 stocks compared each month. There is no sequence to model.</a:t>
            </a:r>
            <a:endParaRPr lang="en-US" sz="1200" dirty="0"/>
          </a:p>
          <a:p>
            <a:pPr marL="342900" indent="-342900">
              <a:buSzPct val="100000"/>
              <a:buChar char="•"/>
            </a:pPr>
            <a:r>
              <a:rPr lang="en-US" sz="1200" dirty="0">
                <a:solidFill>
                  <a:srgbClr val="3B3934"/>
                </a:solidFill>
                <a:latin typeface="Calibri" pitchFamily="34" charset="0"/>
                <a:ea typeface="Calibri" pitchFamily="34" charset="-122"/>
                <a:cs typeface="Calibri" pitchFamily="34" charset="-120"/>
              </a:rPr>
              <a:t>Gradient boosting fits the problem: sequential error correction, interactions found automatically, no feature scaling needed. Its one cost is high turnover — which is exactly what we measure.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6400800" cy="219456"/>
          </a:xfrm>
          <a:prstGeom prst="rect">
            <a:avLst/>
          </a:prstGeom>
          <a:noFill/>
          <a:ln/>
        </p:spPr>
        <p:txBody>
          <a:bodyPr wrap="square" lIns="0" tIns="0" rIns="0" bIns="0" rtlCol="0" anchor="ctr"/>
          <a:lstStyle/>
          <a:p>
            <a:pPr indent="0" marL="0">
              <a:buNone/>
            </a:pPr>
            <a:r>
              <a:rPr lang="en-US" sz="900" b="1" spc="200" kern="0" dirty="0">
                <a:solidFill>
                  <a:srgbClr val="6B6862"/>
                </a:solidFill>
                <a:latin typeface="Calibri" pitchFamily="34" charset="0"/>
                <a:ea typeface="Calibri" pitchFamily="34" charset="-122"/>
                <a:cs typeface="Calibri" pitchFamily="34" charset="-120"/>
              </a:rPr>
              <a:t>THE DATA</a:t>
            </a:r>
            <a:endParaRPr lang="en-US" sz="900" dirty="0"/>
          </a:p>
        </p:txBody>
      </p:sp>
      <p:sp>
        <p:nvSpPr>
          <p:cNvPr id="3" name="Text 1"/>
          <p:cNvSpPr txBox="1"/>
          <p:nvPr/>
        </p:nvSpPr>
        <p:spPr>
          <a:xfrm>
            <a:off x="457200" y="566928"/>
            <a:ext cx="8229600" cy="777240"/>
          </a:xfrm>
          <a:prstGeom prst="rect">
            <a:avLst/>
          </a:prstGeom>
          <a:noFill/>
          <a:ln/>
        </p:spPr>
        <p:txBody>
          <a:bodyPr wrap="square" lIns="0" tIns="0" rIns="0" bIns="0" rtlCol="0" anchor="t"/>
          <a:lstStyle/>
          <a:p>
            <a:pPr indent="0" marL="0">
              <a:buNone/>
            </a:pPr>
            <a:r>
              <a:rPr lang="en-US" sz="2800" b="1" dirty="0">
                <a:solidFill>
                  <a:srgbClr val="1B1A17"/>
                </a:solidFill>
                <a:latin typeface="Cambria" pitchFamily="34" charset="0"/>
                <a:ea typeface="Cambria" pitchFamily="34" charset="-122"/>
                <a:cs typeface="Cambria" pitchFamily="34" charset="-120"/>
              </a:rPr>
              <a:t>What the model sees</a:t>
            </a:r>
            <a:endParaRPr lang="en-US" sz="2800" dirty="0"/>
          </a:p>
        </p:txBody>
      </p:sp>
      <p:sp>
        <p:nvSpPr>
          <p:cNvPr id="4" name="Text 2"/>
          <p:cNvSpPr txBox="1"/>
          <p:nvPr/>
        </p:nvSpPr>
        <p:spPr>
          <a:xfrm>
            <a:off x="7772400" y="4773168"/>
            <a:ext cx="914400" cy="201168"/>
          </a:xfrm>
          <a:prstGeom prst="rect">
            <a:avLst/>
          </a:prstGeom>
          <a:noFill/>
          <a:ln/>
        </p:spPr>
        <p:txBody>
          <a:bodyPr wrap="square" lIns="0" tIns="0" rIns="0" bIns="0" rtlCol="0" anchor="ctr"/>
          <a:lstStyle/>
          <a:p>
            <a:pPr algn="r" indent="0" marL="0">
              <a:buNone/>
            </a:pPr>
            <a:r>
              <a:rPr lang="en-US" sz="800" dirty="0">
                <a:solidFill>
                  <a:srgbClr val="A09C94"/>
                </a:solidFill>
                <a:latin typeface="Courier New" pitchFamily="34" charset="0"/>
                <a:ea typeface="Courier New" pitchFamily="34" charset="-122"/>
                <a:cs typeface="Courier New" pitchFamily="34" charset="-120"/>
              </a:rPr>
              <a:t>09 / 12</a:t>
            </a:r>
            <a:endParaRPr lang="en-US" sz="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280160"/>
                <a:gridCol w="2834640"/>
                <a:gridCol w="2651760"/>
                <a:gridCol w="1463040"/>
              </a:tblGrid>
              <a:tr h="292608">
                <a:tc>
                  <a:txBody>
                    <a:bodyPr/>
                    <a:lstStyle/>
                    <a:p>
                      <a:pPr indent="0" marL="0">
                        <a:buNone/>
                      </a:pPr>
                      <a:r>
                        <a:rPr lang="en-US" sz="1000" b="1" dirty="0">
                          <a:solidFill>
                            <a:srgbClr val="6B6862"/>
                          </a:solidFill>
                          <a:latin typeface="Calibri" pitchFamily="34" charset="0"/>
                          <a:ea typeface="Calibri" pitchFamily="34" charset="-122"/>
                          <a:cs typeface="Calibri" pitchFamily="34" charset="-120"/>
                        </a:rPr>
                        <a:t>FAMILY</a:t>
                      </a:r>
                      <a:endParaRPr lang="en-US" sz="1000" dirty="0">
                        <a:latin typeface="Calibri" charset="0"/>
                        <a:ea typeface="Calibri" charset="0"/>
                        <a:cs typeface="Calibri" charset="0"/>
                      </a:endParaRPr>
                    </a:p>
                  </a:txBody>
                  <a:tcPr marL="54864" marR="54864" marT="54864" marB="54864"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solidFill>
                      <a:srgbClr val="F2F2EF"/>
                    </a:solidFill>
                  </a:tcPr>
                </a:tc>
                <a:tc>
                  <a:txBody>
                    <a:bodyPr/>
                    <a:lstStyle/>
                    <a:p>
                      <a:pPr indent="0" marL="0">
                        <a:buNone/>
                      </a:pPr>
                      <a:r>
                        <a:rPr lang="en-US" sz="1000" b="1" dirty="0">
                          <a:solidFill>
                            <a:srgbClr val="6B6862"/>
                          </a:solidFill>
                          <a:latin typeface="Calibri" pitchFamily="34" charset="0"/>
                          <a:ea typeface="Calibri" pitchFamily="34" charset="-122"/>
                          <a:cs typeface="Calibri" pitchFamily="34" charset="-120"/>
                        </a:rPr>
                        <a:t>EXAMPLES</a:t>
                      </a:r>
                      <a:endParaRPr lang="en-US" sz="1000" dirty="0">
                        <a:latin typeface="Calibri" charset="0"/>
                        <a:ea typeface="Calibri" charset="0"/>
                        <a:cs typeface="Calibri" charset="0"/>
                      </a:endParaRPr>
                    </a:p>
                  </a:txBody>
                  <a:tcPr marL="54864" marR="54864" marT="54864" marB="54864"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solidFill>
                      <a:srgbClr val="F2F2EF"/>
                    </a:solidFill>
                  </a:tcPr>
                </a:tc>
                <a:tc>
                  <a:txBody>
                    <a:bodyPr/>
                    <a:lstStyle/>
                    <a:p>
                      <a:pPr indent="0" marL="0">
                        <a:buNone/>
                      </a:pPr>
                      <a:r>
                        <a:rPr lang="en-US" sz="1000" b="1" dirty="0">
                          <a:solidFill>
                            <a:srgbClr val="6B6862"/>
                          </a:solidFill>
                          <a:latin typeface="Calibri" pitchFamily="34" charset="0"/>
                          <a:ea typeface="Calibri" pitchFamily="34" charset="-122"/>
                          <a:cs typeface="Calibri" pitchFamily="34" charset="-120"/>
                        </a:rPr>
                        <a:t>PLAIN MEANING</a:t>
                      </a:r>
                      <a:endParaRPr lang="en-US" sz="1000" dirty="0">
                        <a:latin typeface="Calibri" charset="0"/>
                        <a:ea typeface="Calibri" charset="0"/>
                        <a:cs typeface="Calibri" charset="0"/>
                      </a:endParaRPr>
                    </a:p>
                  </a:txBody>
                  <a:tcPr marL="54864" marR="54864" marT="54864" marB="54864"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solidFill>
                      <a:srgbClr val="F2F2EF"/>
                    </a:solidFill>
                  </a:tcPr>
                </a:tc>
                <a:tc>
                  <a:txBody>
                    <a:bodyPr/>
                    <a:lstStyle/>
                    <a:p>
                      <a:pPr indent="0" marL="0">
                        <a:buNone/>
                      </a:pPr>
                      <a:r>
                        <a:rPr lang="en-US" sz="1000" b="1" dirty="0">
                          <a:solidFill>
                            <a:srgbClr val="6B6862"/>
                          </a:solidFill>
                          <a:latin typeface="Calibri" pitchFamily="34" charset="0"/>
                          <a:ea typeface="Calibri" pitchFamily="34" charset="-122"/>
                          <a:cs typeface="Calibri" pitchFamily="34" charset="-120"/>
                        </a:rPr>
                        <a:t>DECAY SPEED</a:t>
                      </a:r>
                      <a:endParaRPr lang="en-US" sz="1000" dirty="0">
                        <a:latin typeface="Calibri" charset="0"/>
                        <a:ea typeface="Calibri" charset="0"/>
                        <a:cs typeface="Calibri" charset="0"/>
                      </a:endParaRPr>
                    </a:p>
                  </a:txBody>
                  <a:tcPr marL="54864" marR="54864" marT="54864" marB="54864"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solidFill>
                      <a:srgbClr val="F2F2EF"/>
                    </a:solidFill>
                  </a:tcPr>
                </a:tc>
              </a:tr>
              <a:tr h="384048">
                <a:tc>
                  <a:txBody>
                    <a:bodyPr/>
                    <a:lstStyle/>
                    <a:p>
                      <a:pPr indent="0" marL="0">
                        <a:buNone/>
                      </a:pPr>
                      <a:r>
                        <a:rPr lang="en-US" sz="1050" b="1" dirty="0">
                          <a:solidFill>
                            <a:srgbClr val="1B1A17"/>
                          </a:solidFill>
                          <a:latin typeface="Calibri" pitchFamily="34" charset="0"/>
                          <a:ea typeface="Calibri" pitchFamily="34" charset="-122"/>
                          <a:cs typeface="Calibri" pitchFamily="34" charset="-120"/>
                        </a:rPr>
                        <a:t>Price trend</a:t>
                      </a:r>
                      <a:endParaRPr lang="en-US" sz="1050" dirty="0">
                        <a:latin typeface="Calibri" charset="0"/>
                        <a:ea typeface="Calibri" charset="0"/>
                        <a:cs typeface="Calibri" charset="0"/>
                      </a:endParaRPr>
                    </a:p>
                  </a:txBody>
                  <a:tcPr marL="54864" marR="54864" marT="54864" marB="54864"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50" dirty="0">
                          <a:solidFill>
                            <a:srgbClr val="3B3934"/>
                          </a:solidFill>
                          <a:latin typeface="Calibri" pitchFamily="34" charset="0"/>
                          <a:ea typeface="Calibri" pitchFamily="34" charset="-122"/>
                          <a:cs typeface="Calibri" pitchFamily="34" charset="-120"/>
                        </a:rPr>
                        <a:t>12-month momentum, 1-month reversal, volatility</a:t>
                      </a:r>
                      <a:endParaRPr lang="en-US" sz="1050" dirty="0">
                        <a:latin typeface="Calibri" charset="0"/>
                        <a:ea typeface="Calibri" charset="0"/>
                        <a:cs typeface="Calibri" charset="0"/>
                      </a:endParaRPr>
                    </a:p>
                  </a:txBody>
                  <a:tcPr marL="54864" marR="54864" marT="54864" marB="54864"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50" dirty="0">
                          <a:solidFill>
                            <a:srgbClr val="3B3934"/>
                          </a:solidFill>
                          <a:latin typeface="Calibri" pitchFamily="34" charset="0"/>
                          <a:ea typeface="Calibri" pitchFamily="34" charset="-122"/>
                          <a:cs typeface="Calibri" pitchFamily="34" charset="-120"/>
                        </a:rPr>
                        <a:t>Has it been going up? Is it jumpy?</a:t>
                      </a:r>
                      <a:endParaRPr lang="en-US" sz="1050" dirty="0">
                        <a:latin typeface="Calibri" charset="0"/>
                        <a:ea typeface="Calibri" charset="0"/>
                        <a:cs typeface="Calibri" charset="0"/>
                      </a:endParaRPr>
                    </a:p>
                  </a:txBody>
                  <a:tcPr marL="54864" marR="54864" marT="54864" marB="54864"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50" b="1" dirty="0">
                          <a:solidFill>
                            <a:srgbClr val="B5541F"/>
                          </a:solidFill>
                          <a:latin typeface="Calibri" pitchFamily="34" charset="0"/>
                          <a:ea typeface="Calibri" pitchFamily="34" charset="-122"/>
                          <a:cs typeface="Calibri" pitchFamily="34" charset="-120"/>
                        </a:rPr>
                        <a:t>Fast (weeks)</a:t>
                      </a:r>
                      <a:endParaRPr lang="en-US" sz="1050" dirty="0">
                        <a:latin typeface="Calibri" charset="0"/>
                        <a:ea typeface="Calibri" charset="0"/>
                        <a:cs typeface="Calibri" charset="0"/>
                      </a:endParaRPr>
                    </a:p>
                  </a:txBody>
                  <a:tcPr marL="54864" marR="54864" marT="54864" marB="54864"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r>
              <a:tr h="384048">
                <a:tc>
                  <a:txBody>
                    <a:bodyPr/>
                    <a:lstStyle/>
                    <a:p>
                      <a:pPr indent="0" marL="0">
                        <a:buNone/>
                      </a:pPr>
                      <a:r>
                        <a:rPr lang="en-US" sz="1050" b="1" dirty="0">
                          <a:solidFill>
                            <a:srgbClr val="1B1A17"/>
                          </a:solidFill>
                          <a:latin typeface="Calibri" pitchFamily="34" charset="0"/>
                          <a:ea typeface="Calibri" pitchFamily="34" charset="-122"/>
                          <a:cs typeface="Calibri" pitchFamily="34" charset="-120"/>
                        </a:rPr>
                        <a:t>Liquidity</a:t>
                      </a:r>
                      <a:endParaRPr lang="en-US" sz="1050" dirty="0">
                        <a:latin typeface="Calibri" charset="0"/>
                        <a:ea typeface="Calibri" charset="0"/>
                        <a:cs typeface="Calibri" charset="0"/>
                      </a:endParaRPr>
                    </a:p>
                  </a:txBody>
                  <a:tcPr marL="54864" marR="54864" marT="54864" marB="54864"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50" dirty="0">
                          <a:solidFill>
                            <a:srgbClr val="3B3934"/>
                          </a:solidFill>
                          <a:latin typeface="Calibri" pitchFamily="34" charset="0"/>
                          <a:ea typeface="Calibri" pitchFamily="34" charset="-122"/>
                          <a:cs typeface="Calibri" pitchFamily="34" charset="-120"/>
                        </a:rPr>
                        <a:t>Turnover, rupee volume, bid-ask spread</a:t>
                      </a:r>
                      <a:endParaRPr lang="en-US" sz="1050" dirty="0">
                        <a:latin typeface="Calibri" charset="0"/>
                        <a:ea typeface="Calibri" charset="0"/>
                        <a:cs typeface="Calibri" charset="0"/>
                      </a:endParaRPr>
                    </a:p>
                  </a:txBody>
                  <a:tcPr marL="54864" marR="54864" marT="54864" marB="54864"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50" dirty="0">
                          <a:solidFill>
                            <a:srgbClr val="3B3934"/>
                          </a:solidFill>
                          <a:latin typeface="Calibri" pitchFamily="34" charset="0"/>
                          <a:ea typeface="Calibri" pitchFamily="34" charset="-122"/>
                          <a:cs typeface="Calibri" pitchFamily="34" charset="-120"/>
                        </a:rPr>
                        <a:t>How easy is it to trade?</a:t>
                      </a:r>
                      <a:endParaRPr lang="en-US" sz="1050" dirty="0">
                        <a:latin typeface="Calibri" charset="0"/>
                        <a:ea typeface="Calibri" charset="0"/>
                        <a:cs typeface="Calibri" charset="0"/>
                      </a:endParaRPr>
                    </a:p>
                  </a:txBody>
                  <a:tcPr marL="54864" marR="54864" marT="54864" marB="54864"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50" b="1" dirty="0">
                          <a:solidFill>
                            <a:srgbClr val="B5541F"/>
                          </a:solidFill>
                          <a:latin typeface="Calibri" pitchFamily="34" charset="0"/>
                          <a:ea typeface="Calibri" pitchFamily="34" charset="-122"/>
                          <a:cs typeface="Calibri" pitchFamily="34" charset="-120"/>
                        </a:rPr>
                        <a:t>Fast</a:t>
                      </a:r>
                      <a:endParaRPr lang="en-US" sz="1050" dirty="0">
                        <a:latin typeface="Calibri" charset="0"/>
                        <a:ea typeface="Calibri" charset="0"/>
                        <a:cs typeface="Calibri" charset="0"/>
                      </a:endParaRPr>
                    </a:p>
                  </a:txBody>
                  <a:tcPr marL="54864" marR="54864" marT="54864" marB="54864"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r>
              <a:tr h="384048">
                <a:tc>
                  <a:txBody>
                    <a:bodyPr/>
                    <a:lstStyle/>
                    <a:p>
                      <a:pPr indent="0" marL="0">
                        <a:buNone/>
                      </a:pPr>
                      <a:r>
                        <a:rPr lang="en-US" sz="1050" b="1" dirty="0">
                          <a:solidFill>
                            <a:srgbClr val="1B1A17"/>
                          </a:solidFill>
                          <a:latin typeface="Calibri" pitchFamily="34" charset="0"/>
                          <a:ea typeface="Calibri" pitchFamily="34" charset="-122"/>
                          <a:cs typeface="Calibri" pitchFamily="34" charset="-120"/>
                        </a:rPr>
                        <a:t>Size</a:t>
                      </a:r>
                      <a:endParaRPr lang="en-US" sz="1050" dirty="0">
                        <a:latin typeface="Calibri" charset="0"/>
                        <a:ea typeface="Calibri" charset="0"/>
                        <a:cs typeface="Calibri" charset="0"/>
                      </a:endParaRPr>
                    </a:p>
                  </a:txBody>
                  <a:tcPr marL="54864" marR="54864" marT="54864" marB="54864"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50" dirty="0">
                          <a:solidFill>
                            <a:srgbClr val="3B3934"/>
                          </a:solidFill>
                          <a:latin typeface="Calibri" pitchFamily="34" charset="0"/>
                          <a:ea typeface="Calibri" pitchFamily="34" charset="-122"/>
                          <a:cs typeface="Calibri" pitchFamily="34" charset="-120"/>
                        </a:rPr>
                        <a:t>Log market capitalisation</a:t>
                      </a:r>
                      <a:endParaRPr lang="en-US" sz="1050" dirty="0">
                        <a:latin typeface="Calibri" charset="0"/>
                        <a:ea typeface="Calibri" charset="0"/>
                        <a:cs typeface="Calibri" charset="0"/>
                      </a:endParaRPr>
                    </a:p>
                  </a:txBody>
                  <a:tcPr marL="54864" marR="54864" marT="54864" marB="54864"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50" dirty="0">
                          <a:solidFill>
                            <a:srgbClr val="3B3934"/>
                          </a:solidFill>
                          <a:latin typeface="Calibri" pitchFamily="34" charset="0"/>
                          <a:ea typeface="Calibri" pitchFamily="34" charset="-122"/>
                          <a:cs typeface="Calibri" pitchFamily="34" charset="-120"/>
                        </a:rPr>
                        <a:t>How big is the company?</a:t>
                      </a:r>
                      <a:endParaRPr lang="en-US" sz="1050" dirty="0">
                        <a:latin typeface="Calibri" charset="0"/>
                        <a:ea typeface="Calibri" charset="0"/>
                        <a:cs typeface="Calibri" charset="0"/>
                      </a:endParaRPr>
                    </a:p>
                  </a:txBody>
                  <a:tcPr marL="54864" marR="54864" marT="54864" marB="54864"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50" b="1" dirty="0">
                          <a:solidFill>
                            <a:srgbClr val="2C3E8F"/>
                          </a:solidFill>
                          <a:latin typeface="Calibri" pitchFamily="34" charset="0"/>
                          <a:ea typeface="Calibri" pitchFamily="34" charset="-122"/>
                          <a:cs typeface="Calibri" pitchFamily="34" charset="-120"/>
                        </a:rPr>
                        <a:t>Slow</a:t>
                      </a:r>
                      <a:endParaRPr lang="en-US" sz="1050" dirty="0">
                        <a:latin typeface="Calibri" charset="0"/>
                        <a:ea typeface="Calibri" charset="0"/>
                        <a:cs typeface="Calibri" charset="0"/>
                      </a:endParaRPr>
                    </a:p>
                  </a:txBody>
                  <a:tcPr marL="54864" marR="54864" marT="54864" marB="54864"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r>
              <a:tr h="384048">
                <a:tc>
                  <a:txBody>
                    <a:bodyPr/>
                    <a:lstStyle/>
                    <a:p>
                      <a:pPr indent="0" marL="0">
                        <a:buNone/>
                      </a:pPr>
                      <a:r>
                        <a:rPr lang="en-US" sz="1050" b="1" dirty="0">
                          <a:solidFill>
                            <a:srgbClr val="1B1A17"/>
                          </a:solidFill>
                          <a:latin typeface="Calibri" pitchFamily="34" charset="0"/>
                          <a:ea typeface="Calibri" pitchFamily="34" charset="-122"/>
                          <a:cs typeface="Calibri" pitchFamily="34" charset="-120"/>
                        </a:rPr>
                        <a:t>Value</a:t>
                      </a:r>
                      <a:endParaRPr lang="en-US" sz="1050" dirty="0">
                        <a:latin typeface="Calibri" charset="0"/>
                        <a:ea typeface="Calibri" charset="0"/>
                        <a:cs typeface="Calibri" charset="0"/>
                      </a:endParaRPr>
                    </a:p>
                  </a:txBody>
                  <a:tcPr marL="54864" marR="54864" marT="54864" marB="54864"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50" dirty="0">
                          <a:solidFill>
                            <a:srgbClr val="3B3934"/>
                          </a:solidFill>
                          <a:latin typeface="Calibri" pitchFamily="34" charset="0"/>
                          <a:ea typeface="Calibri" pitchFamily="34" charset="-122"/>
                          <a:cs typeface="Calibri" pitchFamily="34" charset="-120"/>
                        </a:rPr>
                        <a:t>Price/book, price/earnings, price/sales</a:t>
                      </a:r>
                      <a:endParaRPr lang="en-US" sz="1050" dirty="0">
                        <a:latin typeface="Calibri" charset="0"/>
                        <a:ea typeface="Calibri" charset="0"/>
                        <a:cs typeface="Calibri" charset="0"/>
                      </a:endParaRPr>
                    </a:p>
                  </a:txBody>
                  <a:tcPr marL="54864" marR="54864" marT="54864" marB="54864"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50" dirty="0">
                          <a:solidFill>
                            <a:srgbClr val="3B3934"/>
                          </a:solidFill>
                          <a:latin typeface="Calibri" pitchFamily="34" charset="0"/>
                          <a:ea typeface="Calibri" pitchFamily="34" charset="-122"/>
                          <a:cs typeface="Calibri" pitchFamily="34" charset="-120"/>
                        </a:rPr>
                        <a:t>Is it cheap relative to fundamentals?</a:t>
                      </a:r>
                      <a:endParaRPr lang="en-US" sz="1050" dirty="0">
                        <a:latin typeface="Calibri" charset="0"/>
                        <a:ea typeface="Calibri" charset="0"/>
                        <a:cs typeface="Calibri" charset="0"/>
                      </a:endParaRPr>
                    </a:p>
                  </a:txBody>
                  <a:tcPr marL="54864" marR="54864" marT="54864" marB="54864"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50" b="1" dirty="0">
                          <a:solidFill>
                            <a:srgbClr val="2C3E8F"/>
                          </a:solidFill>
                          <a:latin typeface="Calibri" pitchFamily="34" charset="0"/>
                          <a:ea typeface="Calibri" pitchFamily="34" charset="-122"/>
                          <a:cs typeface="Calibri" pitchFamily="34" charset="-120"/>
                        </a:rPr>
                        <a:t>Slow (years)</a:t>
                      </a:r>
                      <a:endParaRPr lang="en-US" sz="1050" dirty="0">
                        <a:latin typeface="Calibri" charset="0"/>
                        <a:ea typeface="Calibri" charset="0"/>
                        <a:cs typeface="Calibri" charset="0"/>
                      </a:endParaRPr>
                    </a:p>
                  </a:txBody>
                  <a:tcPr marL="54864" marR="54864" marT="54864" marB="54864"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r>
              <a:tr h="384048">
                <a:tc>
                  <a:txBody>
                    <a:bodyPr/>
                    <a:lstStyle/>
                    <a:p>
                      <a:pPr indent="0" marL="0">
                        <a:buNone/>
                      </a:pPr>
                      <a:r>
                        <a:rPr lang="en-US" sz="1050" b="1" dirty="0">
                          <a:solidFill>
                            <a:srgbClr val="1B1A17"/>
                          </a:solidFill>
                          <a:latin typeface="Calibri" pitchFamily="34" charset="0"/>
                          <a:ea typeface="Calibri" pitchFamily="34" charset="-122"/>
                          <a:cs typeface="Calibri" pitchFamily="34" charset="-120"/>
                        </a:rPr>
                        <a:t>Quality</a:t>
                      </a:r>
                      <a:endParaRPr lang="en-US" sz="1050" dirty="0">
                        <a:latin typeface="Calibri" charset="0"/>
                        <a:ea typeface="Calibri" charset="0"/>
                        <a:cs typeface="Calibri" charset="0"/>
                      </a:endParaRPr>
                    </a:p>
                  </a:txBody>
                  <a:tcPr marL="54864" marR="54864" marT="54864" marB="54864"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50" dirty="0">
                          <a:solidFill>
                            <a:srgbClr val="3B3934"/>
                          </a:solidFill>
                          <a:latin typeface="Calibri" pitchFamily="34" charset="0"/>
                          <a:ea typeface="Calibri" pitchFamily="34" charset="-122"/>
                          <a:cs typeface="Calibri" pitchFamily="34" charset="-120"/>
                        </a:rPr>
                        <a:t>Return on equity, profit margin, leverage</a:t>
                      </a:r>
                      <a:endParaRPr lang="en-US" sz="1050" dirty="0">
                        <a:latin typeface="Calibri" charset="0"/>
                        <a:ea typeface="Calibri" charset="0"/>
                        <a:cs typeface="Calibri" charset="0"/>
                      </a:endParaRPr>
                    </a:p>
                  </a:txBody>
                  <a:tcPr marL="54864" marR="54864" marT="54864" marB="54864"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50" dirty="0">
                          <a:solidFill>
                            <a:srgbClr val="3B3934"/>
                          </a:solidFill>
                          <a:latin typeface="Calibri" pitchFamily="34" charset="0"/>
                          <a:ea typeface="Calibri" pitchFamily="34" charset="-122"/>
                          <a:cs typeface="Calibri" pitchFamily="34" charset="-120"/>
                        </a:rPr>
                        <a:t>Is it a well-run business?</a:t>
                      </a:r>
                      <a:endParaRPr lang="en-US" sz="1050" dirty="0">
                        <a:latin typeface="Calibri" charset="0"/>
                        <a:ea typeface="Calibri" charset="0"/>
                        <a:cs typeface="Calibri" charset="0"/>
                      </a:endParaRPr>
                    </a:p>
                  </a:txBody>
                  <a:tcPr marL="54864" marR="54864" marT="54864" marB="54864"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c>
                  <a:txBody>
                    <a:bodyPr/>
                    <a:lstStyle/>
                    <a:p>
                      <a:pPr indent="0" marL="0">
                        <a:buNone/>
                      </a:pPr>
                      <a:r>
                        <a:rPr lang="en-US" sz="1050" b="1" dirty="0">
                          <a:solidFill>
                            <a:srgbClr val="2C3E8F"/>
                          </a:solidFill>
                          <a:latin typeface="Calibri" pitchFamily="34" charset="0"/>
                          <a:ea typeface="Calibri" pitchFamily="34" charset="-122"/>
                          <a:cs typeface="Calibri" pitchFamily="34" charset="-120"/>
                        </a:rPr>
                        <a:t>Slow</a:t>
                      </a:r>
                      <a:endParaRPr lang="en-US" sz="1050" dirty="0">
                        <a:latin typeface="Calibri" charset="0"/>
                        <a:ea typeface="Calibri" charset="0"/>
                        <a:cs typeface="Calibri" charset="0"/>
                      </a:endParaRPr>
                    </a:p>
                  </a:txBody>
                  <a:tcPr marL="54864" marR="54864" marT="54864" marB="54864" anchor="ctr">
                    <a:lnL w="6350" cap="flat" cmpd="sng" algn="ctr">
                      <a:solidFill>
                        <a:srgbClr val="DEDBD3"/>
                      </a:solidFill>
                      <a:prstDash val="solid"/>
                      <a:round/>
                      <a:headEnd type="none" w="med" len="med"/>
                      <a:tailEnd type="none" w="med" len="med"/>
                    </a:lnL>
                    <a:lnR w="6350" cap="flat" cmpd="sng" algn="ctr">
                      <a:solidFill>
                        <a:srgbClr val="DEDBD3"/>
                      </a:solidFill>
                      <a:prstDash val="solid"/>
                      <a:round/>
                      <a:headEnd type="none" w="med" len="med"/>
                      <a:tailEnd type="none" w="med" len="med"/>
                    </a:lnR>
                    <a:lnT w="6350" cap="flat" cmpd="sng" algn="ctr">
                      <a:solidFill>
                        <a:srgbClr val="DEDBD3"/>
                      </a:solidFill>
                      <a:prstDash val="solid"/>
                      <a:round/>
                      <a:headEnd type="none" w="med" len="med"/>
                      <a:tailEnd type="none" w="med" len="med"/>
                    </a:lnT>
                    <a:lnB w="6350" cap="flat" cmpd="sng" algn="ctr">
                      <a:solidFill>
                        <a:srgbClr val="DEDBD3"/>
                      </a:solidFill>
                      <a:prstDash val="solid"/>
                      <a:round/>
                      <a:headEnd type="none" w="med" len="med"/>
                      <a:tailEnd type="none" w="med" len="med"/>
                    </a:lnB>
                  </a:tcPr>
                </a:tc>
              </a:tr>
            </a:tbl>
          </a:graphicData>
        </a:graphic>
      </p:graphicFrame>
      <p:sp>
        <p:nvSpPr>
          <p:cNvPr id="6" name="Text 3"/>
          <p:cNvSpPr txBox="1"/>
          <p:nvPr/>
        </p:nvSpPr>
        <p:spPr>
          <a:xfrm>
            <a:off x="457200" y="3639312"/>
            <a:ext cx="8229600" cy="256032"/>
          </a:xfrm>
          <a:prstGeom prst="rect">
            <a:avLst/>
          </a:prstGeom>
          <a:noFill/>
          <a:ln/>
        </p:spPr>
        <p:txBody>
          <a:bodyPr wrap="square" lIns="0" tIns="0" rIns="0" bIns="0" rtlCol="0" anchor="ctr"/>
          <a:lstStyle/>
          <a:p>
            <a:pPr indent="0" marL="0">
              <a:buNone/>
            </a:pPr>
            <a:r>
              <a:rPr lang="en-US" sz="1000" i="1" dirty="0">
                <a:solidFill>
                  <a:srgbClr val="6B6862"/>
                </a:solidFill>
                <a:latin typeface="Calibri" pitchFamily="34" charset="0"/>
                <a:ea typeface="Calibri" pitchFamily="34" charset="-122"/>
                <a:cs typeface="Calibri" pitchFamily="34" charset="-120"/>
              </a:rPr>
              <a:t>Standard characteristics from the asset-pricing literature; construction code is public (Open Source Asset Pricing project).</a:t>
            </a:r>
            <a:endParaRPr lang="en-US" sz="1000" dirty="0"/>
          </a:p>
        </p:txBody>
      </p:sp>
      <p:sp>
        <p:nvSpPr>
          <p:cNvPr id="7" name="Shape 4"/>
          <p:cNvSpPr/>
          <p:nvPr/>
        </p:nvSpPr>
        <p:spPr>
          <a:xfrm>
            <a:off x="457200" y="3950208"/>
            <a:ext cx="8229600" cy="777240"/>
          </a:xfrm>
          <a:prstGeom prst="roundRect">
            <a:avLst>
              <a:gd name="adj" fmla="val 7059"/>
            </a:avLst>
          </a:prstGeom>
          <a:solidFill>
            <a:srgbClr val="E4E7F4"/>
          </a:solidFill>
          <a:ln w="12700">
            <a:solidFill>
              <a:srgbClr val="E4E7F4"/>
            </a:solidFill>
            <a:prstDash val="solid"/>
          </a:ln>
        </p:spPr>
      </p:sp>
      <p:sp>
        <p:nvSpPr>
          <p:cNvPr id="8" name="Text 5"/>
          <p:cNvSpPr txBox="1"/>
          <p:nvPr/>
        </p:nvSpPr>
        <p:spPr>
          <a:xfrm>
            <a:off x="640080" y="3986784"/>
            <a:ext cx="7863840" cy="713232"/>
          </a:xfrm>
          <a:prstGeom prst="rect">
            <a:avLst/>
          </a:prstGeom>
          <a:noFill/>
          <a:ln/>
        </p:spPr>
        <p:txBody>
          <a:bodyPr wrap="square" lIns="0" tIns="0" rIns="0" bIns="0" rtlCol="0" anchor="ctr"/>
          <a:lstStyle/>
          <a:p>
            <a:pPr indent="0" marL="0">
              <a:buNone/>
            </a:pPr>
            <a:r>
              <a:rPr lang="en-US" sz="1100" b="1" dirty="0">
                <a:solidFill>
                  <a:srgbClr val="2C3E8F"/>
                </a:solidFill>
                <a:latin typeface="Calibri" pitchFamily="34" charset="0"/>
                <a:ea typeface="Calibri" pitchFamily="34" charset="-122"/>
                <a:cs typeface="Calibri" pitchFamily="34" charset="-120"/>
              </a:rPr>
              <a:t>Preprocessing — one step, three problems solved.  </a:t>
            </a:r>
            <a:pPr indent="0" marL="0">
              <a:buNone/>
            </a:pPr>
            <a:r>
              <a:rPr lang="en-US" sz="1100" dirty="0">
                <a:solidFill>
                  <a:srgbClr val="3B3934"/>
                </a:solidFill>
                <a:latin typeface="Calibri" pitchFamily="34" charset="0"/>
                <a:ea typeface="Calibri" pitchFamily="34" charset="-122"/>
                <a:cs typeface="Calibri" pitchFamily="34" charset="-120"/>
              </a:rPr>
              <a:t>Every month, rank each feature among that month's stocks and map to [−1, +1]. Outliers vanish (a P/E of 2,931 becomes "rank +1.00"), scales become comparable, and because it uses only that month's data it cannot leak the future.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6400800" cy="219456"/>
          </a:xfrm>
          <a:prstGeom prst="rect">
            <a:avLst/>
          </a:prstGeom>
          <a:noFill/>
          <a:ln/>
        </p:spPr>
        <p:txBody>
          <a:bodyPr wrap="square" lIns="0" tIns="0" rIns="0" bIns="0" rtlCol="0" anchor="ctr"/>
          <a:lstStyle/>
          <a:p>
            <a:pPr indent="0" marL="0">
              <a:buNone/>
            </a:pPr>
            <a:r>
              <a:rPr lang="en-US" sz="900" b="1" spc="200" kern="0" dirty="0">
                <a:solidFill>
                  <a:srgbClr val="6B6862"/>
                </a:solidFill>
                <a:latin typeface="Calibri" pitchFamily="34" charset="0"/>
                <a:ea typeface="Calibri" pitchFamily="34" charset="-122"/>
                <a:cs typeface="Calibri" pitchFamily="34" charset="-120"/>
              </a:rPr>
              <a:t>RIGOUR</a:t>
            </a:r>
            <a:endParaRPr lang="en-US" sz="900" dirty="0"/>
          </a:p>
        </p:txBody>
      </p:sp>
      <p:sp>
        <p:nvSpPr>
          <p:cNvPr id="3" name="Text 1"/>
          <p:cNvSpPr txBox="1"/>
          <p:nvPr/>
        </p:nvSpPr>
        <p:spPr>
          <a:xfrm>
            <a:off x="457200" y="566928"/>
            <a:ext cx="8229600" cy="777240"/>
          </a:xfrm>
          <a:prstGeom prst="rect">
            <a:avLst/>
          </a:prstGeom>
          <a:noFill/>
          <a:ln/>
        </p:spPr>
        <p:txBody>
          <a:bodyPr wrap="square" lIns="0" tIns="0" rIns="0" bIns="0" rtlCol="0" anchor="t"/>
          <a:lstStyle/>
          <a:p>
            <a:pPr indent="0" marL="0">
              <a:buNone/>
            </a:pPr>
            <a:r>
              <a:rPr lang="en-US" sz="2800" b="1" dirty="0">
                <a:solidFill>
                  <a:srgbClr val="1B1A17"/>
                </a:solidFill>
                <a:latin typeface="Cambria" pitchFamily="34" charset="0"/>
                <a:ea typeface="Cambria" pitchFamily="34" charset="-122"/>
                <a:cs typeface="Cambria" pitchFamily="34" charset="-120"/>
              </a:rPr>
              <a:t>How we know we're not fooling ourselves</a:t>
            </a:r>
            <a:endParaRPr lang="en-US" sz="2800" dirty="0"/>
          </a:p>
        </p:txBody>
      </p:sp>
      <p:sp>
        <p:nvSpPr>
          <p:cNvPr id="4" name="Text 2"/>
          <p:cNvSpPr txBox="1"/>
          <p:nvPr/>
        </p:nvSpPr>
        <p:spPr>
          <a:xfrm>
            <a:off x="7772400" y="4773168"/>
            <a:ext cx="914400" cy="201168"/>
          </a:xfrm>
          <a:prstGeom prst="rect">
            <a:avLst/>
          </a:prstGeom>
          <a:noFill/>
          <a:ln/>
        </p:spPr>
        <p:txBody>
          <a:bodyPr wrap="square" lIns="0" tIns="0" rIns="0" bIns="0" rtlCol="0" anchor="ctr"/>
          <a:lstStyle/>
          <a:p>
            <a:pPr algn="r" indent="0" marL="0">
              <a:buNone/>
            </a:pPr>
            <a:r>
              <a:rPr lang="en-US" sz="800" dirty="0">
                <a:solidFill>
                  <a:srgbClr val="A09C94"/>
                </a:solidFill>
                <a:latin typeface="Courier New" pitchFamily="34" charset="0"/>
                <a:ea typeface="Courier New" pitchFamily="34" charset="-122"/>
                <a:cs typeface="Courier New" pitchFamily="34" charset="-120"/>
              </a:rPr>
              <a:t>10 / 12</a:t>
            </a:r>
            <a:endParaRPr lang="en-US" sz="800" dirty="0"/>
          </a:p>
        </p:txBody>
      </p:sp>
      <p:sp>
        <p:nvSpPr>
          <p:cNvPr id="5" name="Shape 3"/>
          <p:cNvSpPr/>
          <p:nvPr/>
        </p:nvSpPr>
        <p:spPr>
          <a:xfrm>
            <a:off x="457200" y="1481328"/>
            <a:ext cx="4023360" cy="502920"/>
          </a:xfrm>
          <a:prstGeom prst="rect">
            <a:avLst/>
          </a:prstGeom>
          <a:solidFill>
            <a:srgbClr val="E4E7F4"/>
          </a:solidFill>
          <a:ln w="12700">
            <a:solidFill>
              <a:srgbClr val="E4E7F4"/>
            </a:solidFill>
            <a:prstDash val="solid"/>
          </a:ln>
        </p:spPr>
      </p:sp>
      <p:sp>
        <p:nvSpPr>
          <p:cNvPr id="6" name="Shape 4"/>
          <p:cNvSpPr/>
          <p:nvPr/>
        </p:nvSpPr>
        <p:spPr>
          <a:xfrm>
            <a:off x="4480560" y="1481328"/>
            <a:ext cx="1005840" cy="502920"/>
          </a:xfrm>
          <a:prstGeom prst="rect">
            <a:avLst/>
          </a:prstGeom>
          <a:solidFill>
            <a:srgbClr val="F7E8DC"/>
          </a:solidFill>
          <a:ln w="12700">
            <a:solidFill>
              <a:srgbClr val="F7E8DC"/>
            </a:solidFill>
            <a:prstDash val="solid"/>
          </a:ln>
        </p:spPr>
      </p:sp>
      <p:sp>
        <p:nvSpPr>
          <p:cNvPr id="7" name="Shape 5"/>
          <p:cNvSpPr/>
          <p:nvPr/>
        </p:nvSpPr>
        <p:spPr>
          <a:xfrm>
            <a:off x="5486400" y="1481328"/>
            <a:ext cx="3200400" cy="502920"/>
          </a:xfrm>
          <a:prstGeom prst="rect">
            <a:avLst/>
          </a:prstGeom>
          <a:solidFill>
            <a:srgbClr val="1F2A5C"/>
          </a:solidFill>
          <a:ln w="12700">
            <a:solidFill>
              <a:srgbClr val="1F2A5C"/>
            </a:solidFill>
            <a:prstDash val="solid"/>
          </a:ln>
        </p:spPr>
      </p:sp>
      <p:sp>
        <p:nvSpPr>
          <p:cNvPr id="8" name="Text 6"/>
          <p:cNvSpPr txBox="1"/>
          <p:nvPr/>
        </p:nvSpPr>
        <p:spPr>
          <a:xfrm>
            <a:off x="457200" y="1481328"/>
            <a:ext cx="4023360" cy="502920"/>
          </a:xfrm>
          <a:prstGeom prst="rect">
            <a:avLst/>
          </a:prstGeom>
          <a:noFill/>
          <a:ln/>
        </p:spPr>
        <p:txBody>
          <a:bodyPr wrap="square" lIns="0" tIns="0" rIns="0" bIns="0" rtlCol="0" anchor="ctr"/>
          <a:lstStyle/>
          <a:p>
            <a:pPr algn="ctr" indent="0" marL="0">
              <a:buNone/>
            </a:pPr>
            <a:r>
              <a:rPr lang="en-US" sz="1100" b="1" dirty="0">
                <a:solidFill>
                  <a:srgbClr val="2C3E8F"/>
                </a:solidFill>
                <a:latin typeface="Calibri" pitchFamily="34" charset="0"/>
                <a:ea typeface="Calibri" pitchFamily="34" charset="-122"/>
                <a:cs typeface="Calibri" pitchFamily="34" charset="-120"/>
              </a:rPr>
              <a:t>TRAIN  ·  expanding window</a:t>
            </a:r>
            <a:endParaRPr lang="en-US" sz="1100" dirty="0"/>
          </a:p>
        </p:txBody>
      </p:sp>
      <p:sp>
        <p:nvSpPr>
          <p:cNvPr id="9" name="Text 7"/>
          <p:cNvSpPr txBox="1"/>
          <p:nvPr/>
        </p:nvSpPr>
        <p:spPr>
          <a:xfrm>
            <a:off x="4480560" y="1481328"/>
            <a:ext cx="1005840" cy="502920"/>
          </a:xfrm>
          <a:prstGeom prst="rect">
            <a:avLst/>
          </a:prstGeom>
          <a:noFill/>
          <a:ln/>
        </p:spPr>
        <p:txBody>
          <a:bodyPr wrap="square" lIns="0" tIns="0" rIns="0" bIns="0" rtlCol="0" anchor="ctr"/>
          <a:lstStyle/>
          <a:p>
            <a:pPr algn="ctr" indent="0" marL="0">
              <a:buNone/>
            </a:pPr>
            <a:r>
              <a:rPr lang="en-US" sz="1000" b="1" dirty="0">
                <a:solidFill>
                  <a:srgbClr val="B5541F"/>
                </a:solidFill>
                <a:latin typeface="Calibri" pitchFamily="34" charset="0"/>
                <a:ea typeface="Calibri" pitchFamily="34" charset="-122"/>
                <a:cs typeface="Calibri" pitchFamily="34" charset="-120"/>
              </a:rPr>
              <a:t>VALIDATE</a:t>
            </a:r>
            <a:endParaRPr lang="en-US" sz="1000" dirty="0"/>
          </a:p>
        </p:txBody>
      </p:sp>
      <p:sp>
        <p:nvSpPr>
          <p:cNvPr id="10" name="Text 8"/>
          <p:cNvSpPr txBox="1"/>
          <p:nvPr/>
        </p:nvSpPr>
        <p:spPr>
          <a:xfrm>
            <a:off x="5486400" y="1481328"/>
            <a:ext cx="32004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TEST  ·  touched once, at the end</a:t>
            </a:r>
            <a:endParaRPr lang="en-US" sz="1100" dirty="0"/>
          </a:p>
        </p:txBody>
      </p:sp>
      <p:sp>
        <p:nvSpPr>
          <p:cNvPr id="11" name="Text 9"/>
          <p:cNvSpPr txBox="1"/>
          <p:nvPr/>
        </p:nvSpPr>
        <p:spPr>
          <a:xfrm>
            <a:off x="457200" y="1243584"/>
            <a:ext cx="914400" cy="201168"/>
          </a:xfrm>
          <a:prstGeom prst="rect">
            <a:avLst/>
          </a:prstGeom>
          <a:noFill/>
          <a:ln/>
        </p:spPr>
        <p:txBody>
          <a:bodyPr wrap="square" lIns="0" tIns="0" rIns="0" bIns="0" rtlCol="0" anchor="ctr"/>
          <a:lstStyle/>
          <a:p>
            <a:pPr indent="0" marL="0">
              <a:buNone/>
            </a:pPr>
            <a:r>
              <a:rPr lang="en-US" sz="900" dirty="0">
                <a:solidFill>
                  <a:srgbClr val="6B6862"/>
                </a:solidFill>
                <a:latin typeface="Courier New" pitchFamily="34" charset="0"/>
                <a:ea typeface="Courier New" pitchFamily="34" charset="-122"/>
                <a:cs typeface="Courier New" pitchFamily="34" charset="-120"/>
              </a:rPr>
              <a:t>2010</a:t>
            </a:r>
            <a:endParaRPr lang="en-US" sz="900" dirty="0"/>
          </a:p>
        </p:txBody>
      </p:sp>
      <p:sp>
        <p:nvSpPr>
          <p:cNvPr id="12" name="Text 10"/>
          <p:cNvSpPr txBox="1"/>
          <p:nvPr/>
        </p:nvSpPr>
        <p:spPr>
          <a:xfrm>
            <a:off x="3566160" y="1243584"/>
            <a:ext cx="914400" cy="201168"/>
          </a:xfrm>
          <a:prstGeom prst="rect">
            <a:avLst/>
          </a:prstGeom>
          <a:noFill/>
          <a:ln/>
        </p:spPr>
        <p:txBody>
          <a:bodyPr wrap="square" lIns="0" tIns="0" rIns="0" bIns="0" rtlCol="0" anchor="ctr"/>
          <a:lstStyle/>
          <a:p>
            <a:pPr algn="r" indent="0" marL="0">
              <a:buNone/>
            </a:pPr>
            <a:r>
              <a:rPr lang="en-US" sz="900" dirty="0">
                <a:solidFill>
                  <a:srgbClr val="6B6862"/>
                </a:solidFill>
                <a:latin typeface="Courier New" pitchFamily="34" charset="0"/>
                <a:ea typeface="Courier New" pitchFamily="34" charset="-122"/>
                <a:cs typeface="Courier New" pitchFamily="34" charset="-120"/>
              </a:rPr>
              <a:t>2018</a:t>
            </a:r>
            <a:endParaRPr lang="en-US" sz="900" dirty="0"/>
          </a:p>
        </p:txBody>
      </p:sp>
      <p:sp>
        <p:nvSpPr>
          <p:cNvPr id="13" name="Text 11"/>
          <p:cNvSpPr txBox="1"/>
          <p:nvPr/>
        </p:nvSpPr>
        <p:spPr>
          <a:xfrm>
            <a:off x="4480560" y="1243584"/>
            <a:ext cx="1005840" cy="201168"/>
          </a:xfrm>
          <a:prstGeom prst="rect">
            <a:avLst/>
          </a:prstGeom>
          <a:noFill/>
          <a:ln/>
        </p:spPr>
        <p:txBody>
          <a:bodyPr wrap="square" lIns="0" tIns="0" rIns="0" bIns="0" rtlCol="0" anchor="ctr"/>
          <a:lstStyle/>
          <a:p>
            <a:pPr algn="ctr" indent="0" marL="0">
              <a:buNone/>
            </a:pPr>
            <a:r>
              <a:rPr lang="en-US" sz="900" dirty="0">
                <a:solidFill>
                  <a:srgbClr val="6B6862"/>
                </a:solidFill>
                <a:latin typeface="Courier New" pitchFamily="34" charset="0"/>
                <a:ea typeface="Courier New" pitchFamily="34" charset="-122"/>
                <a:cs typeface="Courier New" pitchFamily="34" charset="-120"/>
              </a:rPr>
              <a:t>2019</a:t>
            </a:r>
            <a:endParaRPr lang="en-US" sz="900" dirty="0"/>
          </a:p>
        </p:txBody>
      </p:sp>
      <p:sp>
        <p:nvSpPr>
          <p:cNvPr id="14" name="Text 12"/>
          <p:cNvSpPr txBox="1"/>
          <p:nvPr/>
        </p:nvSpPr>
        <p:spPr>
          <a:xfrm>
            <a:off x="5486400" y="1243584"/>
            <a:ext cx="3200400" cy="201168"/>
          </a:xfrm>
          <a:prstGeom prst="rect">
            <a:avLst/>
          </a:prstGeom>
          <a:noFill/>
          <a:ln/>
        </p:spPr>
        <p:txBody>
          <a:bodyPr wrap="square" lIns="0" tIns="0" rIns="0" bIns="0" rtlCol="0" anchor="ctr"/>
          <a:lstStyle/>
          <a:p>
            <a:pPr algn="ctr" indent="0" marL="0">
              <a:buNone/>
            </a:pPr>
            <a:r>
              <a:rPr lang="en-US" sz="900" dirty="0">
                <a:solidFill>
                  <a:srgbClr val="6B6862"/>
                </a:solidFill>
                <a:latin typeface="Courier New" pitchFamily="34" charset="0"/>
                <a:ea typeface="Courier New" pitchFamily="34" charset="-122"/>
                <a:cs typeface="Courier New" pitchFamily="34" charset="-120"/>
              </a:rPr>
              <a:t>2020 – 2025</a:t>
            </a:r>
            <a:endParaRPr lang="en-US" sz="900" dirty="0"/>
          </a:p>
        </p:txBody>
      </p:sp>
      <p:sp>
        <p:nvSpPr>
          <p:cNvPr id="15" name="Shape 13"/>
          <p:cNvSpPr/>
          <p:nvPr/>
        </p:nvSpPr>
        <p:spPr>
          <a:xfrm>
            <a:off x="457200" y="2075688"/>
            <a:ext cx="1005840" cy="201168"/>
          </a:xfrm>
          <a:prstGeom prst="rightArrow">
            <a:avLst/>
          </a:prstGeom>
          <a:solidFill>
            <a:srgbClr val="A09C94"/>
          </a:solidFill>
          <a:ln w="12700">
            <a:solidFill>
              <a:srgbClr val="A09C94"/>
            </a:solidFill>
            <a:prstDash val="solid"/>
          </a:ln>
        </p:spPr>
      </p:sp>
      <p:sp>
        <p:nvSpPr>
          <p:cNvPr id="16" name="Text 14"/>
          <p:cNvSpPr txBox="1"/>
          <p:nvPr/>
        </p:nvSpPr>
        <p:spPr>
          <a:xfrm>
            <a:off x="1554480" y="2039112"/>
            <a:ext cx="7132320" cy="292608"/>
          </a:xfrm>
          <a:prstGeom prst="rect">
            <a:avLst/>
          </a:prstGeom>
          <a:noFill/>
          <a:ln/>
        </p:spPr>
        <p:txBody>
          <a:bodyPr wrap="square" lIns="0" tIns="0" rIns="0" bIns="0" rtlCol="0" anchor="ctr"/>
          <a:lstStyle/>
          <a:p>
            <a:pPr indent="0" marL="0">
              <a:buNone/>
            </a:pPr>
            <a:r>
              <a:rPr lang="en-US" sz="1050" dirty="0">
                <a:solidFill>
                  <a:srgbClr val="6B6862"/>
                </a:solidFill>
                <a:latin typeface="Calibri" pitchFamily="34" charset="0"/>
                <a:ea typeface="Calibri" pitchFamily="34" charset="-122"/>
                <a:cs typeface="Calibri" pitchFamily="34" charset="-120"/>
              </a:rPr>
              <a:t>Fit weights on train → pick hyperparameters on validation → roll forward one year at a time. Never shuffled: temporal order is preserved always.</a:t>
            </a:r>
            <a:endParaRPr lang="en-US" sz="1050" dirty="0"/>
          </a:p>
        </p:txBody>
      </p:sp>
      <p:sp>
        <p:nvSpPr>
          <p:cNvPr id="17" name="Text 15"/>
          <p:cNvSpPr txBox="1"/>
          <p:nvPr/>
        </p:nvSpPr>
        <p:spPr>
          <a:xfrm>
            <a:off x="457200" y="2514600"/>
            <a:ext cx="4023360" cy="2194560"/>
          </a:xfrm>
          <a:prstGeom prst="rect">
            <a:avLst/>
          </a:prstGeom>
          <a:noFill/>
          <a:ln/>
        </p:spPr>
        <p:txBody>
          <a:bodyPr wrap="square" lIns="0" tIns="0" rIns="0" bIns="0" rtlCol="0" anchor="t"/>
          <a:lstStyle/>
          <a:p>
            <a:pPr indent="0" marL="0">
              <a:spcAft>
                <a:spcPts val="400"/>
              </a:spcAft>
              <a:buNone/>
            </a:pPr>
            <a:r>
              <a:rPr lang="en-US" sz="1150" b="1" dirty="0">
                <a:solidFill>
                  <a:srgbClr val="1B1A17"/>
                </a:solidFill>
                <a:latin typeface="Calibri" pitchFamily="34" charset="0"/>
                <a:ea typeface="Calibri" pitchFamily="34" charset="-122"/>
                <a:cs typeface="Calibri" pitchFamily="34" charset="-120"/>
              </a:rPr>
              <a:t>Statistical tests, not just bigger numbers</a:t>
            </a:r>
            <a:endParaRPr lang="en-US" sz="1150" dirty="0"/>
          </a:p>
          <a:p>
            <a:pPr marL="342900" indent="-342900">
              <a:spcAft>
                <a:spcPts val="300"/>
              </a:spcAft>
              <a:buSzPct val="100000"/>
              <a:buChar char="•"/>
            </a:pPr>
            <a:r>
              <a:rPr lang="en-US" sz="1150" dirty="0">
                <a:solidFill>
                  <a:srgbClr val="3B3934"/>
                </a:solidFill>
                <a:latin typeface="Calibri" pitchFamily="34" charset="0"/>
                <a:ea typeface="Calibri" pitchFamily="34" charset="-122"/>
                <a:cs typeface="Calibri" pitchFamily="34" charset="-120"/>
              </a:rPr>
              <a:t>Diebold–Mariano test: is model A actually better than B?</a:t>
            </a:r>
            <a:endParaRPr lang="en-US" sz="1150" dirty="0"/>
          </a:p>
          <a:p>
            <a:pPr marL="342900" indent="-342900">
              <a:spcAft>
                <a:spcPts val="300"/>
              </a:spcAft>
              <a:buSzPct val="100000"/>
              <a:buChar char="•"/>
            </a:pPr>
            <a:r>
              <a:rPr lang="en-US" sz="1150" dirty="0">
                <a:solidFill>
                  <a:srgbClr val="3B3934"/>
                </a:solidFill>
                <a:latin typeface="Calibri" pitchFamily="34" charset="0"/>
                <a:ea typeface="Calibri" pitchFamily="34" charset="-122"/>
                <a:cs typeface="Calibri" pitchFamily="34" charset="-120"/>
              </a:rPr>
              <a:t>Bonferroni correction for comparing many models</a:t>
            </a:r>
            <a:endParaRPr lang="en-US" sz="1150" dirty="0"/>
          </a:p>
          <a:p>
            <a:pPr marL="342900" indent="-342900">
              <a:spcAft>
                <a:spcPts val="300"/>
              </a:spcAft>
              <a:buSzPct val="100000"/>
              <a:buChar char="•"/>
            </a:pPr>
            <a:r>
              <a:rPr lang="en-US" sz="1150" dirty="0">
                <a:solidFill>
                  <a:srgbClr val="3B3934"/>
                </a:solidFill>
                <a:latin typeface="Calibri" pitchFamily="34" charset="0"/>
                <a:ea typeface="Calibri" pitchFamily="34" charset="-122"/>
                <a:cs typeface="Calibri" pitchFamily="34" charset="-120"/>
              </a:rPr>
              <a:t>Bootstrap confidence intervals on every reported figure</a:t>
            </a:r>
            <a:endParaRPr lang="en-US" sz="1150" dirty="0"/>
          </a:p>
          <a:p>
            <a:pPr marL="342900" indent="-342900">
              <a:spcAft>
                <a:spcPts val="300"/>
              </a:spcAft>
              <a:buSzPct val="100000"/>
              <a:buChar char="•"/>
            </a:pPr>
            <a:r>
              <a:rPr lang="en-US" sz="1150" dirty="0">
                <a:solidFill>
                  <a:srgbClr val="3B3934"/>
                </a:solidFill>
                <a:latin typeface="Calibri" pitchFamily="34" charset="0"/>
                <a:ea typeface="Calibri" pitchFamily="34" charset="-122"/>
                <a:cs typeface="Calibri" pitchFamily="34" charset="-120"/>
              </a:rPr>
              <a:t>Placebo features: fakes that look real but predict nothing. If the model ranks them important, something is broken</a:t>
            </a:r>
            <a:endParaRPr lang="en-US" sz="1150" dirty="0"/>
          </a:p>
          <a:p>
            <a:pPr marL="342900" indent="-342900">
              <a:buSzPct val="100000"/>
              <a:buChar char="•"/>
            </a:pPr>
            <a:r>
              <a:rPr lang="en-US" sz="1150" dirty="0">
                <a:solidFill>
                  <a:srgbClr val="3B3934"/>
                </a:solidFill>
                <a:latin typeface="Calibri" pitchFamily="34" charset="0"/>
                <a:ea typeface="Calibri" pitchFamily="34" charset="-122"/>
                <a:cs typeface="Calibri" pitchFamily="34" charset="-120"/>
              </a:rPr>
              <a:t>Every configuration tried is logged and the count is published</a:t>
            </a:r>
            <a:endParaRPr lang="en-US" sz="1150" dirty="0"/>
          </a:p>
        </p:txBody>
      </p:sp>
      <p:sp>
        <p:nvSpPr>
          <p:cNvPr id="18" name="Text 16"/>
          <p:cNvSpPr txBox="1"/>
          <p:nvPr/>
        </p:nvSpPr>
        <p:spPr>
          <a:xfrm>
            <a:off x="4754880" y="2514600"/>
            <a:ext cx="3931920" cy="2194560"/>
          </a:xfrm>
          <a:prstGeom prst="rect">
            <a:avLst/>
          </a:prstGeom>
          <a:noFill/>
          <a:ln/>
        </p:spPr>
        <p:txBody>
          <a:bodyPr wrap="square" lIns="0" tIns="0" rIns="0" bIns="0" rtlCol="0" anchor="t"/>
          <a:lstStyle/>
          <a:p>
            <a:pPr indent="0" marL="0">
              <a:spcAft>
                <a:spcPts val="400"/>
              </a:spcAft>
              <a:buNone/>
            </a:pPr>
            <a:r>
              <a:rPr lang="en-US" sz="1150" b="1" dirty="0">
                <a:solidFill>
                  <a:srgbClr val="1B1A17"/>
                </a:solidFill>
                <a:latin typeface="Calibri" pitchFamily="34" charset="0"/>
                <a:ea typeface="Calibri" pitchFamily="34" charset="-122"/>
                <a:cs typeface="Calibri" pitchFamily="34" charset="-120"/>
              </a:rPr>
              <a:t>Explainability (contribution C4)</a:t>
            </a:r>
            <a:endParaRPr lang="en-US" sz="1150" dirty="0"/>
          </a:p>
          <a:p>
            <a:pPr marL="342900" indent="-342900">
              <a:spcAft>
                <a:spcPts val="300"/>
              </a:spcAft>
              <a:buSzPct val="100000"/>
              <a:buChar char="•"/>
            </a:pPr>
            <a:r>
              <a:rPr lang="en-US" sz="1150" dirty="0">
                <a:solidFill>
                  <a:srgbClr val="3B3934"/>
                </a:solidFill>
                <a:latin typeface="Calibri" pitchFamily="34" charset="0"/>
                <a:ea typeface="Calibri" pitchFamily="34" charset="-122"/>
                <a:cs typeface="Calibri" pitchFamily="34" charset="-120"/>
              </a:rPr>
              <a:t>SHAP: cooperative game theory applied to features — each feature's fair share of every prediction, summing exactly to the output</a:t>
            </a:r>
            <a:endParaRPr lang="en-US" sz="1150" dirty="0"/>
          </a:p>
          <a:p>
            <a:pPr marL="342900" indent="-342900">
              <a:spcAft>
                <a:spcPts val="300"/>
              </a:spcAft>
              <a:buSzPct val="100000"/>
              <a:buChar char="•"/>
            </a:pPr>
            <a:r>
              <a:rPr lang="en-US" sz="1150" dirty="0">
                <a:solidFill>
                  <a:srgbClr val="3B3934"/>
                </a:solidFill>
                <a:latin typeface="Calibri" pitchFamily="34" charset="0"/>
                <a:ea typeface="Calibri" pitchFamily="34" charset="-122"/>
                <a:cs typeface="Calibri" pitchFamily="34" charset="-120"/>
              </a:rPr>
              <a:t>Computed at each capital level: does the importance ranking change with scale?</a:t>
            </a:r>
            <a:endParaRPr lang="en-US" sz="1150" dirty="0"/>
          </a:p>
          <a:p>
            <a:pPr marL="342900" indent="-342900">
              <a:buSzPct val="100000"/>
              <a:buChar char="•"/>
            </a:pPr>
            <a:r>
              <a:rPr lang="en-US" sz="1150" dirty="0">
                <a:solidFill>
                  <a:srgbClr val="3B3934"/>
                </a:solidFill>
                <a:latin typeface="Calibri" pitchFamily="34" charset="0"/>
                <a:ea typeface="Calibri" pitchFamily="34" charset="-122"/>
                <a:cs typeface="Calibri" pitchFamily="34" charset="-120"/>
              </a:rPr>
              <a:t>Known limitation, addressed: SHAP measures how much a feature is used, not what it's worth. We cross-check with ablation — remove the feature, retrain, measure the drop</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6400800" cy="219456"/>
          </a:xfrm>
          <a:prstGeom prst="rect">
            <a:avLst/>
          </a:prstGeom>
          <a:noFill/>
          <a:ln/>
        </p:spPr>
        <p:txBody>
          <a:bodyPr wrap="square" lIns="0" tIns="0" rIns="0" bIns="0" rtlCol="0" anchor="ctr"/>
          <a:lstStyle/>
          <a:p>
            <a:pPr indent="0" marL="0">
              <a:buNone/>
            </a:pPr>
            <a:r>
              <a:rPr lang="en-US" sz="900" b="1" spc="200" kern="0" dirty="0">
                <a:solidFill>
                  <a:srgbClr val="6B6862"/>
                </a:solidFill>
                <a:latin typeface="Calibri" pitchFamily="34" charset="0"/>
                <a:ea typeface="Calibri" pitchFamily="34" charset="-122"/>
                <a:cs typeface="Calibri" pitchFamily="34" charset="-120"/>
              </a:rPr>
              <a:t>EXECUTION</a:t>
            </a:r>
            <a:endParaRPr lang="en-US" sz="900" dirty="0"/>
          </a:p>
        </p:txBody>
      </p:sp>
      <p:sp>
        <p:nvSpPr>
          <p:cNvPr id="3" name="Text 1"/>
          <p:cNvSpPr txBox="1"/>
          <p:nvPr/>
        </p:nvSpPr>
        <p:spPr>
          <a:xfrm>
            <a:off x="457200" y="566928"/>
            <a:ext cx="8229600" cy="777240"/>
          </a:xfrm>
          <a:prstGeom prst="rect">
            <a:avLst/>
          </a:prstGeom>
          <a:noFill/>
          <a:ln/>
        </p:spPr>
        <p:txBody>
          <a:bodyPr wrap="square" lIns="0" tIns="0" rIns="0" bIns="0" rtlCol="0" anchor="t"/>
          <a:lstStyle/>
          <a:p>
            <a:pPr indent="0" marL="0">
              <a:buNone/>
            </a:pPr>
            <a:r>
              <a:rPr lang="en-US" sz="2800" b="1" dirty="0">
                <a:solidFill>
                  <a:srgbClr val="1B1A17"/>
                </a:solidFill>
                <a:latin typeface="Cambria" pitchFamily="34" charset="0"/>
                <a:ea typeface="Cambria" pitchFamily="34" charset="-122"/>
                <a:cs typeface="Cambria" pitchFamily="34" charset="-120"/>
              </a:rPr>
              <a:t>Method and timeline</a:t>
            </a:r>
            <a:endParaRPr lang="en-US" sz="2800" dirty="0"/>
          </a:p>
        </p:txBody>
      </p:sp>
      <p:sp>
        <p:nvSpPr>
          <p:cNvPr id="4" name="Text 2"/>
          <p:cNvSpPr txBox="1"/>
          <p:nvPr/>
        </p:nvSpPr>
        <p:spPr>
          <a:xfrm>
            <a:off x="7772400" y="4773168"/>
            <a:ext cx="914400" cy="201168"/>
          </a:xfrm>
          <a:prstGeom prst="rect">
            <a:avLst/>
          </a:prstGeom>
          <a:noFill/>
          <a:ln/>
        </p:spPr>
        <p:txBody>
          <a:bodyPr wrap="square" lIns="0" tIns="0" rIns="0" bIns="0" rtlCol="0" anchor="ctr"/>
          <a:lstStyle/>
          <a:p>
            <a:pPr algn="r" indent="0" marL="0">
              <a:buNone/>
            </a:pPr>
            <a:r>
              <a:rPr lang="en-US" sz="800" dirty="0">
                <a:solidFill>
                  <a:srgbClr val="A09C94"/>
                </a:solidFill>
                <a:latin typeface="Courier New" pitchFamily="34" charset="0"/>
                <a:ea typeface="Courier New" pitchFamily="34" charset="-122"/>
                <a:cs typeface="Courier New" pitchFamily="34" charset="-120"/>
              </a:rPr>
              <a:t>11 / 12</a:t>
            </a:r>
            <a:endParaRPr lang="en-US" sz="800" dirty="0"/>
          </a:p>
        </p:txBody>
      </p:sp>
      <p:sp>
        <p:nvSpPr>
          <p:cNvPr id="5" name="Shape 3"/>
          <p:cNvSpPr/>
          <p:nvPr/>
        </p:nvSpPr>
        <p:spPr>
          <a:xfrm>
            <a:off x="457200" y="1417320"/>
            <a:ext cx="310896" cy="310896"/>
          </a:xfrm>
          <a:prstGeom prst="ellipse">
            <a:avLst/>
          </a:prstGeom>
          <a:solidFill>
            <a:srgbClr val="2C3E8F"/>
          </a:solidFill>
          <a:ln w="12700">
            <a:solidFill>
              <a:srgbClr val="2C3E8F"/>
            </a:solidFill>
            <a:prstDash val="solid"/>
          </a:ln>
        </p:spPr>
      </p:sp>
      <p:sp>
        <p:nvSpPr>
          <p:cNvPr id="6" name="Text 4"/>
          <p:cNvSpPr txBox="1"/>
          <p:nvPr/>
        </p:nvSpPr>
        <p:spPr>
          <a:xfrm>
            <a:off x="457200" y="141732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877824" y="1371600"/>
            <a:ext cx="3657600" cy="402336"/>
          </a:xfrm>
          <a:prstGeom prst="rect">
            <a:avLst/>
          </a:prstGeom>
          <a:noFill/>
          <a:ln/>
        </p:spPr>
        <p:txBody>
          <a:bodyPr wrap="square" lIns="0" tIns="0" rIns="0" bIns="0" rtlCol="0" anchor="ctr"/>
          <a:lstStyle/>
          <a:p>
            <a:pPr indent="0" marL="0">
              <a:buNone/>
            </a:pPr>
            <a:r>
              <a:rPr lang="en-US" sz="1100" dirty="0">
                <a:solidFill>
                  <a:srgbClr val="3B3934"/>
                </a:solidFill>
                <a:latin typeface="Calibri" pitchFamily="34" charset="0"/>
                <a:ea typeface="Calibri" pitchFamily="34" charset="-122"/>
                <a:cs typeface="Calibri" pitchFamily="34" charset="-120"/>
              </a:rPr>
              <a:t>Data pipeline with leakage tests — no future information</a:t>
            </a:r>
            <a:endParaRPr lang="en-US" sz="1100" dirty="0"/>
          </a:p>
        </p:txBody>
      </p:sp>
      <p:sp>
        <p:nvSpPr>
          <p:cNvPr id="8" name="Shape 6"/>
          <p:cNvSpPr/>
          <p:nvPr/>
        </p:nvSpPr>
        <p:spPr>
          <a:xfrm>
            <a:off x="457200" y="1874520"/>
            <a:ext cx="310896" cy="310896"/>
          </a:xfrm>
          <a:prstGeom prst="ellipse">
            <a:avLst/>
          </a:prstGeom>
          <a:solidFill>
            <a:srgbClr val="2C3E8F"/>
          </a:solidFill>
          <a:ln w="12700">
            <a:solidFill>
              <a:srgbClr val="2C3E8F"/>
            </a:solidFill>
            <a:prstDash val="solid"/>
          </a:ln>
        </p:spPr>
      </p:sp>
      <p:sp>
        <p:nvSpPr>
          <p:cNvPr id="9" name="Text 7"/>
          <p:cNvSpPr txBox="1"/>
          <p:nvPr/>
        </p:nvSpPr>
        <p:spPr>
          <a:xfrm>
            <a:off x="457200" y="187452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txBox="1"/>
          <p:nvPr/>
        </p:nvSpPr>
        <p:spPr>
          <a:xfrm>
            <a:off x="877824" y="1828800"/>
            <a:ext cx="3657600" cy="402336"/>
          </a:xfrm>
          <a:prstGeom prst="rect">
            <a:avLst/>
          </a:prstGeom>
          <a:noFill/>
          <a:ln/>
        </p:spPr>
        <p:txBody>
          <a:bodyPr wrap="square" lIns="0" tIns="0" rIns="0" bIns="0" rtlCol="0" anchor="ctr"/>
          <a:lstStyle/>
          <a:p>
            <a:pPr indent="0" marL="0">
              <a:buNone/>
            </a:pPr>
            <a:r>
              <a:rPr lang="en-US" sz="1100" dirty="0">
                <a:solidFill>
                  <a:srgbClr val="3B3934"/>
                </a:solidFill>
                <a:latin typeface="Calibri" pitchFamily="34" charset="0"/>
                <a:ea typeface="Calibri" pitchFamily="34" charset="-122"/>
                <a:cs typeface="Calibri" pitchFamily="34" charset="-120"/>
              </a:rPr>
              <a:t>Four models + slow control, walk-forward validated</a:t>
            </a:r>
            <a:endParaRPr lang="en-US" sz="1100" dirty="0"/>
          </a:p>
        </p:txBody>
      </p:sp>
      <p:sp>
        <p:nvSpPr>
          <p:cNvPr id="11" name="Shape 9"/>
          <p:cNvSpPr/>
          <p:nvPr/>
        </p:nvSpPr>
        <p:spPr>
          <a:xfrm>
            <a:off x="457200" y="2331720"/>
            <a:ext cx="310896" cy="310896"/>
          </a:xfrm>
          <a:prstGeom prst="ellipse">
            <a:avLst/>
          </a:prstGeom>
          <a:solidFill>
            <a:srgbClr val="2C3E8F"/>
          </a:solidFill>
          <a:ln w="12700">
            <a:solidFill>
              <a:srgbClr val="2C3E8F"/>
            </a:solidFill>
            <a:prstDash val="solid"/>
          </a:ln>
        </p:spPr>
      </p:sp>
      <p:sp>
        <p:nvSpPr>
          <p:cNvPr id="12" name="Text 10"/>
          <p:cNvSpPr txBox="1"/>
          <p:nvPr/>
        </p:nvSpPr>
        <p:spPr>
          <a:xfrm>
            <a:off x="457200" y="233172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3" name="Text 11"/>
          <p:cNvSpPr txBox="1"/>
          <p:nvPr/>
        </p:nvSpPr>
        <p:spPr>
          <a:xfrm>
            <a:off x="877824" y="2286000"/>
            <a:ext cx="3657600" cy="402336"/>
          </a:xfrm>
          <a:prstGeom prst="rect">
            <a:avLst/>
          </a:prstGeom>
          <a:noFill/>
          <a:ln/>
        </p:spPr>
        <p:txBody>
          <a:bodyPr wrap="square" lIns="0" tIns="0" rIns="0" bIns="0" rtlCol="0" anchor="ctr"/>
          <a:lstStyle/>
          <a:p>
            <a:pPr indent="0" marL="0">
              <a:buNone/>
            </a:pPr>
            <a:r>
              <a:rPr lang="en-US" sz="1100" dirty="0">
                <a:solidFill>
                  <a:srgbClr val="3B3934"/>
                </a:solidFill>
                <a:latin typeface="Calibri" pitchFamily="34" charset="0"/>
                <a:ea typeface="Calibri" pitchFamily="34" charset="-122"/>
                <a:cs typeface="Calibri" pitchFamily="34" charset="-120"/>
              </a:rPr>
              <a:t>Monthly portfolios: rank stocks, hold the top group, cap by daily volume</a:t>
            </a:r>
            <a:endParaRPr lang="en-US" sz="1100" dirty="0"/>
          </a:p>
        </p:txBody>
      </p:sp>
      <p:sp>
        <p:nvSpPr>
          <p:cNvPr id="14" name="Shape 12"/>
          <p:cNvSpPr/>
          <p:nvPr/>
        </p:nvSpPr>
        <p:spPr>
          <a:xfrm>
            <a:off x="457200" y="2788920"/>
            <a:ext cx="310896" cy="310896"/>
          </a:xfrm>
          <a:prstGeom prst="ellipse">
            <a:avLst/>
          </a:prstGeom>
          <a:solidFill>
            <a:srgbClr val="2C3E8F"/>
          </a:solidFill>
          <a:ln w="12700">
            <a:solidFill>
              <a:srgbClr val="2C3E8F"/>
            </a:solidFill>
            <a:prstDash val="solid"/>
          </a:ln>
        </p:spPr>
      </p:sp>
      <p:sp>
        <p:nvSpPr>
          <p:cNvPr id="15" name="Text 13"/>
          <p:cNvSpPr txBox="1"/>
          <p:nvPr/>
        </p:nvSpPr>
        <p:spPr>
          <a:xfrm>
            <a:off x="457200" y="278892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6" name="Text 14"/>
          <p:cNvSpPr txBox="1"/>
          <p:nvPr/>
        </p:nvSpPr>
        <p:spPr>
          <a:xfrm>
            <a:off x="877824" y="2743200"/>
            <a:ext cx="3657600" cy="402336"/>
          </a:xfrm>
          <a:prstGeom prst="rect">
            <a:avLst/>
          </a:prstGeom>
          <a:noFill/>
          <a:ln/>
        </p:spPr>
        <p:txBody>
          <a:bodyPr wrap="square" lIns="0" tIns="0" rIns="0" bIns="0" rtlCol="0" anchor="ctr"/>
          <a:lstStyle/>
          <a:p>
            <a:pPr indent="0" marL="0">
              <a:buNone/>
            </a:pPr>
            <a:r>
              <a:rPr lang="en-US" sz="1100" dirty="0">
                <a:solidFill>
                  <a:srgbClr val="3B3934"/>
                </a:solidFill>
                <a:latin typeface="Calibri" pitchFamily="34" charset="0"/>
                <a:ea typeface="Calibri" pitchFamily="34" charset="-122"/>
                <a:cs typeface="Calibri" pitchFamily="34" charset="-120"/>
              </a:rPr>
              <a:t>Cost model: spread + square-root impact, parameters from published research</a:t>
            </a:r>
            <a:endParaRPr lang="en-US" sz="1100" dirty="0"/>
          </a:p>
        </p:txBody>
      </p:sp>
      <p:sp>
        <p:nvSpPr>
          <p:cNvPr id="17" name="Shape 15"/>
          <p:cNvSpPr/>
          <p:nvPr/>
        </p:nvSpPr>
        <p:spPr>
          <a:xfrm>
            <a:off x="4663440" y="1417320"/>
            <a:ext cx="310896" cy="310896"/>
          </a:xfrm>
          <a:prstGeom prst="ellipse">
            <a:avLst/>
          </a:prstGeom>
          <a:solidFill>
            <a:srgbClr val="2C3E8F"/>
          </a:solidFill>
          <a:ln w="12700">
            <a:solidFill>
              <a:srgbClr val="2C3E8F"/>
            </a:solidFill>
            <a:prstDash val="solid"/>
          </a:ln>
        </p:spPr>
      </p:sp>
      <p:sp>
        <p:nvSpPr>
          <p:cNvPr id="18" name="Text 16"/>
          <p:cNvSpPr txBox="1"/>
          <p:nvPr/>
        </p:nvSpPr>
        <p:spPr>
          <a:xfrm>
            <a:off x="4663440" y="141732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9" name="Text 17"/>
          <p:cNvSpPr txBox="1"/>
          <p:nvPr/>
        </p:nvSpPr>
        <p:spPr>
          <a:xfrm>
            <a:off x="5084064" y="1371600"/>
            <a:ext cx="3657600" cy="402336"/>
          </a:xfrm>
          <a:prstGeom prst="rect">
            <a:avLst/>
          </a:prstGeom>
          <a:noFill/>
          <a:ln/>
        </p:spPr>
        <p:txBody>
          <a:bodyPr wrap="square" lIns="0" tIns="0" rIns="0" bIns="0" rtlCol="0" anchor="ctr"/>
          <a:lstStyle/>
          <a:p>
            <a:pPr indent="0" marL="0">
              <a:buNone/>
            </a:pPr>
            <a:r>
              <a:rPr lang="en-US" sz="1100" dirty="0">
                <a:solidFill>
                  <a:srgbClr val="3B3934"/>
                </a:solidFill>
                <a:latin typeface="Calibri" pitchFamily="34" charset="0"/>
                <a:ea typeface="Calibri" pitchFamily="34" charset="-122"/>
                <a:cs typeface="Calibri" pitchFamily="34" charset="-120"/>
              </a:rPr>
              <a:t>Sweep deployed capital across five levels; record net performance</a:t>
            </a:r>
            <a:endParaRPr lang="en-US" sz="1100" dirty="0"/>
          </a:p>
        </p:txBody>
      </p:sp>
      <p:sp>
        <p:nvSpPr>
          <p:cNvPr id="20" name="Shape 18"/>
          <p:cNvSpPr/>
          <p:nvPr/>
        </p:nvSpPr>
        <p:spPr>
          <a:xfrm>
            <a:off x="4663440" y="1874520"/>
            <a:ext cx="310896" cy="310896"/>
          </a:xfrm>
          <a:prstGeom prst="ellipse">
            <a:avLst/>
          </a:prstGeom>
          <a:solidFill>
            <a:srgbClr val="2C3E8F"/>
          </a:solidFill>
          <a:ln w="12700">
            <a:solidFill>
              <a:srgbClr val="2C3E8F"/>
            </a:solidFill>
            <a:prstDash val="solid"/>
          </a:ln>
        </p:spPr>
      </p:sp>
      <p:sp>
        <p:nvSpPr>
          <p:cNvPr id="21" name="Text 19"/>
          <p:cNvSpPr txBox="1"/>
          <p:nvPr/>
        </p:nvSpPr>
        <p:spPr>
          <a:xfrm>
            <a:off x="4663440" y="187452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2" name="Text 20"/>
          <p:cNvSpPr txBox="1"/>
          <p:nvPr/>
        </p:nvSpPr>
        <p:spPr>
          <a:xfrm>
            <a:off x="5084064" y="1828800"/>
            <a:ext cx="3657600" cy="402336"/>
          </a:xfrm>
          <a:prstGeom prst="rect">
            <a:avLst/>
          </a:prstGeom>
          <a:noFill/>
          <a:ln/>
        </p:spPr>
        <p:txBody>
          <a:bodyPr wrap="square" lIns="0" tIns="0" rIns="0" bIns="0" rtlCol="0" anchor="ctr"/>
          <a:lstStyle/>
          <a:p>
            <a:pPr indent="0" marL="0">
              <a:buNone/>
            </a:pPr>
            <a:r>
              <a:rPr lang="en-US" sz="1100" dirty="0">
                <a:solidFill>
                  <a:srgbClr val="3B3934"/>
                </a:solidFill>
                <a:latin typeface="Calibri" pitchFamily="34" charset="0"/>
                <a:ea typeface="Calibri" pitchFamily="34" charset="-122"/>
                <a:cs typeface="Calibri" pitchFamily="34" charset="-120"/>
              </a:rPr>
              <a:t>Fit the curve; bootstrap the slope; test the inversion hypothesis</a:t>
            </a:r>
            <a:endParaRPr lang="en-US" sz="1100" dirty="0"/>
          </a:p>
        </p:txBody>
      </p:sp>
      <p:sp>
        <p:nvSpPr>
          <p:cNvPr id="23" name="Shape 21"/>
          <p:cNvSpPr/>
          <p:nvPr/>
        </p:nvSpPr>
        <p:spPr>
          <a:xfrm>
            <a:off x="4663440" y="2331720"/>
            <a:ext cx="310896" cy="310896"/>
          </a:xfrm>
          <a:prstGeom prst="ellipse">
            <a:avLst/>
          </a:prstGeom>
          <a:solidFill>
            <a:srgbClr val="2C3E8F"/>
          </a:solidFill>
          <a:ln w="12700">
            <a:solidFill>
              <a:srgbClr val="2C3E8F"/>
            </a:solidFill>
            <a:prstDash val="solid"/>
          </a:ln>
        </p:spPr>
      </p:sp>
      <p:sp>
        <p:nvSpPr>
          <p:cNvPr id="24" name="Text 22"/>
          <p:cNvSpPr txBox="1"/>
          <p:nvPr/>
        </p:nvSpPr>
        <p:spPr>
          <a:xfrm>
            <a:off x="4663440" y="233172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5" name="Text 23"/>
          <p:cNvSpPr txBox="1"/>
          <p:nvPr/>
        </p:nvSpPr>
        <p:spPr>
          <a:xfrm>
            <a:off x="5084064" y="2286000"/>
            <a:ext cx="3657600" cy="402336"/>
          </a:xfrm>
          <a:prstGeom prst="rect">
            <a:avLst/>
          </a:prstGeom>
          <a:noFill/>
          <a:ln/>
        </p:spPr>
        <p:txBody>
          <a:bodyPr wrap="square" lIns="0" tIns="0" rIns="0" bIns="0" rtlCol="0" anchor="ctr"/>
          <a:lstStyle/>
          <a:p>
            <a:pPr indent="0" marL="0">
              <a:buNone/>
            </a:pPr>
            <a:r>
              <a:rPr lang="en-US" sz="1100" dirty="0">
                <a:solidFill>
                  <a:srgbClr val="3B3934"/>
                </a:solidFill>
                <a:latin typeface="Calibri" pitchFamily="34" charset="0"/>
                <a:ea typeface="Calibri" pitchFamily="34" charset="-122"/>
                <a:cs typeface="Calibri" pitchFamily="34" charset="-120"/>
              </a:rPr>
              <a:t>SHAP at each capital level</a:t>
            </a:r>
            <a:endParaRPr lang="en-US" sz="1100" dirty="0"/>
          </a:p>
        </p:txBody>
      </p:sp>
      <p:sp>
        <p:nvSpPr>
          <p:cNvPr id="26" name="Shape 24"/>
          <p:cNvSpPr/>
          <p:nvPr/>
        </p:nvSpPr>
        <p:spPr>
          <a:xfrm>
            <a:off x="457200" y="3520440"/>
            <a:ext cx="859536" cy="457200"/>
          </a:xfrm>
          <a:prstGeom prst="rect">
            <a:avLst/>
          </a:prstGeom>
          <a:solidFill>
            <a:srgbClr val="F2F2EF"/>
          </a:solidFill>
          <a:ln w="6350">
            <a:solidFill>
              <a:srgbClr val="DEDBD3"/>
            </a:solidFill>
            <a:prstDash val="solid"/>
          </a:ln>
        </p:spPr>
      </p:sp>
      <p:sp>
        <p:nvSpPr>
          <p:cNvPr id="27" name="Text 25"/>
          <p:cNvSpPr txBox="1"/>
          <p:nvPr/>
        </p:nvSpPr>
        <p:spPr>
          <a:xfrm>
            <a:off x="457200" y="3520440"/>
            <a:ext cx="859536" cy="457200"/>
          </a:xfrm>
          <a:prstGeom prst="rect">
            <a:avLst/>
          </a:prstGeom>
          <a:noFill/>
          <a:ln/>
        </p:spPr>
        <p:txBody>
          <a:bodyPr wrap="square" lIns="0" tIns="0" rIns="0" bIns="0" rtlCol="0" anchor="ctr"/>
          <a:lstStyle/>
          <a:p>
            <a:pPr algn="ctr" indent="0" marL="0">
              <a:buNone/>
            </a:pPr>
            <a:r>
              <a:rPr lang="en-US" sz="1100" b="1" dirty="0">
                <a:solidFill>
                  <a:srgbClr val="1B1A17"/>
                </a:solidFill>
                <a:latin typeface="Courier New" pitchFamily="34" charset="0"/>
                <a:ea typeface="Courier New" pitchFamily="34" charset="-122"/>
                <a:cs typeface="Courier New" pitchFamily="34" charset="-120"/>
              </a:rPr>
              <a:t>M1</a:t>
            </a:r>
            <a:endParaRPr lang="en-US" sz="1100" dirty="0"/>
          </a:p>
        </p:txBody>
      </p:sp>
      <p:sp>
        <p:nvSpPr>
          <p:cNvPr id="28" name="Text 26"/>
          <p:cNvSpPr txBox="1"/>
          <p:nvPr/>
        </p:nvSpPr>
        <p:spPr>
          <a:xfrm>
            <a:off x="429768" y="4023360"/>
            <a:ext cx="914400" cy="365760"/>
          </a:xfrm>
          <a:prstGeom prst="rect">
            <a:avLst/>
          </a:prstGeom>
          <a:noFill/>
          <a:ln/>
        </p:spPr>
        <p:txBody>
          <a:bodyPr wrap="square" lIns="0" tIns="0" rIns="0" bIns="0" rtlCol="0" anchor="t"/>
          <a:lstStyle/>
          <a:p>
            <a:pPr algn="ctr" indent="0" marL="0">
              <a:buNone/>
            </a:pPr>
            <a:r>
              <a:rPr lang="en-US" sz="850" dirty="0">
                <a:solidFill>
                  <a:srgbClr val="6B6862"/>
                </a:solidFill>
                <a:latin typeface="Calibri" pitchFamily="34" charset="0"/>
                <a:ea typeface="Calibri" pitchFamily="34" charset="-122"/>
                <a:cs typeface="Calibri" pitchFamily="34" charset="-120"/>
              </a:rPr>
              <a:t>Foundations</a:t>
            </a:r>
            <a:endParaRPr lang="en-US" sz="850" dirty="0"/>
          </a:p>
        </p:txBody>
      </p:sp>
      <p:sp>
        <p:nvSpPr>
          <p:cNvPr id="29" name="Shape 27"/>
          <p:cNvSpPr/>
          <p:nvPr/>
        </p:nvSpPr>
        <p:spPr>
          <a:xfrm>
            <a:off x="1380744" y="3520440"/>
            <a:ext cx="859536" cy="457200"/>
          </a:xfrm>
          <a:prstGeom prst="rect">
            <a:avLst/>
          </a:prstGeom>
          <a:solidFill>
            <a:srgbClr val="F2F2EF"/>
          </a:solidFill>
          <a:ln w="6350">
            <a:solidFill>
              <a:srgbClr val="DEDBD3"/>
            </a:solidFill>
            <a:prstDash val="solid"/>
          </a:ln>
        </p:spPr>
      </p:sp>
      <p:sp>
        <p:nvSpPr>
          <p:cNvPr id="30" name="Text 28"/>
          <p:cNvSpPr txBox="1"/>
          <p:nvPr/>
        </p:nvSpPr>
        <p:spPr>
          <a:xfrm>
            <a:off x="1380744" y="3520440"/>
            <a:ext cx="859536" cy="457200"/>
          </a:xfrm>
          <a:prstGeom prst="rect">
            <a:avLst/>
          </a:prstGeom>
          <a:noFill/>
          <a:ln/>
        </p:spPr>
        <p:txBody>
          <a:bodyPr wrap="square" lIns="0" tIns="0" rIns="0" bIns="0" rtlCol="0" anchor="ctr"/>
          <a:lstStyle/>
          <a:p>
            <a:pPr algn="ctr" indent="0" marL="0">
              <a:buNone/>
            </a:pPr>
            <a:r>
              <a:rPr lang="en-US" sz="1100" b="1" dirty="0">
                <a:solidFill>
                  <a:srgbClr val="1B1A17"/>
                </a:solidFill>
                <a:latin typeface="Courier New" pitchFamily="34" charset="0"/>
                <a:ea typeface="Courier New" pitchFamily="34" charset="-122"/>
                <a:cs typeface="Courier New" pitchFamily="34" charset="-120"/>
              </a:rPr>
              <a:t>M2</a:t>
            </a:r>
            <a:endParaRPr lang="en-US" sz="1100" dirty="0"/>
          </a:p>
        </p:txBody>
      </p:sp>
      <p:sp>
        <p:nvSpPr>
          <p:cNvPr id="31" name="Text 29"/>
          <p:cNvSpPr txBox="1"/>
          <p:nvPr/>
        </p:nvSpPr>
        <p:spPr>
          <a:xfrm>
            <a:off x="1353312" y="4023360"/>
            <a:ext cx="914400" cy="365760"/>
          </a:xfrm>
          <a:prstGeom prst="rect">
            <a:avLst/>
          </a:prstGeom>
          <a:noFill/>
          <a:ln/>
        </p:spPr>
        <p:txBody>
          <a:bodyPr wrap="square" lIns="0" tIns="0" rIns="0" bIns="0" rtlCol="0" anchor="t"/>
          <a:lstStyle/>
          <a:p>
            <a:pPr algn="ctr" indent="0" marL="0">
              <a:buNone/>
            </a:pPr>
            <a:r>
              <a:rPr lang="en-US" sz="850" dirty="0">
                <a:solidFill>
                  <a:srgbClr val="6B6862"/>
                </a:solidFill>
                <a:latin typeface="Calibri" pitchFamily="34" charset="0"/>
                <a:ea typeface="Calibri" pitchFamily="34" charset="-122"/>
                <a:cs typeface="Calibri" pitchFamily="34" charset="-120"/>
              </a:rPr>
              <a:t>Data pipeline</a:t>
            </a:r>
            <a:endParaRPr lang="en-US" sz="850" dirty="0"/>
          </a:p>
        </p:txBody>
      </p:sp>
      <p:sp>
        <p:nvSpPr>
          <p:cNvPr id="32" name="Shape 30"/>
          <p:cNvSpPr/>
          <p:nvPr/>
        </p:nvSpPr>
        <p:spPr>
          <a:xfrm>
            <a:off x="2304288" y="3520440"/>
            <a:ext cx="859536" cy="457200"/>
          </a:xfrm>
          <a:prstGeom prst="rect">
            <a:avLst/>
          </a:prstGeom>
          <a:solidFill>
            <a:srgbClr val="F2F2EF"/>
          </a:solidFill>
          <a:ln w="6350">
            <a:solidFill>
              <a:srgbClr val="DEDBD3"/>
            </a:solidFill>
            <a:prstDash val="solid"/>
          </a:ln>
        </p:spPr>
      </p:sp>
      <p:sp>
        <p:nvSpPr>
          <p:cNvPr id="33" name="Text 31"/>
          <p:cNvSpPr txBox="1"/>
          <p:nvPr/>
        </p:nvSpPr>
        <p:spPr>
          <a:xfrm>
            <a:off x="2304288" y="3520440"/>
            <a:ext cx="859536" cy="457200"/>
          </a:xfrm>
          <a:prstGeom prst="rect">
            <a:avLst/>
          </a:prstGeom>
          <a:noFill/>
          <a:ln/>
        </p:spPr>
        <p:txBody>
          <a:bodyPr wrap="square" lIns="0" tIns="0" rIns="0" bIns="0" rtlCol="0" anchor="ctr"/>
          <a:lstStyle/>
          <a:p>
            <a:pPr algn="ctr" indent="0" marL="0">
              <a:buNone/>
            </a:pPr>
            <a:r>
              <a:rPr lang="en-US" sz="1100" b="1" dirty="0">
                <a:solidFill>
                  <a:srgbClr val="1B1A17"/>
                </a:solidFill>
                <a:latin typeface="Courier New" pitchFamily="34" charset="0"/>
                <a:ea typeface="Courier New" pitchFamily="34" charset="-122"/>
                <a:cs typeface="Courier New" pitchFamily="34" charset="-120"/>
              </a:rPr>
              <a:t>M3</a:t>
            </a:r>
            <a:endParaRPr lang="en-US" sz="1100" dirty="0"/>
          </a:p>
        </p:txBody>
      </p:sp>
      <p:sp>
        <p:nvSpPr>
          <p:cNvPr id="34" name="Text 32"/>
          <p:cNvSpPr txBox="1"/>
          <p:nvPr/>
        </p:nvSpPr>
        <p:spPr>
          <a:xfrm>
            <a:off x="2276856" y="4023360"/>
            <a:ext cx="914400" cy="365760"/>
          </a:xfrm>
          <a:prstGeom prst="rect">
            <a:avLst/>
          </a:prstGeom>
          <a:noFill/>
          <a:ln/>
        </p:spPr>
        <p:txBody>
          <a:bodyPr wrap="square" lIns="0" tIns="0" rIns="0" bIns="0" rtlCol="0" anchor="t"/>
          <a:lstStyle/>
          <a:p>
            <a:pPr algn="ctr" indent="0" marL="0">
              <a:buNone/>
            </a:pPr>
            <a:r>
              <a:rPr lang="en-US" sz="850" dirty="0">
                <a:solidFill>
                  <a:srgbClr val="6B6862"/>
                </a:solidFill>
                <a:latin typeface="Calibri" pitchFamily="34" charset="0"/>
                <a:ea typeface="Calibri" pitchFamily="34" charset="-122"/>
                <a:cs typeface="Calibri" pitchFamily="34" charset="-120"/>
              </a:rPr>
              <a:t>Baseline end-to-end</a:t>
            </a:r>
            <a:endParaRPr lang="en-US" sz="850" dirty="0"/>
          </a:p>
        </p:txBody>
      </p:sp>
      <p:sp>
        <p:nvSpPr>
          <p:cNvPr id="35" name="Shape 33"/>
          <p:cNvSpPr/>
          <p:nvPr/>
        </p:nvSpPr>
        <p:spPr>
          <a:xfrm>
            <a:off x="3227832" y="3520440"/>
            <a:ext cx="859536" cy="457200"/>
          </a:xfrm>
          <a:prstGeom prst="rect">
            <a:avLst/>
          </a:prstGeom>
          <a:solidFill>
            <a:srgbClr val="F2F2EF"/>
          </a:solidFill>
          <a:ln w="6350">
            <a:solidFill>
              <a:srgbClr val="DEDBD3"/>
            </a:solidFill>
            <a:prstDash val="solid"/>
          </a:ln>
        </p:spPr>
      </p:sp>
      <p:sp>
        <p:nvSpPr>
          <p:cNvPr id="36" name="Text 34"/>
          <p:cNvSpPr txBox="1"/>
          <p:nvPr/>
        </p:nvSpPr>
        <p:spPr>
          <a:xfrm>
            <a:off x="3227832" y="3520440"/>
            <a:ext cx="859536" cy="457200"/>
          </a:xfrm>
          <a:prstGeom prst="rect">
            <a:avLst/>
          </a:prstGeom>
          <a:noFill/>
          <a:ln/>
        </p:spPr>
        <p:txBody>
          <a:bodyPr wrap="square" lIns="0" tIns="0" rIns="0" bIns="0" rtlCol="0" anchor="ctr"/>
          <a:lstStyle/>
          <a:p>
            <a:pPr algn="ctr" indent="0" marL="0">
              <a:buNone/>
            </a:pPr>
            <a:r>
              <a:rPr lang="en-US" sz="1100" b="1" dirty="0">
                <a:solidFill>
                  <a:srgbClr val="1B1A17"/>
                </a:solidFill>
                <a:latin typeface="Courier New" pitchFamily="34" charset="0"/>
                <a:ea typeface="Courier New" pitchFamily="34" charset="-122"/>
                <a:cs typeface="Courier New" pitchFamily="34" charset="-120"/>
              </a:rPr>
              <a:t>M4</a:t>
            </a:r>
            <a:endParaRPr lang="en-US" sz="1100" dirty="0"/>
          </a:p>
        </p:txBody>
      </p:sp>
      <p:sp>
        <p:nvSpPr>
          <p:cNvPr id="37" name="Text 35"/>
          <p:cNvSpPr txBox="1"/>
          <p:nvPr/>
        </p:nvSpPr>
        <p:spPr>
          <a:xfrm>
            <a:off x="3200400" y="4023360"/>
            <a:ext cx="914400" cy="365760"/>
          </a:xfrm>
          <a:prstGeom prst="rect">
            <a:avLst/>
          </a:prstGeom>
          <a:noFill/>
          <a:ln/>
        </p:spPr>
        <p:txBody>
          <a:bodyPr wrap="square" lIns="0" tIns="0" rIns="0" bIns="0" rtlCol="0" anchor="t"/>
          <a:lstStyle/>
          <a:p>
            <a:pPr algn="ctr" indent="0" marL="0">
              <a:buNone/>
            </a:pPr>
            <a:r>
              <a:rPr lang="en-US" sz="850" dirty="0">
                <a:solidFill>
                  <a:srgbClr val="6B6862"/>
                </a:solidFill>
                <a:latin typeface="Calibri" pitchFamily="34" charset="0"/>
                <a:ea typeface="Calibri" pitchFamily="34" charset="-122"/>
                <a:cs typeface="Calibri" pitchFamily="34" charset="-120"/>
              </a:rPr>
              <a:t>Cost model</a:t>
            </a:r>
            <a:endParaRPr lang="en-US" sz="850" dirty="0"/>
          </a:p>
        </p:txBody>
      </p:sp>
      <p:sp>
        <p:nvSpPr>
          <p:cNvPr id="38" name="Shape 36"/>
          <p:cNvSpPr/>
          <p:nvPr/>
        </p:nvSpPr>
        <p:spPr>
          <a:xfrm>
            <a:off x="4151376" y="3520440"/>
            <a:ext cx="859536" cy="457200"/>
          </a:xfrm>
          <a:prstGeom prst="rect">
            <a:avLst/>
          </a:prstGeom>
          <a:solidFill>
            <a:srgbClr val="B5541F"/>
          </a:solidFill>
          <a:ln w="6350">
            <a:solidFill>
              <a:srgbClr val="B5541F"/>
            </a:solidFill>
            <a:prstDash val="solid"/>
          </a:ln>
        </p:spPr>
      </p:sp>
      <p:sp>
        <p:nvSpPr>
          <p:cNvPr id="39" name="Text 37"/>
          <p:cNvSpPr txBox="1"/>
          <p:nvPr/>
        </p:nvSpPr>
        <p:spPr>
          <a:xfrm>
            <a:off x="4151376" y="3520440"/>
            <a:ext cx="859536"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M5</a:t>
            </a:r>
            <a:endParaRPr lang="en-US" sz="1100" dirty="0"/>
          </a:p>
        </p:txBody>
      </p:sp>
      <p:sp>
        <p:nvSpPr>
          <p:cNvPr id="40" name="Text 38"/>
          <p:cNvSpPr txBox="1"/>
          <p:nvPr/>
        </p:nvSpPr>
        <p:spPr>
          <a:xfrm>
            <a:off x="4123944" y="4023360"/>
            <a:ext cx="914400" cy="365760"/>
          </a:xfrm>
          <a:prstGeom prst="rect">
            <a:avLst/>
          </a:prstGeom>
          <a:noFill/>
          <a:ln/>
        </p:spPr>
        <p:txBody>
          <a:bodyPr wrap="square" lIns="0" tIns="0" rIns="0" bIns="0" rtlCol="0" anchor="t"/>
          <a:lstStyle/>
          <a:p>
            <a:pPr algn="ctr" indent="0" marL="0">
              <a:buNone/>
            </a:pPr>
            <a:r>
              <a:rPr lang="en-US" sz="850" b="1" dirty="0">
                <a:solidFill>
                  <a:srgbClr val="B5541F"/>
                </a:solidFill>
                <a:latin typeface="Calibri" pitchFamily="34" charset="0"/>
                <a:ea typeface="Calibri" pitchFamily="34" charset="-122"/>
                <a:cs typeface="Calibri" pitchFamily="34" charset="-120"/>
              </a:rPr>
              <a:t>Capacity sweep</a:t>
            </a:r>
            <a:endParaRPr lang="en-US" sz="850" dirty="0"/>
          </a:p>
        </p:txBody>
      </p:sp>
      <p:sp>
        <p:nvSpPr>
          <p:cNvPr id="41" name="Shape 39"/>
          <p:cNvSpPr/>
          <p:nvPr/>
        </p:nvSpPr>
        <p:spPr>
          <a:xfrm>
            <a:off x="5074920" y="3520440"/>
            <a:ext cx="859536" cy="457200"/>
          </a:xfrm>
          <a:prstGeom prst="rect">
            <a:avLst/>
          </a:prstGeom>
          <a:solidFill>
            <a:srgbClr val="F2F2EF"/>
          </a:solidFill>
          <a:ln w="6350">
            <a:solidFill>
              <a:srgbClr val="DEDBD3"/>
            </a:solidFill>
            <a:prstDash val="solid"/>
          </a:ln>
        </p:spPr>
      </p:sp>
      <p:sp>
        <p:nvSpPr>
          <p:cNvPr id="42" name="Text 40"/>
          <p:cNvSpPr txBox="1"/>
          <p:nvPr/>
        </p:nvSpPr>
        <p:spPr>
          <a:xfrm>
            <a:off x="5074920" y="3520440"/>
            <a:ext cx="859536" cy="457200"/>
          </a:xfrm>
          <a:prstGeom prst="rect">
            <a:avLst/>
          </a:prstGeom>
          <a:noFill/>
          <a:ln/>
        </p:spPr>
        <p:txBody>
          <a:bodyPr wrap="square" lIns="0" tIns="0" rIns="0" bIns="0" rtlCol="0" anchor="ctr"/>
          <a:lstStyle/>
          <a:p>
            <a:pPr algn="ctr" indent="0" marL="0">
              <a:buNone/>
            </a:pPr>
            <a:r>
              <a:rPr lang="en-US" sz="1100" b="1" dirty="0">
                <a:solidFill>
                  <a:srgbClr val="1B1A17"/>
                </a:solidFill>
                <a:latin typeface="Courier New" pitchFamily="34" charset="0"/>
                <a:ea typeface="Courier New" pitchFamily="34" charset="-122"/>
                <a:cs typeface="Courier New" pitchFamily="34" charset="-120"/>
              </a:rPr>
              <a:t>M6</a:t>
            </a:r>
            <a:endParaRPr lang="en-US" sz="1100" dirty="0"/>
          </a:p>
        </p:txBody>
      </p:sp>
      <p:sp>
        <p:nvSpPr>
          <p:cNvPr id="43" name="Text 41"/>
          <p:cNvSpPr txBox="1"/>
          <p:nvPr/>
        </p:nvSpPr>
        <p:spPr>
          <a:xfrm>
            <a:off x="5047488" y="4023360"/>
            <a:ext cx="914400" cy="365760"/>
          </a:xfrm>
          <a:prstGeom prst="rect">
            <a:avLst/>
          </a:prstGeom>
          <a:noFill/>
          <a:ln/>
        </p:spPr>
        <p:txBody>
          <a:bodyPr wrap="square" lIns="0" tIns="0" rIns="0" bIns="0" rtlCol="0" anchor="t"/>
          <a:lstStyle/>
          <a:p>
            <a:pPr algn="ctr" indent="0" marL="0">
              <a:buNone/>
            </a:pPr>
            <a:r>
              <a:rPr lang="en-US" sz="850" dirty="0">
                <a:solidFill>
                  <a:srgbClr val="6B6862"/>
                </a:solidFill>
                <a:latin typeface="Calibri" pitchFamily="34" charset="0"/>
                <a:ea typeface="Calibri" pitchFamily="34" charset="-122"/>
                <a:cs typeface="Calibri" pitchFamily="34" charset="-120"/>
              </a:rPr>
              <a:t>All models compared</a:t>
            </a:r>
            <a:endParaRPr lang="en-US" sz="850" dirty="0"/>
          </a:p>
        </p:txBody>
      </p:sp>
      <p:sp>
        <p:nvSpPr>
          <p:cNvPr id="44" name="Shape 42"/>
          <p:cNvSpPr/>
          <p:nvPr/>
        </p:nvSpPr>
        <p:spPr>
          <a:xfrm>
            <a:off x="5998464" y="3520440"/>
            <a:ext cx="859536" cy="457200"/>
          </a:xfrm>
          <a:prstGeom prst="rect">
            <a:avLst/>
          </a:prstGeom>
          <a:solidFill>
            <a:srgbClr val="F2F2EF"/>
          </a:solidFill>
          <a:ln w="6350">
            <a:solidFill>
              <a:srgbClr val="DEDBD3"/>
            </a:solidFill>
            <a:prstDash val="solid"/>
          </a:ln>
        </p:spPr>
      </p:sp>
      <p:sp>
        <p:nvSpPr>
          <p:cNvPr id="45" name="Text 43"/>
          <p:cNvSpPr txBox="1"/>
          <p:nvPr/>
        </p:nvSpPr>
        <p:spPr>
          <a:xfrm>
            <a:off x="5998464" y="3520440"/>
            <a:ext cx="859536" cy="457200"/>
          </a:xfrm>
          <a:prstGeom prst="rect">
            <a:avLst/>
          </a:prstGeom>
          <a:noFill/>
          <a:ln/>
        </p:spPr>
        <p:txBody>
          <a:bodyPr wrap="square" lIns="0" tIns="0" rIns="0" bIns="0" rtlCol="0" anchor="ctr"/>
          <a:lstStyle/>
          <a:p>
            <a:pPr algn="ctr" indent="0" marL="0">
              <a:buNone/>
            </a:pPr>
            <a:r>
              <a:rPr lang="en-US" sz="1100" b="1" dirty="0">
                <a:solidFill>
                  <a:srgbClr val="1B1A17"/>
                </a:solidFill>
                <a:latin typeface="Courier New" pitchFamily="34" charset="0"/>
                <a:ea typeface="Courier New" pitchFamily="34" charset="-122"/>
                <a:cs typeface="Courier New" pitchFamily="34" charset="-120"/>
              </a:rPr>
              <a:t>M7</a:t>
            </a:r>
            <a:endParaRPr lang="en-US" sz="1100" dirty="0"/>
          </a:p>
        </p:txBody>
      </p:sp>
      <p:sp>
        <p:nvSpPr>
          <p:cNvPr id="46" name="Text 44"/>
          <p:cNvSpPr txBox="1"/>
          <p:nvPr/>
        </p:nvSpPr>
        <p:spPr>
          <a:xfrm>
            <a:off x="5971032" y="4023360"/>
            <a:ext cx="914400" cy="365760"/>
          </a:xfrm>
          <a:prstGeom prst="rect">
            <a:avLst/>
          </a:prstGeom>
          <a:noFill/>
          <a:ln/>
        </p:spPr>
        <p:txBody>
          <a:bodyPr wrap="square" lIns="0" tIns="0" rIns="0" bIns="0" rtlCol="0" anchor="t"/>
          <a:lstStyle/>
          <a:p>
            <a:pPr algn="ctr" indent="0" marL="0">
              <a:buNone/>
            </a:pPr>
            <a:r>
              <a:rPr lang="en-US" sz="850" dirty="0">
                <a:solidFill>
                  <a:srgbClr val="6B6862"/>
                </a:solidFill>
                <a:latin typeface="Calibri" pitchFamily="34" charset="0"/>
                <a:ea typeface="Calibri" pitchFamily="34" charset="-122"/>
                <a:cs typeface="Calibri" pitchFamily="34" charset="-120"/>
              </a:rPr>
              <a:t>SHAP by scale</a:t>
            </a:r>
            <a:endParaRPr lang="en-US" sz="850" dirty="0"/>
          </a:p>
        </p:txBody>
      </p:sp>
      <p:sp>
        <p:nvSpPr>
          <p:cNvPr id="47" name="Shape 45"/>
          <p:cNvSpPr/>
          <p:nvPr/>
        </p:nvSpPr>
        <p:spPr>
          <a:xfrm>
            <a:off x="6922008" y="3520440"/>
            <a:ext cx="859536" cy="457200"/>
          </a:xfrm>
          <a:prstGeom prst="rect">
            <a:avLst/>
          </a:prstGeom>
          <a:solidFill>
            <a:srgbClr val="F2F2EF"/>
          </a:solidFill>
          <a:ln w="6350">
            <a:solidFill>
              <a:srgbClr val="DEDBD3"/>
            </a:solidFill>
            <a:prstDash val="solid"/>
          </a:ln>
        </p:spPr>
      </p:sp>
      <p:sp>
        <p:nvSpPr>
          <p:cNvPr id="48" name="Text 46"/>
          <p:cNvSpPr txBox="1"/>
          <p:nvPr/>
        </p:nvSpPr>
        <p:spPr>
          <a:xfrm>
            <a:off x="6922008" y="3520440"/>
            <a:ext cx="859536" cy="457200"/>
          </a:xfrm>
          <a:prstGeom prst="rect">
            <a:avLst/>
          </a:prstGeom>
          <a:noFill/>
          <a:ln/>
        </p:spPr>
        <p:txBody>
          <a:bodyPr wrap="square" lIns="0" tIns="0" rIns="0" bIns="0" rtlCol="0" anchor="ctr"/>
          <a:lstStyle/>
          <a:p>
            <a:pPr algn="ctr" indent="0" marL="0">
              <a:buNone/>
            </a:pPr>
            <a:r>
              <a:rPr lang="en-US" sz="1100" b="1" dirty="0">
                <a:solidFill>
                  <a:srgbClr val="1B1A17"/>
                </a:solidFill>
                <a:latin typeface="Courier New" pitchFamily="34" charset="0"/>
                <a:ea typeface="Courier New" pitchFamily="34" charset="-122"/>
                <a:cs typeface="Courier New" pitchFamily="34" charset="-120"/>
              </a:rPr>
              <a:t>M8</a:t>
            </a:r>
            <a:endParaRPr lang="en-US" sz="1100" dirty="0"/>
          </a:p>
        </p:txBody>
      </p:sp>
      <p:sp>
        <p:nvSpPr>
          <p:cNvPr id="49" name="Text 47"/>
          <p:cNvSpPr txBox="1"/>
          <p:nvPr/>
        </p:nvSpPr>
        <p:spPr>
          <a:xfrm>
            <a:off x="6894576" y="4023360"/>
            <a:ext cx="914400" cy="365760"/>
          </a:xfrm>
          <a:prstGeom prst="rect">
            <a:avLst/>
          </a:prstGeom>
          <a:noFill/>
          <a:ln/>
        </p:spPr>
        <p:txBody>
          <a:bodyPr wrap="square" lIns="0" tIns="0" rIns="0" bIns="0" rtlCol="0" anchor="t"/>
          <a:lstStyle/>
          <a:p>
            <a:pPr algn="ctr" indent="0" marL="0">
              <a:buNone/>
            </a:pPr>
            <a:r>
              <a:rPr lang="en-US" sz="850" dirty="0">
                <a:solidFill>
                  <a:srgbClr val="6B6862"/>
                </a:solidFill>
                <a:latin typeface="Calibri" pitchFamily="34" charset="0"/>
                <a:ea typeface="Calibri" pitchFamily="34" charset="-122"/>
                <a:cs typeface="Calibri" pitchFamily="34" charset="-120"/>
              </a:rPr>
              <a:t>Robustness + paper</a:t>
            </a:r>
            <a:endParaRPr lang="en-US" sz="850" dirty="0"/>
          </a:p>
        </p:txBody>
      </p:sp>
      <p:sp>
        <p:nvSpPr>
          <p:cNvPr id="50" name="Shape 48"/>
          <p:cNvSpPr/>
          <p:nvPr/>
        </p:nvSpPr>
        <p:spPr>
          <a:xfrm>
            <a:off x="7845552" y="3520440"/>
            <a:ext cx="859536" cy="457200"/>
          </a:xfrm>
          <a:prstGeom prst="rect">
            <a:avLst/>
          </a:prstGeom>
          <a:solidFill>
            <a:srgbClr val="F2F2EF"/>
          </a:solidFill>
          <a:ln w="6350">
            <a:solidFill>
              <a:srgbClr val="DEDBD3"/>
            </a:solidFill>
            <a:prstDash val="solid"/>
          </a:ln>
        </p:spPr>
      </p:sp>
      <p:sp>
        <p:nvSpPr>
          <p:cNvPr id="51" name="Text 49"/>
          <p:cNvSpPr txBox="1"/>
          <p:nvPr/>
        </p:nvSpPr>
        <p:spPr>
          <a:xfrm>
            <a:off x="7845552" y="3520440"/>
            <a:ext cx="859536" cy="457200"/>
          </a:xfrm>
          <a:prstGeom prst="rect">
            <a:avLst/>
          </a:prstGeom>
          <a:noFill/>
          <a:ln/>
        </p:spPr>
        <p:txBody>
          <a:bodyPr wrap="square" lIns="0" tIns="0" rIns="0" bIns="0" rtlCol="0" anchor="ctr"/>
          <a:lstStyle/>
          <a:p>
            <a:pPr algn="ctr" indent="0" marL="0">
              <a:buNone/>
            </a:pPr>
            <a:r>
              <a:rPr lang="en-US" sz="1100" b="1" dirty="0">
                <a:solidFill>
                  <a:srgbClr val="1B1A17"/>
                </a:solidFill>
                <a:latin typeface="Courier New" pitchFamily="34" charset="0"/>
                <a:ea typeface="Courier New" pitchFamily="34" charset="-122"/>
                <a:cs typeface="Courier New" pitchFamily="34" charset="-120"/>
              </a:rPr>
              <a:t>M9</a:t>
            </a:r>
            <a:endParaRPr lang="en-US" sz="1100" dirty="0"/>
          </a:p>
        </p:txBody>
      </p:sp>
      <p:sp>
        <p:nvSpPr>
          <p:cNvPr id="52" name="Text 50"/>
          <p:cNvSpPr txBox="1"/>
          <p:nvPr/>
        </p:nvSpPr>
        <p:spPr>
          <a:xfrm>
            <a:off x="7818120" y="4023360"/>
            <a:ext cx="914400" cy="365760"/>
          </a:xfrm>
          <a:prstGeom prst="rect">
            <a:avLst/>
          </a:prstGeom>
          <a:noFill/>
          <a:ln/>
        </p:spPr>
        <p:txBody>
          <a:bodyPr wrap="square" lIns="0" tIns="0" rIns="0" bIns="0" rtlCol="0" anchor="t"/>
          <a:lstStyle/>
          <a:p>
            <a:pPr algn="ctr" indent="0" marL="0">
              <a:buNone/>
            </a:pPr>
            <a:r>
              <a:rPr lang="en-US" sz="850" dirty="0">
                <a:solidFill>
                  <a:srgbClr val="6B6862"/>
                </a:solidFill>
                <a:latin typeface="Calibri" pitchFamily="34" charset="0"/>
                <a:ea typeface="Calibri" pitchFamily="34" charset="-122"/>
                <a:cs typeface="Calibri" pitchFamily="34" charset="-120"/>
              </a:rPr>
              <a:t>Library + demo</a:t>
            </a:r>
            <a:endParaRPr lang="en-US" sz="850" dirty="0"/>
          </a:p>
        </p:txBody>
      </p:sp>
      <p:sp>
        <p:nvSpPr>
          <p:cNvPr id="53" name="Text 51"/>
          <p:cNvSpPr txBox="1"/>
          <p:nvPr/>
        </p:nvSpPr>
        <p:spPr>
          <a:xfrm>
            <a:off x="457200" y="4462272"/>
            <a:ext cx="8229600" cy="274320"/>
          </a:xfrm>
          <a:prstGeom prst="rect">
            <a:avLst/>
          </a:prstGeom>
          <a:noFill/>
          <a:ln/>
        </p:spPr>
        <p:txBody>
          <a:bodyPr wrap="square" lIns="0" tIns="0" rIns="0" bIns="0" rtlCol="0" anchor="ctr"/>
          <a:lstStyle/>
          <a:p>
            <a:pPr indent="0" marL="0">
              <a:buNone/>
            </a:pPr>
            <a:r>
              <a:rPr lang="en-US" sz="1100" b="1" dirty="0">
                <a:solidFill>
                  <a:srgbClr val="B5541F"/>
                </a:solidFill>
                <a:latin typeface="Calibri" pitchFamily="34" charset="0"/>
                <a:ea typeface="Calibri" pitchFamily="34" charset="-122"/>
                <a:cs typeface="Calibri" pitchFamily="34" charset="-120"/>
              </a:rPr>
              <a:t>★  FIRST RESULT AT MONTH 5</a:t>
            </a:r>
            <a:pPr indent="0" marL="0">
              <a:buNone/>
            </a:pPr>
            <a:r>
              <a:rPr lang="en-US" sz="1100" dirty="0">
                <a:solidFill>
                  <a:srgbClr val="3B3934"/>
                </a:solidFill>
                <a:latin typeface="Calibri" pitchFamily="34" charset="0"/>
                <a:ea typeface="Calibri" pitchFamily="34" charset="-122"/>
                <a:cs typeface="Calibri" pitchFamily="34" charset="-120"/>
              </a:rPr>
              <a:t>  —  the first capacity curve exists, with four months of margin remaining.</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2A5C"/>
        </a:solidFill>
      </p:bgPr>
    </p:bg>
    <p:spTree>
      <p:nvGrpSpPr>
        <p:cNvPr id="1" name=""/>
        <p:cNvGrpSpPr/>
        <p:nvPr/>
      </p:nvGrpSpPr>
      <p:grpSpPr>
        <a:xfrm>
          <a:off x="0" y="0"/>
          <a:ext cx="0" cy="0"/>
          <a:chOff x="0" y="0"/>
          <a:chExt cx="0" cy="0"/>
        </a:xfrm>
      </p:grpSpPr>
      <p:sp>
        <p:nvSpPr>
          <p:cNvPr id="2" name="Text 0"/>
          <p:cNvSpPr txBox="1"/>
          <p:nvPr/>
        </p:nvSpPr>
        <p:spPr>
          <a:xfrm>
            <a:off x="457200" y="310896"/>
            <a:ext cx="6400800" cy="219456"/>
          </a:xfrm>
          <a:prstGeom prst="rect">
            <a:avLst/>
          </a:prstGeom>
          <a:noFill/>
          <a:ln/>
        </p:spPr>
        <p:txBody>
          <a:bodyPr wrap="square" lIns="0" tIns="0" rIns="0" bIns="0" rtlCol="0" anchor="ctr"/>
          <a:lstStyle/>
          <a:p>
            <a:pPr indent="0" marL="0">
              <a:buNone/>
            </a:pPr>
            <a:r>
              <a:rPr lang="en-US" sz="900" b="1" spc="200" kern="0" dirty="0">
                <a:solidFill>
                  <a:srgbClr val="C9D2F0"/>
                </a:solidFill>
                <a:latin typeface="Calibri" pitchFamily="34" charset="0"/>
                <a:ea typeface="Calibri" pitchFamily="34" charset="-122"/>
                <a:cs typeface="Calibri" pitchFamily="34" charset="-120"/>
              </a:rPr>
              <a:t>THE ASK</a:t>
            </a:r>
            <a:endParaRPr lang="en-US" sz="900" dirty="0"/>
          </a:p>
        </p:txBody>
      </p:sp>
      <p:sp>
        <p:nvSpPr>
          <p:cNvPr id="3" name="Text 1"/>
          <p:cNvSpPr txBox="1"/>
          <p:nvPr/>
        </p:nvSpPr>
        <p:spPr>
          <a:xfrm>
            <a:off x="457200" y="566928"/>
            <a:ext cx="8229600" cy="77724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Feasible, safe, and ready to start</a:t>
            </a:r>
            <a:endParaRPr lang="en-US" sz="2800" dirty="0"/>
          </a:p>
        </p:txBody>
      </p:sp>
      <p:sp>
        <p:nvSpPr>
          <p:cNvPr id="4" name="Text 2"/>
          <p:cNvSpPr txBox="1"/>
          <p:nvPr/>
        </p:nvSpPr>
        <p:spPr>
          <a:xfrm>
            <a:off x="7772400" y="4773168"/>
            <a:ext cx="914400" cy="201168"/>
          </a:xfrm>
          <a:prstGeom prst="rect">
            <a:avLst/>
          </a:prstGeom>
          <a:noFill/>
          <a:ln/>
        </p:spPr>
        <p:txBody>
          <a:bodyPr wrap="square" lIns="0" tIns="0" rIns="0" bIns="0" rtlCol="0" anchor="ctr"/>
          <a:lstStyle/>
          <a:p>
            <a:pPr algn="r" indent="0" marL="0">
              <a:buNone/>
            </a:pPr>
            <a:r>
              <a:rPr lang="en-US" sz="800" dirty="0">
                <a:solidFill>
                  <a:srgbClr val="6E7BB0"/>
                </a:solidFill>
                <a:latin typeface="Courier New" pitchFamily="34" charset="0"/>
                <a:ea typeface="Courier New" pitchFamily="34" charset="-122"/>
                <a:cs typeface="Courier New" pitchFamily="34" charset="-120"/>
              </a:rPr>
              <a:t>12 / 12</a:t>
            </a:r>
            <a:endParaRPr lang="en-US" sz="800" dirty="0"/>
          </a:p>
        </p:txBody>
      </p:sp>
      <p:sp>
        <p:nvSpPr>
          <p:cNvPr id="5" name="Shape 3"/>
          <p:cNvSpPr/>
          <p:nvPr/>
        </p:nvSpPr>
        <p:spPr>
          <a:xfrm>
            <a:off x="457200" y="1463040"/>
            <a:ext cx="475488" cy="475488"/>
          </a:xfrm>
          <a:prstGeom prst="ellipse">
            <a:avLst/>
          </a:prstGeom>
          <a:solidFill>
            <a:srgbClr val="2C3E8F"/>
          </a:solidFill>
          <a:ln w="12700">
            <a:solidFill>
              <a:srgbClr val="2C3E8F"/>
            </a:solidFill>
            <a:prstDash val="solid"/>
          </a:ln>
        </p:spPr>
      </p:sp>
      <p:pic>
        <p:nvPicPr>
          <p:cNvPr id="6" name="Image 0" descr="preencoded.png">    </p:cNvPr>
          <p:cNvPicPr>
            <a:picLocks noChangeAspect="1"/>
          </p:cNvPicPr>
          <p:nvPr/>
        </p:nvPicPr>
        <p:blipFill>
          <a:blip r:embed="rId1"/>
          <a:stretch>
            <a:fillRect/>
          </a:stretch>
        </p:blipFill>
        <p:spPr>
          <a:xfrm>
            <a:off x="580827" y="1586667"/>
            <a:ext cx="228234" cy="228234"/>
          </a:xfrm>
          <a:prstGeom prst="rect">
            <a:avLst/>
          </a:prstGeom>
        </p:spPr>
      </p:pic>
      <p:sp>
        <p:nvSpPr>
          <p:cNvPr id="7" name="Text 4"/>
          <p:cNvSpPr txBox="1"/>
          <p:nvPr/>
        </p:nvSpPr>
        <p:spPr>
          <a:xfrm>
            <a:off x="457200" y="2029968"/>
            <a:ext cx="2606040" cy="347472"/>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Feasible</a:t>
            </a:r>
            <a:endParaRPr lang="en-US" sz="1600" dirty="0"/>
          </a:p>
        </p:txBody>
      </p:sp>
      <p:sp>
        <p:nvSpPr>
          <p:cNvPr id="8" name="Text 5"/>
          <p:cNvSpPr txBox="1"/>
          <p:nvPr/>
        </p:nvSpPr>
        <p:spPr>
          <a:xfrm>
            <a:off x="457200" y="2395728"/>
            <a:ext cx="2606040" cy="182880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C9D2F0"/>
                </a:solidFill>
                <a:latin typeface="Calibri" pitchFamily="34" charset="0"/>
                <a:ea typeface="Calibri" pitchFamily="34" charset="-122"/>
                <a:cs typeface="Calibri" pitchFamily="34" charset="-120"/>
              </a:rPr>
              <a:t>Indian equities: ~500 stocks × 15 years ≈ 90,000 rows — runs on a laptop</a:t>
            </a:r>
            <a:endParaRPr lang="en-US" sz="1100" dirty="0"/>
          </a:p>
          <a:p>
            <a:pPr marL="342900" indent="-342900">
              <a:spcAft>
                <a:spcPts val="500"/>
              </a:spcAft>
              <a:buSzPct val="100000"/>
              <a:buChar char="•"/>
            </a:pPr>
            <a:r>
              <a:rPr lang="en-US" sz="1100" dirty="0">
                <a:solidFill>
                  <a:srgbClr val="C9D2F0"/>
                </a:solidFill>
                <a:latin typeface="Calibri" pitchFamily="34" charset="0"/>
                <a:ea typeface="Calibri" pitchFamily="34" charset="-122"/>
                <a:cs typeface="Calibri" pitchFamily="34" charset="-120"/>
              </a:rPr>
              <a:t>Lower liquidity than the US, so the effect is larger and easier to detect</a:t>
            </a:r>
            <a:endParaRPr lang="en-US" sz="1100" dirty="0"/>
          </a:p>
          <a:p>
            <a:pPr marL="342900" indent="-342900">
              <a:spcAft>
                <a:spcPts val="500"/>
              </a:spcAft>
              <a:buSzPct val="100000"/>
              <a:buChar char="•"/>
            </a:pPr>
            <a:r>
              <a:rPr lang="en-US" sz="1100" dirty="0">
                <a:solidFill>
                  <a:srgbClr val="C9D2F0"/>
                </a:solidFill>
                <a:latin typeface="Calibri" pitchFamily="34" charset="0"/>
                <a:ea typeface="Calibri" pitchFamily="34" charset="-122"/>
                <a:cs typeface="Calibri" pitchFamily="34" charset="-120"/>
              </a:rPr>
              <a:t>Free public data (NSE, filings); no paid subscription</a:t>
            </a:r>
            <a:endParaRPr lang="en-US" sz="1100" dirty="0"/>
          </a:p>
          <a:p>
            <a:pPr marL="342900" indent="-342900">
              <a:spcAft>
                <a:spcPts val="500"/>
              </a:spcAft>
              <a:buSzPct val="100000"/>
              <a:buChar char="•"/>
            </a:pPr>
            <a:r>
              <a:rPr lang="en-US" sz="1100" dirty="0">
                <a:solidFill>
                  <a:srgbClr val="C9D2F0"/>
                </a:solidFill>
                <a:latin typeface="Calibri" pitchFamily="34" charset="0"/>
                <a:ea typeface="Calibri" pitchFamily="34" charset="-122"/>
                <a:cs typeface="Calibri" pitchFamily="34" charset="-120"/>
              </a:rPr>
              <a:t>Standard libraries: LightGBM, scikit-learn, SHAP</a:t>
            </a:r>
            <a:endParaRPr lang="en-US" sz="1100" dirty="0"/>
          </a:p>
        </p:txBody>
      </p:sp>
      <p:sp>
        <p:nvSpPr>
          <p:cNvPr id="9" name="Shape 6"/>
          <p:cNvSpPr/>
          <p:nvPr/>
        </p:nvSpPr>
        <p:spPr>
          <a:xfrm>
            <a:off x="3291840" y="1463040"/>
            <a:ext cx="475488" cy="475488"/>
          </a:xfrm>
          <a:prstGeom prst="ellipse">
            <a:avLst/>
          </a:prstGeom>
          <a:solidFill>
            <a:srgbClr val="2C3E8F"/>
          </a:solidFill>
          <a:ln w="12700">
            <a:solidFill>
              <a:srgbClr val="2C3E8F"/>
            </a:solidFill>
            <a:prstDash val="solid"/>
          </a:ln>
        </p:spPr>
      </p:sp>
      <p:pic>
        <p:nvPicPr>
          <p:cNvPr id="10" name="Image 1" descr="preencoded.png">    </p:cNvPr>
          <p:cNvPicPr>
            <a:picLocks noChangeAspect="1"/>
          </p:cNvPicPr>
          <p:nvPr/>
        </p:nvPicPr>
        <p:blipFill>
          <a:blip r:embed="rId2"/>
          <a:stretch>
            <a:fillRect/>
          </a:stretch>
        </p:blipFill>
        <p:spPr>
          <a:xfrm>
            <a:off x="3415467" y="1586667"/>
            <a:ext cx="228234" cy="228234"/>
          </a:xfrm>
          <a:prstGeom prst="rect">
            <a:avLst/>
          </a:prstGeom>
        </p:spPr>
      </p:pic>
      <p:sp>
        <p:nvSpPr>
          <p:cNvPr id="11" name="Text 7"/>
          <p:cNvSpPr txBox="1"/>
          <p:nvPr/>
        </p:nvSpPr>
        <p:spPr>
          <a:xfrm>
            <a:off x="3291840" y="2029968"/>
            <a:ext cx="2606040" cy="347472"/>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Cannot fail by not working</a:t>
            </a:r>
            <a:endParaRPr lang="en-US" sz="1600" dirty="0"/>
          </a:p>
        </p:txBody>
      </p:sp>
      <p:sp>
        <p:nvSpPr>
          <p:cNvPr id="12" name="Text 8"/>
          <p:cNvSpPr txBox="1"/>
          <p:nvPr/>
        </p:nvSpPr>
        <p:spPr>
          <a:xfrm>
            <a:off x="3291840" y="2395728"/>
            <a:ext cx="2606040" cy="182880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C9D2F0"/>
                </a:solidFill>
                <a:latin typeface="Calibri" pitchFamily="34" charset="0"/>
                <a:ea typeface="Calibri" pitchFamily="34" charset="-122"/>
                <a:cs typeface="Calibri" pitchFamily="34" charset="-120"/>
              </a:rPr>
              <a:t>The deliverable is a measured relationship, not a performance claim</a:t>
            </a:r>
            <a:endParaRPr lang="en-US" sz="1100" dirty="0"/>
          </a:p>
          <a:p>
            <a:pPr marL="342900" indent="-342900">
              <a:spcAft>
                <a:spcPts val="500"/>
              </a:spcAft>
              <a:buSzPct val="100000"/>
              <a:buChar char="•"/>
            </a:pPr>
            <a:r>
              <a:rPr lang="en-US" sz="1100" dirty="0">
                <a:solidFill>
                  <a:srgbClr val="C9D2F0"/>
                </a:solidFill>
                <a:latin typeface="Calibri" pitchFamily="34" charset="0"/>
                <a:ea typeface="Calibri" pitchFamily="34" charset="-122"/>
                <a:cs typeface="Calibri" pitchFamily="34" charset="-120"/>
              </a:rPr>
              <a:t>If the models decay identically, that is a publishable negative result</a:t>
            </a:r>
            <a:endParaRPr lang="en-US" sz="1100" dirty="0"/>
          </a:p>
          <a:p>
            <a:pPr marL="342900" indent="-342900">
              <a:spcAft>
                <a:spcPts val="500"/>
              </a:spcAft>
              <a:buSzPct val="100000"/>
              <a:buChar char="•"/>
            </a:pPr>
            <a:r>
              <a:rPr lang="en-US" sz="1100" dirty="0">
                <a:solidFill>
                  <a:srgbClr val="C9D2F0"/>
                </a:solidFill>
                <a:latin typeface="Calibri" pitchFamily="34" charset="0"/>
                <a:ea typeface="Calibri" pitchFamily="34" charset="-122"/>
                <a:cs typeface="Calibri" pitchFamily="34" charset="-120"/>
              </a:rPr>
              <a:t>Biggest risk — impact parameters — handled by reporting a band across published values, not a false point estimate</a:t>
            </a:r>
            <a:endParaRPr lang="en-US" sz="1100" dirty="0"/>
          </a:p>
        </p:txBody>
      </p:sp>
      <p:sp>
        <p:nvSpPr>
          <p:cNvPr id="13" name="Shape 9"/>
          <p:cNvSpPr/>
          <p:nvPr/>
        </p:nvSpPr>
        <p:spPr>
          <a:xfrm>
            <a:off x="6126480" y="1463040"/>
            <a:ext cx="475488" cy="475488"/>
          </a:xfrm>
          <a:prstGeom prst="ellipse">
            <a:avLst/>
          </a:prstGeom>
          <a:solidFill>
            <a:srgbClr val="2C3E8F"/>
          </a:solidFill>
          <a:ln w="12700">
            <a:solidFill>
              <a:srgbClr val="2C3E8F"/>
            </a:solidFill>
            <a:prstDash val="solid"/>
          </a:ln>
        </p:spPr>
      </p:sp>
      <p:pic>
        <p:nvPicPr>
          <p:cNvPr id="14" name="Image 2" descr="preencoded.png">    </p:cNvPr>
          <p:cNvPicPr>
            <a:picLocks noChangeAspect="1"/>
          </p:cNvPicPr>
          <p:nvPr/>
        </p:nvPicPr>
        <p:blipFill>
          <a:blip r:embed="rId3"/>
          <a:stretch>
            <a:fillRect/>
          </a:stretch>
        </p:blipFill>
        <p:spPr>
          <a:xfrm>
            <a:off x="6250107" y="1586667"/>
            <a:ext cx="228234" cy="228234"/>
          </a:xfrm>
          <a:prstGeom prst="rect">
            <a:avLst/>
          </a:prstGeom>
        </p:spPr>
      </p:pic>
      <p:sp>
        <p:nvSpPr>
          <p:cNvPr id="15" name="Text 10"/>
          <p:cNvSpPr txBox="1"/>
          <p:nvPr/>
        </p:nvSpPr>
        <p:spPr>
          <a:xfrm>
            <a:off x="6126480" y="2029968"/>
            <a:ext cx="2606040" cy="347472"/>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The ask</a:t>
            </a:r>
            <a:endParaRPr lang="en-US" sz="1600" dirty="0"/>
          </a:p>
        </p:txBody>
      </p:sp>
      <p:sp>
        <p:nvSpPr>
          <p:cNvPr id="16" name="Text 11"/>
          <p:cNvSpPr txBox="1"/>
          <p:nvPr/>
        </p:nvSpPr>
        <p:spPr>
          <a:xfrm>
            <a:off x="6126480" y="2395728"/>
            <a:ext cx="2606040" cy="182880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C9D2F0"/>
                </a:solidFill>
                <a:latin typeface="Calibri" pitchFamily="34" charset="0"/>
                <a:ea typeface="Calibri" pitchFamily="34" charset="-122"/>
                <a:cs typeface="Calibri" pitchFamily="34" charset="-120"/>
              </a:rPr>
              <a:t>Approval of the topic</a:t>
            </a:r>
            <a:endParaRPr lang="en-US" sz="1100" dirty="0"/>
          </a:p>
          <a:p>
            <a:pPr marL="342900" indent="-342900">
              <a:spcAft>
                <a:spcPts val="500"/>
              </a:spcAft>
              <a:buSzPct val="100000"/>
              <a:buChar char="•"/>
            </a:pPr>
            <a:r>
              <a:rPr lang="en-US" sz="1100" dirty="0">
                <a:solidFill>
                  <a:srgbClr val="C9D2F0"/>
                </a:solidFill>
                <a:latin typeface="Calibri" pitchFamily="34" charset="0"/>
                <a:ea typeface="Calibri" pitchFamily="34" charset="-122"/>
                <a:cs typeface="Calibri" pitchFamily="34" charset="-120"/>
              </a:rPr>
              <a:t>A supervisor from ML or data science</a:t>
            </a:r>
            <a:endParaRPr lang="en-US" sz="1100" dirty="0"/>
          </a:p>
          <a:p>
            <a:pPr marL="342900" indent="-342900">
              <a:spcAft>
                <a:spcPts val="500"/>
              </a:spcAft>
              <a:buSzPct val="100000"/>
              <a:buChar char="•"/>
            </a:pPr>
            <a:r>
              <a:rPr lang="en-US" sz="1100" dirty="0">
                <a:solidFill>
                  <a:srgbClr val="C9D2F0"/>
                </a:solidFill>
                <a:latin typeface="Calibri" pitchFamily="34" charset="0"/>
                <a:ea typeface="Calibri" pitchFamily="34" charset="-122"/>
                <a:cs typeface="Calibri" pitchFamily="34" charset="-120"/>
              </a:rPr>
              <a:t>No cluster access required</a:t>
            </a:r>
            <a:endParaRPr lang="en-US" sz="1100" dirty="0"/>
          </a:p>
          <a:p>
            <a:pPr marL="342900" indent="-342900">
              <a:spcAft>
                <a:spcPts val="500"/>
              </a:spcAft>
              <a:buSzPct val="100000"/>
              <a:buChar char="•"/>
            </a:pPr>
            <a:r>
              <a:rPr lang="en-US" sz="1100" dirty="0">
                <a:solidFill>
                  <a:srgbClr val="C9D2F0"/>
                </a:solidFill>
                <a:latin typeface="Calibri" pitchFamily="34" charset="0"/>
                <a:ea typeface="Calibri" pitchFamily="34" charset="-122"/>
                <a:cs typeface="Calibri" pitchFamily="34" charset="-120"/>
              </a:rPr>
              <a:t>Output: paper, benchmark, open-source library, interactive demo</a:t>
            </a:r>
            <a:endParaRPr lang="en-US" sz="1100" dirty="0"/>
          </a:p>
        </p:txBody>
      </p:sp>
      <p:sp>
        <p:nvSpPr>
          <p:cNvPr id="17" name="Text 12"/>
          <p:cNvSpPr txBox="1"/>
          <p:nvPr/>
        </p:nvSpPr>
        <p:spPr>
          <a:xfrm>
            <a:off x="457200" y="4315968"/>
            <a:ext cx="8229600" cy="411480"/>
          </a:xfrm>
          <a:prstGeom prst="rect">
            <a:avLst/>
          </a:prstGeom>
          <a:noFill/>
          <a:ln/>
        </p:spPr>
        <p:txBody>
          <a:bodyPr wrap="square" lIns="0" tIns="0" rIns="0" bIns="0" rtlCol="0" anchor="ctr"/>
          <a:lstStyle/>
          <a:p>
            <a:pPr indent="0" marL="0">
              <a:buNone/>
            </a:pPr>
            <a:r>
              <a:rPr lang="en-US" sz="1300" i="1" dirty="0">
                <a:solidFill>
                  <a:srgbClr val="C9D2F0"/>
                </a:solidFill>
                <a:latin typeface="Cambria" pitchFamily="34" charset="0"/>
                <a:ea typeface="Cambria" pitchFamily="34" charset="-122"/>
                <a:cs typeface="Cambria" pitchFamily="34" charset="-120"/>
              </a:rPr>
              <a:t>An accepted principle from systems ML, applied for the first time to financial ML, on a market where nobody has measured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CapBench — Deployment-Aware Evaluation of ML Models in Finance</dc:title>
  <dc:subject>PptxGenJS Presentation</dc:subject>
  <dc:creator>CapBench proposal</dc:creator>
  <cp:lastModifiedBy>CapBench proposal</cp:lastModifiedBy>
  <cp:revision>1</cp:revision>
  <dcterms:created xsi:type="dcterms:W3CDTF">2026-09-11T03:48:00Z</dcterms:created>
  <dcterms:modified xsi:type="dcterms:W3CDTF">2026-09-11T03:48:00Z</dcterms:modified>
</cp:coreProperties>
</file>