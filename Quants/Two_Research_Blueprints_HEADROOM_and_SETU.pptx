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summarises two complete research blueprints. HEADROOM asks: when the power grid tells an AI data centre to cut consumption, which jobs slow down so the cluster loses the least value? SETU asks: when one share can settle two ways — netted tomorrow or atomically tonight — which trades should take which rail? Different domains, identical method: survey the research, list the real institutional problems, prove the gap, score the candidates, attack the winner, then specify the survivor in full. I'll walk each blueprint in turn and close with what they share.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details, the shared skeleton. Both reports screen roughly thirty papers, deep-dive five, enumerate twenty-five to twenty-eight concrete institutional problems, prove which gap is real, generate five candidate projects, score them on a weighted matrix, attack the top candidates as a sceptical CTO or regulator would, and specify the winner completely — math, architecture, evaluation, nine-month plan. HEADROOM lives in AI infrastructure; SETU in market infrastructure. Keep the skeleton in mind and the two projects become easy to compare.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HEADROOM starts from a macro fact: the bottleneck on AI growth has moved from chips to electricity. Getting grid power for a new site takes two to seven years; the interconnection queue holds over two terawatts of waiting projects; PJM's capacity auction cleared at its price cap and missed its reliability target for the first time, with data centres driving ninety-four percent of load growth. Equipment lead times for transformers and switchgear are measured in years. Every month of delay on a multi-billion-dollar site is capital sitting idle — which is why flexibility suddenly matters.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studies that show the constraint show the exit. Duke calculated the existing US grid can absorb seventy-six to a hundred and twenty-six gigawatts of new load if that load can curtail for a quarter to one percent of hours. The industry has already proven the concept: Google contracts a gigawatt of demand response, Emerald AI demonstrated a twenty-five percent power cut for three hours with no quality-of-service loss, and Texas law now makes curtailment mandatory for large loads. What's missing is the optimisation layer: every deployed system uses fixed rules, not a cost model. That missing layer is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papers anchor the design, and each contributes one ingredient while leaving exactly one gap. Perseus supplies the per-job power–throughput frontier — the 'supply curve' of flexibility. Pollux supplies the objective: goodput, so slowing a job has a measurable cost. TAPAS supplies inference power and thermal behaviour. Google's carbon-aware paper supplies the grid interface — capacity curves — but only at hourly granularity with no cost model. Meta's reliability study supplies the failure physics. No published open system combines all five ingredients into one controller. That combination is HEADROOM.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problem statement in one paragraph. The controller decides every five minutes: how much power each training job draws along its frontier, how many inference replicas each service keeps, how warm the coolant can run, and whether the battery discharges — so that a contracted power reduction is met at minimum total cost. The subtlety is the coupling: cut power uniformly and you slow the wrong jobs; raise coolant temperature to save energy and you eat your thermal safety margin; suspend a job and you trigger a checkpoint storm. Each lever trades against the others, which is precisely why rule-based systems underperform — and why a single joint optimiser is the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a hierarchy. The day-ahead layer commits how much flexibility to sell to the grid, hour by hour, using scenario forecasts. The operational layer — the core — re-solves a mixed-integer program every five minutes with the latest state: temperatures, battery charge, work remaining, actual demand. The sub-second layer is delegated to hardware; NVIDIA's power shelves handle millisecond swings, so the model represents it only as a ramp-rate constraint. Everything runs on free solvers — HiGHS solves each five-minute step in seconds — which is what makes the system laptop-scale and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mathematical form is what makes the controller honest. Every term is priced: energy at the locational price, the monthly demand charge at the horizon peak, penalties for missing a contracted reduction, training delay at each job's dollar value per hour, dropped inference requests at their cost, plus switching and battery wear. Hard constraints carry the physics — thermal dynamics, ramp limits, GPU capacity, service-level objectives from demand quantiles, and reliability rules like checkpointing before any suspension. A typical step has a few thousand binary variables and solves in seconds with the free HiGHS solver. The research output is not one number but a Pareto frontier: flexibility delivered versus compute value lost.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lives in a digital twin so hyperscale scenarios can be tested without proprietary access. The default cluster is two thousand H100-class GPUs in liquid-cooled racks with a curtailable power tranche mirroring the Duke one-percent regime. Workloads come from public traces: job arrivals from Alibaba and Acme, inference demand replayed from Azure's LLM traces, failures calibrated to Meta's published rates. Physics is fitted from measurements — Zeus and Perseus curves, the NLR 0.1-second power dataset, real electricity prices. Against eight baselines spanning rules, fair capping, batch shifting and reinforcement learning, the twin reports the full metric set and Pareto frontiers under identical seeds.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selection was earned, not assumed. On the weighted matrix HEADROOM scores one-fifty-two and a half out of a hundred and seventy, ahead of failure-aware orchestration, cooling control, geo-distributed serving and placement. Its real strength is the adversarial review. Asked whether commercial systems already solve it, the answer is that Emerald and NVIDIA ship rule-based tools with no published cost model — the activity proves the problem is worth money while the absence of an open, optimal controller is the research gap. Asked whether a student can build it, every component is a standard tool. And if uniform capping turns out to be nearly optimal, that negative result is itself publishable — the project cannot fail by not working.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 lives in market infrastructure, and the setup is remarkably parallel. Since late 2025, the same US share can settle two ways. The traditional rail nets hundreds of trades into one daily obligation — netting removes about ninety-eight percent of cash movement — but leaves counterparty exposure overnight and permits settlement fails. The tokenized rail settles each trade atomically, at any hour, with finality — but it is gross and must be pre-funded, which the ECB calls a significant opportunity cost. Every serious institution is keeping both rails. None has published a rule for which trades should take which one. That missing rule is SETU — the name is Sanskrit for bridge.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institutional evidence is dated and primary-sourced. In December 2025 the SEC let DTC tokenize the Russell 1000 for three years; crucially, the tokens carry no settlement value at DTC during the pilot, so liquidity lives in two places that do not net against each other. In March 2026 Nasdaq won approval to trade tokenized shares on the same order book as traditional ones — one execution, two possible settlements. The production pilot went live in July with more than fifty firms across two chains. India's central bank and markets regulator launched the identical structure for bonds in September, and the ECB's Pontes bridge went live the same month. The routing decision is now a daily operational question for hundreds of firms.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SETU's five anchors are the strongest theory of settlement economics, and every one of them is single-rail. Khapko and Zoican prove settlement speed should be flexible — but for one asset on one rail. Chiu and Koeppl show speed is a priced good — under proof-of-work assumptions that no longer apply. The New York Fed's work shows trading and settlement must be designed jointly — but models no liquidity cost. The Wharton framework supplies the speed-matching principle — stated as a principle, not an algorithm. And the Bank of England's institutional analysis predicted exactly today's hybrid outcome and then stopped at 'both are needed'. The gap all five point at: who chooses which trades settle fast, on what information, at what liquidity price?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analysis proves — rather than assumes — that adaptive rail allocation is the largest open problem: it is created by coexistence itself, unanswered by any published model, explicitly requested by SIFMA, the ECB and the FSB's 'benefits unproven' framing, and tractable with public data. The research question is stated with a numeric target: at least fifteen percent cost reduction against both pure regimes, with fails and peak liquidity no worse than the netted baseline. Six hypotheses make it falsifiable — including the U-shaped cost curve with an interior optimum, and the stress hypothesis that the optimal atomic share should fall when funding is expensive. A corner solution is an acceptable outcome: 'atomic settlement is never worth it here' is exactly the evidence regulators have asked for.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financial model prices both rails term by term. The atomic rail pays for liquidity — capital pre-funded at the funding rate — plus a priced smart-contract hazard and a haircut that depends on which cash asset settles the leg. The netted rail pays expected counterparty loss over the settlement lag and expected fail cost: predicted fail probability times penalties calibrated to CSDR rates. Everything is calibrated from public data — SEC fails-to-deliver files, FRED rates, penalty schedules, published netting ratios. The honest-data rule from the report: parameters come from published research and are swept across their full plausible range, so results ship as bands with confidence intervals, never as false-precision points.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tokenization architecture is deliberately conservative: it mirrors DTC's published structure so every design choice is defensible. The security token follows the ERC-3643 standard — identity registry, compliance modules, forced recovery by the depository — with a one-to-one mint-and-lock invariant. The atomic rail is a delivery-versus-payment escrow: both legs move in one transaction or the whole thing reverts. The netted rail computes multilateral obligations deterministically and executes them at cut-off. The depository keeps a root authority exactly as the no-action letter requires. And the report is explicit about what stays off-chain — matching, the model, the optimisation, KYC evidence, the official record — because a regulator would ask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runs in a calibrated two-rail discrete-event simulator. Four regimes compete on identical random seeds: all-netted, all-atomic, a static hybrid, and the adaptive router. The asset universe mirrors DTC eligibility — forty Russell names across liquidity deciles, the three pilot ETFs, fifteen Treasuries, and tokenized money-fund and deposit tokens as cash legs. Stress scenarios cover volatility and funding shocks, a four-hour chain outage, oracle staleness, a corporate-action snapshot, and key compromise. Metrics include the headline cost and liquidity numbers plus divergence time between chain and official record. And the fail predictor is itself benchmarked openly on SEC data — the first open benchmark of its kind used as a control signal.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SETU's selection mirrors HEADROOM's discipline. On the weighted matrix it scores eight point eighteen out of ten — eight point one eight — ahead of token price discovery, collateral optimisation, reconciliation tooling and zero-knowledge compliance. The price-discovery candidate was strong but crowded: the groups holding the best datasets are already working it. The collateral optimiser died on data — realistic margin calibration needs proprietary CCP figures. In the adversarial review, the sharpest question was whether a plain database could do the job; the honest answer is that the router could run anywhere, but the atomic rail's finality across parties who do not trust each other's databases is what the tokenized entitlement provides — and the project measures that value rather than assuming it. If the answer is 'rarely worth it', that is a publishable result regulators have explicitly requested.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Stepping back, the two blueprints are the same argument in two dialects. In AI infrastructure the scarce resource is power: proven flexibility demos exist, but no joint cost-priced controller. In market infrastructure the scarce resource is liquidity: both settlement rails exist, but no routing rule. Both solve with the same toolbox — mixed-integer optimisation, gradient boosting, a discrete-event digital twin, public data only. Both obey the same honesty rules: report frontiers and bands rather than point claims, calibrate from published research rather than fitting, and treat negative results as publishable. And both are safe bets for a student: the deliverable is a measured relationship, not a performance promise, so there is a paper either way.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two bridges across the same gap. HEADROOM bridges the AI cluster and the power grid — when curtailment is called, it decides what slows, at what cost, with physics and service agreements respected, and it ships the first open benchmark showing how far rules are from optimal. SETU bridges the netted and atomic settlement rails — when a trade executes, it decides which rail, priced for liquidity, fails, counterparty exposure and contract risk, legally faithful to the structure DTC actually built. Both run on public data and a laptop. Both state their hypotheses before touching results. And both are designed so that an honest negative answer is still a contribution — which is what makes them strong projects rather than demos.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822960" y="1554480"/>
            <a:ext cx="10515600" cy="2926080"/>
          </a:xfrm>
          <a:prstGeom prst="rect">
            <a:avLst/>
          </a:prstGeom>
          <a:noFill/>
        </p:spPr>
        <p:txBody>
          <a:bodyPr wrap="square">
            <a:spAutoFit/>
          </a:bodyPr>
          <a:lstStyle/>
          <a:p>
            <a:pPr algn="l">
              <a:spcAft>
                <a:spcPts val="1600"/>
              </a:spcAft>
            </a:pPr>
            <a:r>
              <a:rPr sz="4400" b="1" i="0">
                <a:solidFill>
                  <a:srgbClr val="212528"/>
                </a:solidFill>
                <a:latin typeface="Arial"/>
              </a:rPr>
              <a:t>Two Research Blueprints, One Method</a:t>
            </a:r>
          </a:p>
          <a:p>
            <a:pPr algn="l">
              <a:spcAft>
                <a:spcPts val="800"/>
              </a:spcAft>
            </a:pPr>
            <a:r>
              <a:rPr sz="2400" b="1" i="0">
                <a:solidFill>
                  <a:srgbClr val="A64B2A"/>
                </a:solidFill>
                <a:latin typeface="Arial"/>
              </a:rPr>
              <a:t>HEADROOM — grid-interactive control of AI clusters</a:t>
            </a:r>
          </a:p>
          <a:p>
            <a:pPr algn="l">
              <a:spcAft>
                <a:spcPts val="2000"/>
              </a:spcAft>
            </a:pPr>
            <a:r>
              <a:rPr sz="2400" b="1" i="0">
                <a:solidFill>
                  <a:srgbClr val="2E45B0"/>
                </a:solidFill>
                <a:latin typeface="Arial"/>
              </a:rPr>
              <a:t>SETU — a liquidity-aware settlement router for tokenized securities</a:t>
            </a:r>
          </a:p>
          <a:p>
            <a:pPr algn="l">
              <a:spcAft>
                <a:spcPts val="600"/>
              </a:spcAft>
            </a:pPr>
            <a:r>
              <a:rPr sz="1500" b="0" i="0">
                <a:solidFill>
                  <a:srgbClr val="5A6064"/>
                </a:solidFill>
                <a:latin typeface="Arial"/>
              </a:rPr>
              <a:t>Project definitions distilled from two full research reports · September 2026</a:t>
            </a:r>
          </a:p>
        </p:txBody>
      </p:sp>
      <p:sp>
        <p:nvSpPr>
          <p:cNvPr id="3" name="TextBox 2"/>
          <p:cNvSpPr txBox="1"/>
          <p:nvPr/>
        </p:nvSpPr>
        <p:spPr>
          <a:xfrm>
            <a:off x="822960" y="5120640"/>
            <a:ext cx="10515600" cy="1097280"/>
          </a:xfrm>
          <a:prstGeom prst="rect">
            <a:avLst/>
          </a:prstGeom>
          <a:noFill/>
        </p:spPr>
        <p:txBody>
          <a:bodyPr wrap="square">
            <a:spAutoFit/>
          </a:bodyPr>
          <a:lstStyle/>
          <a:p>
            <a:pPr algn="l">
              <a:spcAft>
                <a:spcPts val="600"/>
              </a:spcAft>
            </a:pPr>
            <a:r>
              <a:rPr sz="1500" b="0" i="1">
                <a:solidFill>
                  <a:srgbClr val="5A6064"/>
                </a:solidFill>
                <a:latin typeface="Arial"/>
              </a:rPr>
              <a:t>Each blueprint follows the same discipline: papers → live industry facts → concrete problems → gap analysis → scored candidates → adversarial review → one chosen project, fully specified.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640080" y="164592"/>
            <a:ext cx="10881360" cy="365760"/>
          </a:xfrm>
          <a:prstGeom prst="rect">
            <a:avLst/>
          </a:prstGeom>
          <a:noFill/>
        </p:spPr>
        <p:txBody>
          <a:bodyPr wrap="square">
            <a:spAutoFit/>
          </a:bodyPr>
          <a:lstStyle/>
          <a:p>
            <a:pPr algn="l">
              <a:spcAft>
                <a:spcPts val="600"/>
              </a:spcAft>
            </a:pPr>
            <a:r>
              <a:rPr sz="1200" b="1" i="0">
                <a:solidFill>
                  <a:srgbClr val="A64B2A"/>
                </a:solidFill>
                <a:latin typeface="Arial"/>
              </a:rPr>
              <a:t>HOW TO READ THIS DECK</a:t>
            </a:r>
          </a:p>
        </p:txBody>
      </p:sp>
      <p:sp>
        <p:nvSpPr>
          <p:cNvPr id="3" name="TextBox 2"/>
          <p:cNvSpPr txBox="1"/>
          <p:nvPr/>
        </p:nvSpPr>
        <p:spPr>
          <a:xfrm>
            <a:off x="640080" y="457200"/>
            <a:ext cx="10881360" cy="1051560"/>
          </a:xfrm>
          <a:prstGeom prst="rect">
            <a:avLst/>
          </a:prstGeom>
          <a:noFill/>
        </p:spPr>
        <p:txBody>
          <a:bodyPr wrap="square">
            <a:spAutoFit/>
          </a:bodyPr>
          <a:lstStyle/>
          <a:p>
            <a:pPr algn="l">
              <a:spcAft>
                <a:spcPts val="600"/>
              </a:spcAft>
            </a:pPr>
            <a:r>
              <a:rPr sz="3200" b="1" i="0">
                <a:solidFill>
                  <a:srgbClr val="212528"/>
                </a:solidFill>
                <a:latin typeface="Arial"/>
              </a:rPr>
              <a:t>Same skeleton, two domains</a:t>
            </a:r>
          </a:p>
        </p:txBody>
      </p:sp>
      <p:sp>
        <p:nvSpPr>
          <p:cNvPr id="4" name="Rectangle 3"/>
          <p:cNvSpPr/>
          <p:nvPr/>
        </p:nvSpPr>
        <p:spPr>
          <a:xfrm>
            <a:off x="658368" y="1371600"/>
            <a:ext cx="1005840" cy="33020"/>
          </a:xfrm>
          <a:prstGeom prst="rect">
            <a:avLst/>
          </a:prstGeom>
          <a:solidFill>
            <a:srgbClr val="A6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5120640" cy="228600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47672"/>
            <a:ext cx="4572000" cy="1965960"/>
          </a:xfrm>
          <a:prstGeom prst="rect">
            <a:avLst/>
          </a:prstGeom>
          <a:noFill/>
        </p:spPr>
        <p:txBody>
          <a:bodyPr wrap="square">
            <a:spAutoFit/>
          </a:bodyPr>
          <a:lstStyle/>
          <a:p>
            <a:pPr algn="l">
              <a:spcAft>
                <a:spcPts val="600"/>
              </a:spcAft>
            </a:pPr>
            <a:r>
              <a:rPr sz="1700" b="1" i="0">
                <a:solidFill>
                  <a:srgbClr val="A64B2A"/>
                </a:solidFill>
                <a:latin typeface="Arial"/>
              </a:rPr>
              <a:t>HEADROOM · AI infrastructure</a:t>
            </a:r>
          </a:p>
          <a:p>
            <a:pPr algn="l">
              <a:spcAft>
                <a:spcPts val="600"/>
              </a:spcAft>
            </a:pPr>
            <a:r>
              <a:rPr sz="1400" b="0" i="0">
                <a:solidFill>
                  <a:srgbClr val="212528"/>
                </a:solidFill>
                <a:latin typeface="Arial"/>
              </a:rPr>
              <a:t>Domain: GPU clusters, power grids, cooling, reliability.
One-line: deliver contracted power flexibility from a training + inference cluster at minimum cost to goodput and SLOs.
Tools: discrete-event sim, MILP/MPC, LightGBM forecasts.</a:t>
            </a:r>
          </a:p>
        </p:txBody>
      </p:sp>
      <p:sp>
        <p:nvSpPr>
          <p:cNvPr id="7" name="Rounded Rectangle 6"/>
          <p:cNvSpPr/>
          <p:nvPr/>
        </p:nvSpPr>
        <p:spPr>
          <a:xfrm>
            <a:off x="6263640" y="1783080"/>
            <a:ext cx="5120640" cy="228600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59" y="1947672"/>
            <a:ext cx="4572000" cy="1965960"/>
          </a:xfrm>
          <a:prstGeom prst="rect">
            <a:avLst/>
          </a:prstGeom>
          <a:noFill/>
        </p:spPr>
        <p:txBody>
          <a:bodyPr wrap="square">
            <a:spAutoFit/>
          </a:bodyPr>
          <a:lstStyle/>
          <a:p>
            <a:pPr algn="l">
              <a:spcAft>
                <a:spcPts val="600"/>
              </a:spcAft>
            </a:pPr>
            <a:r>
              <a:rPr sz="1700" b="1" i="0">
                <a:solidFill>
                  <a:srgbClr val="A64B2A"/>
                </a:solidFill>
                <a:latin typeface="Arial"/>
              </a:rPr>
              <a:t>SETU · Market infrastructure</a:t>
            </a:r>
          </a:p>
          <a:p>
            <a:pPr algn="l">
              <a:spcAft>
                <a:spcPts val="600"/>
              </a:spcAft>
            </a:pPr>
            <a:r>
              <a:rPr sz="1400" b="0" i="0">
                <a:solidFill>
                  <a:srgbClr val="212528"/>
                </a:solidFill>
                <a:latin typeface="Arial"/>
              </a:rPr>
              <a:t>Domain: securities settlement, CSDs, tokenized rails.
One-line: route each trade between netted T+1 and atomic T+0 settlement to minimise total settlement cost.
Tools: discrete-event sim, MILP, gradient-boosted fail predictor, Solidity.</a:t>
            </a:r>
          </a:p>
        </p:txBody>
      </p:sp>
      <p:sp>
        <p:nvSpPr>
          <p:cNvPr id="9" name="TextBox 8"/>
          <p:cNvSpPr txBox="1"/>
          <p:nvPr/>
        </p:nvSpPr>
        <p:spPr>
          <a:xfrm>
            <a:off x="822960" y="5806440"/>
            <a:ext cx="10515600" cy="822960"/>
          </a:xfrm>
          <a:prstGeom prst="rect">
            <a:avLst/>
          </a:prstGeom>
          <a:noFill/>
        </p:spPr>
        <p:txBody>
          <a:bodyPr wrap="square">
            <a:spAutoFit/>
          </a:bodyPr>
          <a:lstStyle/>
          <a:p>
            <a:pPr algn="l">
              <a:spcAft>
                <a:spcPts val="600"/>
              </a:spcAft>
            </a:pPr>
            <a:r>
              <a:rPr sz="1500" b="0" i="1">
                <a:solidFill>
                  <a:srgbClr val="5A6064"/>
                </a:solidFill>
                <a:latin typeface="Arial"/>
              </a:rPr>
              <a:t>Both were generated the same way: 30 papers screened → 5 deep dives → 25–28 institutional problems → gap proof → 5 candidates → scoring matrix → adversarial review → winner.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640080" y="164592"/>
            <a:ext cx="10881360" cy="365760"/>
          </a:xfrm>
          <a:prstGeom prst="rect">
            <a:avLst/>
          </a:prstGeom>
          <a:noFill/>
        </p:spPr>
        <p:txBody>
          <a:bodyPr wrap="square">
            <a:spAutoFit/>
          </a:bodyPr>
          <a:lstStyle/>
          <a:p>
            <a:pPr algn="l">
              <a:spcAft>
                <a:spcPts val="600"/>
              </a:spcAft>
            </a:pPr>
            <a:r>
              <a:rPr sz="1200" b="1" i="0">
                <a:solidFill>
                  <a:srgbClr val="A64B2A"/>
                </a:solidFill>
                <a:latin typeface="Arial"/>
              </a:rPr>
              <a:t>PROJECT 1 · HEADROOM</a:t>
            </a:r>
          </a:p>
        </p:txBody>
      </p:sp>
      <p:sp>
        <p:nvSpPr>
          <p:cNvPr id="3" name="TextBox 2"/>
          <p:cNvSpPr txBox="1"/>
          <p:nvPr/>
        </p:nvSpPr>
        <p:spPr>
          <a:xfrm>
            <a:off x="640080" y="457200"/>
            <a:ext cx="10881360" cy="1051560"/>
          </a:xfrm>
          <a:prstGeom prst="rect">
            <a:avLst/>
          </a:prstGeom>
          <a:noFill/>
        </p:spPr>
        <p:txBody>
          <a:bodyPr wrap="square">
            <a:spAutoFit/>
          </a:bodyPr>
          <a:lstStyle/>
          <a:p>
            <a:pPr algn="l">
              <a:spcAft>
                <a:spcPts val="600"/>
              </a:spcAft>
            </a:pPr>
            <a:r>
              <a:rPr sz="3200" b="1" i="0">
                <a:solidFill>
                  <a:srgbClr val="212528"/>
                </a:solidFill>
                <a:latin typeface="Arial"/>
              </a:rPr>
              <a:t>Power, not GPUs, is the binding constraint on AI growth</a:t>
            </a:r>
          </a:p>
        </p:txBody>
      </p:sp>
      <p:sp>
        <p:nvSpPr>
          <p:cNvPr id="4" name="Rectangle 3"/>
          <p:cNvSpPr/>
          <p:nvPr/>
        </p:nvSpPr>
        <p:spPr>
          <a:xfrm>
            <a:off x="658368" y="1371600"/>
            <a:ext cx="1005840" cy="33020"/>
          </a:xfrm>
          <a:prstGeom prst="rect">
            <a:avLst/>
          </a:prstGeom>
          <a:solidFill>
            <a:srgbClr val="A6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5120640" cy="210312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47672"/>
            <a:ext cx="4572000" cy="1783079"/>
          </a:xfrm>
          <a:prstGeom prst="rect">
            <a:avLst/>
          </a:prstGeom>
          <a:noFill/>
        </p:spPr>
        <p:txBody>
          <a:bodyPr wrap="square">
            <a:spAutoFit/>
          </a:bodyPr>
          <a:lstStyle/>
          <a:p>
            <a:pPr algn="l">
              <a:spcAft>
                <a:spcPts val="600"/>
              </a:spcAft>
            </a:pPr>
            <a:r>
              <a:rPr sz="1700" b="1" i="0">
                <a:solidFill>
                  <a:srgbClr val="A64B2A"/>
                </a:solidFill>
                <a:latin typeface="Arial"/>
              </a:rPr>
              <a:t>Interconnection takes years</a:t>
            </a:r>
          </a:p>
          <a:p>
            <a:pPr algn="l">
              <a:spcAft>
                <a:spcPts val="600"/>
              </a:spcAft>
            </a:pPr>
            <a:r>
              <a:rPr sz="1400" b="0" i="0">
                <a:solidFill>
                  <a:srgbClr val="212528"/>
                </a:solidFill>
                <a:latin typeface="Arial"/>
              </a:rPr>
              <a:t>24–72 months to secure grid power; 5–7 years in constrained regions; PJM's average application-to-operation time is now over eight years.</a:t>
            </a:r>
          </a:p>
        </p:txBody>
      </p:sp>
      <p:sp>
        <p:nvSpPr>
          <p:cNvPr id="7" name="Rounded Rectangle 6"/>
          <p:cNvSpPr/>
          <p:nvPr/>
        </p:nvSpPr>
        <p:spPr>
          <a:xfrm>
            <a:off x="6263640" y="1783080"/>
            <a:ext cx="5120640" cy="210312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59" y="1947672"/>
            <a:ext cx="4572000" cy="1783079"/>
          </a:xfrm>
          <a:prstGeom prst="rect">
            <a:avLst/>
          </a:prstGeom>
          <a:noFill/>
        </p:spPr>
        <p:txBody>
          <a:bodyPr wrap="square">
            <a:spAutoFit/>
          </a:bodyPr>
          <a:lstStyle/>
          <a:p>
            <a:pPr algn="l">
              <a:spcAft>
                <a:spcPts val="600"/>
              </a:spcAft>
            </a:pPr>
            <a:r>
              <a:rPr sz="1700" b="1" i="0">
                <a:solidFill>
                  <a:srgbClr val="A64B2A"/>
                </a:solidFill>
                <a:latin typeface="Arial"/>
              </a:rPr>
              <a:t>Queues are enormous</a:t>
            </a:r>
          </a:p>
          <a:p>
            <a:pPr algn="l">
              <a:spcAft>
                <a:spcPts val="600"/>
              </a:spcAft>
            </a:pPr>
            <a:r>
              <a:rPr sz="1400" b="0" i="0">
                <a:solidFill>
                  <a:srgbClr val="212528"/>
                </a:solidFill>
                <a:latin typeface="Arial"/>
              </a:rPr>
              <a:t>2,061 GW of generation and storage waiting in US interconnection queues; ERCOT's large-load queue went 63 GW → 226 GW in one year.</a:t>
            </a:r>
          </a:p>
        </p:txBody>
      </p:sp>
      <p:sp>
        <p:nvSpPr>
          <p:cNvPr id="9" name="Rounded Rectangle 8"/>
          <p:cNvSpPr/>
          <p:nvPr/>
        </p:nvSpPr>
        <p:spPr>
          <a:xfrm>
            <a:off x="822960" y="4114800"/>
            <a:ext cx="5120640" cy="210312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279392"/>
            <a:ext cx="4572000" cy="1783079"/>
          </a:xfrm>
          <a:prstGeom prst="rect">
            <a:avLst/>
          </a:prstGeom>
          <a:noFill/>
        </p:spPr>
        <p:txBody>
          <a:bodyPr wrap="square">
            <a:spAutoFit/>
          </a:bodyPr>
          <a:lstStyle/>
          <a:p>
            <a:pPr algn="l">
              <a:spcAft>
                <a:spcPts val="600"/>
              </a:spcAft>
            </a:pPr>
            <a:r>
              <a:rPr sz="1700" b="1" i="0">
                <a:solidFill>
                  <a:srgbClr val="A64B2A"/>
                </a:solidFill>
                <a:latin typeface="Arial"/>
              </a:rPr>
              <a:t>Capacity markets are at the cap</a:t>
            </a:r>
          </a:p>
          <a:p>
            <a:pPr algn="l">
              <a:spcAft>
                <a:spcPts val="600"/>
              </a:spcAft>
            </a:pPr>
            <a:r>
              <a:rPr sz="1400" b="0" i="0">
                <a:solidFill>
                  <a:srgbClr val="212528"/>
                </a:solidFill>
                <a:latin typeface="Arial"/>
              </a:rPr>
              <a:t>PJM's Dec 2025 auction cleared at the $333.44/MW-day price cap and fell ~6.6 GW short of reliability — data centres drive 94% of load growth.</a:t>
            </a:r>
          </a:p>
        </p:txBody>
      </p:sp>
      <p:sp>
        <p:nvSpPr>
          <p:cNvPr id="11" name="Rounded Rectangle 10"/>
          <p:cNvSpPr/>
          <p:nvPr/>
        </p:nvSpPr>
        <p:spPr>
          <a:xfrm>
            <a:off x="6263640" y="4114800"/>
            <a:ext cx="5120640" cy="210312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59" y="4279392"/>
            <a:ext cx="4572000" cy="1783079"/>
          </a:xfrm>
          <a:prstGeom prst="rect">
            <a:avLst/>
          </a:prstGeom>
          <a:noFill/>
        </p:spPr>
        <p:txBody>
          <a:bodyPr wrap="square">
            <a:spAutoFit/>
          </a:bodyPr>
          <a:lstStyle/>
          <a:p>
            <a:pPr algn="l">
              <a:spcAft>
                <a:spcPts val="600"/>
              </a:spcAft>
            </a:pPr>
            <a:r>
              <a:rPr sz="1700" b="1" i="0">
                <a:solidFill>
                  <a:srgbClr val="A64B2A"/>
                </a:solidFill>
                <a:latin typeface="Arial"/>
              </a:rPr>
              <a:t>Hardware lead times match</a:t>
            </a:r>
          </a:p>
          <a:p>
            <a:pPr algn="l">
              <a:spcAft>
                <a:spcPts val="600"/>
              </a:spcAft>
            </a:pPr>
            <a:r>
              <a:rPr sz="1400" b="0" i="0">
                <a:solidFill>
                  <a:srgbClr val="212528"/>
                </a:solidFill>
                <a:latin typeface="Arial"/>
              </a:rPr>
              <a:t>Large transformers: 2–5 years. Switchgear sold out through 2028. Gas turbines up to 7 years. Roughly half of planned 2026 US capacity is delayed.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640080" y="164592"/>
            <a:ext cx="10881360" cy="365760"/>
          </a:xfrm>
          <a:prstGeom prst="rect">
            <a:avLst/>
          </a:prstGeom>
          <a:noFill/>
        </p:spPr>
        <p:txBody>
          <a:bodyPr wrap="square">
            <a:spAutoFit/>
          </a:bodyPr>
          <a:lstStyle/>
          <a:p>
            <a:pPr algn="l">
              <a:spcAft>
                <a:spcPts val="600"/>
              </a:spcAft>
            </a:pPr>
            <a:r>
              <a:rPr sz="1200" b="1" i="0">
                <a:solidFill>
                  <a:srgbClr val="A64B2A"/>
                </a:solidFill>
                <a:latin typeface="Arial"/>
              </a:rPr>
              <a:t>PROJECT 1 · HEADROOM</a:t>
            </a:r>
          </a:p>
        </p:txBody>
      </p:sp>
      <p:sp>
        <p:nvSpPr>
          <p:cNvPr id="3" name="TextBox 2"/>
          <p:cNvSpPr txBox="1"/>
          <p:nvPr/>
        </p:nvSpPr>
        <p:spPr>
          <a:xfrm>
            <a:off x="640080" y="457200"/>
            <a:ext cx="10881360" cy="1051560"/>
          </a:xfrm>
          <a:prstGeom prst="rect">
            <a:avLst/>
          </a:prstGeom>
          <a:noFill/>
        </p:spPr>
        <p:txBody>
          <a:bodyPr wrap="square">
            <a:spAutoFit/>
          </a:bodyPr>
          <a:lstStyle/>
          <a:p>
            <a:pPr algn="l">
              <a:spcAft>
                <a:spcPts val="600"/>
              </a:spcAft>
            </a:pPr>
            <a:r>
              <a:rPr sz="3200" b="1" i="0">
                <a:solidFill>
                  <a:srgbClr val="212528"/>
                </a:solidFill>
                <a:latin typeface="Arial"/>
              </a:rPr>
              <a:t>Flexibility is the fastest path to power — and it's now mandatory</a:t>
            </a:r>
          </a:p>
        </p:txBody>
      </p:sp>
      <p:sp>
        <p:nvSpPr>
          <p:cNvPr id="4" name="Rectangle 3"/>
          <p:cNvSpPr/>
          <p:nvPr/>
        </p:nvSpPr>
        <p:spPr>
          <a:xfrm>
            <a:off x="658368" y="1371600"/>
            <a:ext cx="1005840" cy="33020"/>
          </a:xfrm>
          <a:prstGeom prst="rect">
            <a:avLst/>
          </a:prstGeom>
          <a:solidFill>
            <a:srgbClr val="A6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5120640" cy="210312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47672"/>
            <a:ext cx="4572000" cy="1783079"/>
          </a:xfrm>
          <a:prstGeom prst="rect">
            <a:avLst/>
          </a:prstGeom>
          <a:noFill/>
        </p:spPr>
        <p:txBody>
          <a:bodyPr wrap="square">
            <a:spAutoFit/>
          </a:bodyPr>
          <a:lstStyle/>
          <a:p>
            <a:pPr algn="l">
              <a:spcAft>
                <a:spcPts val="600"/>
              </a:spcAft>
            </a:pPr>
            <a:r>
              <a:rPr sz="1700" b="1" i="0">
                <a:solidFill>
                  <a:srgbClr val="A64B2A"/>
                </a:solidFill>
                <a:latin typeface="Arial"/>
              </a:rPr>
              <a:t>The grid can host far more load</a:t>
            </a:r>
          </a:p>
          <a:p>
            <a:pPr algn="l">
              <a:spcAft>
                <a:spcPts val="600"/>
              </a:spcAft>
            </a:pPr>
            <a:r>
              <a:rPr sz="1400" b="0" i="0">
                <a:solidFill>
                  <a:srgbClr val="212528"/>
                </a:solidFill>
                <a:latin typeface="Arial"/>
              </a:rPr>
              <a:t>Duke's Rethinking Load Growth: 76–126 GW of new US load fits the existing grid if curtailable just 0.25–1% of hours. No new generation needed.</a:t>
            </a:r>
          </a:p>
        </p:txBody>
      </p:sp>
      <p:sp>
        <p:nvSpPr>
          <p:cNvPr id="7" name="Rounded Rectangle 6"/>
          <p:cNvSpPr/>
          <p:nvPr/>
        </p:nvSpPr>
        <p:spPr>
          <a:xfrm>
            <a:off x="6263640" y="1783080"/>
            <a:ext cx="5120640" cy="210312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59" y="1947672"/>
            <a:ext cx="4572000" cy="1783079"/>
          </a:xfrm>
          <a:prstGeom prst="rect">
            <a:avLst/>
          </a:prstGeom>
          <a:noFill/>
        </p:spPr>
        <p:txBody>
          <a:bodyPr wrap="square">
            <a:spAutoFit/>
          </a:bodyPr>
          <a:lstStyle/>
          <a:p>
            <a:pPr algn="l">
              <a:spcAft>
                <a:spcPts val="600"/>
              </a:spcAft>
            </a:pPr>
            <a:r>
              <a:rPr sz="1700" b="1" i="0">
                <a:solidFill>
                  <a:srgbClr val="A64B2A"/>
                </a:solidFill>
                <a:latin typeface="Arial"/>
              </a:rPr>
              <a:t>Contracts are signed</a:t>
            </a:r>
          </a:p>
          <a:p>
            <a:pPr algn="l">
              <a:spcAft>
                <a:spcPts val="600"/>
              </a:spcAft>
            </a:pPr>
            <a:r>
              <a:rPr sz="1400" b="0" i="0">
                <a:solidFill>
                  <a:srgbClr val="212528"/>
                </a:solidFill>
                <a:latin typeface="Arial"/>
              </a:rPr>
              <a:t>Google: 1 GW of demand response across five utilities, pausing ML training when asked. Emerald AI's Phoenix demo: 25% cut for 3 h on 256 GPUs, no QoS loss — published in Nature Energy.</a:t>
            </a:r>
          </a:p>
        </p:txBody>
      </p:sp>
      <p:sp>
        <p:nvSpPr>
          <p:cNvPr id="9" name="Rounded Rectangle 8"/>
          <p:cNvSpPr/>
          <p:nvPr/>
        </p:nvSpPr>
        <p:spPr>
          <a:xfrm>
            <a:off x="822960" y="4114800"/>
            <a:ext cx="5120640" cy="210312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279392"/>
            <a:ext cx="4572000" cy="1783079"/>
          </a:xfrm>
          <a:prstGeom prst="rect">
            <a:avLst/>
          </a:prstGeom>
          <a:noFill/>
        </p:spPr>
        <p:txBody>
          <a:bodyPr wrap="square">
            <a:spAutoFit/>
          </a:bodyPr>
          <a:lstStyle/>
          <a:p>
            <a:pPr algn="l">
              <a:spcAft>
                <a:spcPts val="600"/>
              </a:spcAft>
            </a:pPr>
            <a:r>
              <a:rPr sz="1700" b="1" i="0">
                <a:solidFill>
                  <a:srgbClr val="A64B2A"/>
                </a:solidFill>
                <a:latin typeface="Arial"/>
              </a:rPr>
              <a:t>Law now requires it</a:t>
            </a:r>
          </a:p>
          <a:p>
            <a:pPr algn="l">
              <a:spcAft>
                <a:spcPts val="600"/>
              </a:spcAft>
            </a:pPr>
            <a:r>
              <a:rPr sz="1400" b="0" i="0">
                <a:solidFill>
                  <a:srgbClr val="212528"/>
                </a:solidFill>
                <a:latin typeface="Arial"/>
              </a:rPr>
              <a:t>Texas SB6: loads ≥75 MW must curtail during grid emergencies; post-2025 loads need remote-disconnect. EPRI's DCFlex runs nine demo sites; NVIDIA shipped DSX Flex.</a:t>
            </a:r>
          </a:p>
        </p:txBody>
      </p:sp>
      <p:sp>
        <p:nvSpPr>
          <p:cNvPr id="11" name="Rounded Rectangle 10"/>
          <p:cNvSpPr/>
          <p:nvPr/>
        </p:nvSpPr>
        <p:spPr>
          <a:xfrm>
            <a:off x="6263640" y="4114800"/>
            <a:ext cx="5120640" cy="210312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59" y="4279392"/>
            <a:ext cx="4572000" cy="1783079"/>
          </a:xfrm>
          <a:prstGeom prst="rect">
            <a:avLst/>
          </a:prstGeom>
          <a:noFill/>
        </p:spPr>
        <p:txBody>
          <a:bodyPr wrap="square">
            <a:spAutoFit/>
          </a:bodyPr>
          <a:lstStyle/>
          <a:p>
            <a:pPr algn="l">
              <a:spcAft>
                <a:spcPts val="600"/>
              </a:spcAft>
            </a:pPr>
            <a:r>
              <a:rPr sz="1700" b="1" i="0">
                <a:solidFill>
                  <a:srgbClr val="A64B2A"/>
                </a:solidFill>
                <a:latin typeface="Arial"/>
              </a:rPr>
              <a:t>But the software is rules</a:t>
            </a:r>
          </a:p>
          <a:p>
            <a:pPr algn="l">
              <a:spcAft>
                <a:spcPts val="600"/>
              </a:spcAft>
            </a:pPr>
            <a:r>
              <a:rPr sz="1400" b="0" i="0">
                <a:solidFill>
                  <a:srgbClr val="212528"/>
                </a:solidFill>
                <a:latin typeface="Arial"/>
              </a:rPr>
              <a:t>Every public system solves one slice — batch shifting, fair capping, throttling — with priority rules. None optimises jointly or prices the cost of slowing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640080" y="164592"/>
            <a:ext cx="10881360" cy="365760"/>
          </a:xfrm>
          <a:prstGeom prst="rect">
            <a:avLst/>
          </a:prstGeom>
          <a:noFill/>
        </p:spPr>
        <p:txBody>
          <a:bodyPr wrap="square">
            <a:spAutoFit/>
          </a:bodyPr>
          <a:lstStyle/>
          <a:p>
            <a:pPr algn="l">
              <a:spcAft>
                <a:spcPts val="600"/>
              </a:spcAft>
            </a:pPr>
            <a:r>
              <a:rPr sz="1200" b="1" i="0">
                <a:solidFill>
                  <a:srgbClr val="A64B2A"/>
                </a:solidFill>
                <a:latin typeface="Arial"/>
              </a:rPr>
              <a:t>PROJECT 1 · HEADROOM</a:t>
            </a:r>
          </a:p>
        </p:txBody>
      </p:sp>
      <p:sp>
        <p:nvSpPr>
          <p:cNvPr id="3" name="TextBox 2"/>
          <p:cNvSpPr txBox="1"/>
          <p:nvPr/>
        </p:nvSpPr>
        <p:spPr>
          <a:xfrm>
            <a:off x="640080" y="457200"/>
            <a:ext cx="10881360" cy="1051560"/>
          </a:xfrm>
          <a:prstGeom prst="rect">
            <a:avLst/>
          </a:prstGeom>
          <a:noFill/>
        </p:spPr>
        <p:txBody>
          <a:bodyPr wrap="square">
            <a:spAutoFit/>
          </a:bodyPr>
          <a:lstStyle/>
          <a:p>
            <a:pPr algn="l">
              <a:spcAft>
                <a:spcPts val="600"/>
              </a:spcAft>
            </a:pPr>
            <a:r>
              <a:rPr sz="3200" b="1" i="0">
                <a:solidFill>
                  <a:srgbClr val="212528"/>
                </a:solidFill>
                <a:latin typeface="Arial"/>
              </a:rPr>
              <a:t>Five anchor papers — and the gap each leaves open</a:t>
            </a:r>
          </a:p>
        </p:txBody>
      </p:sp>
      <p:sp>
        <p:nvSpPr>
          <p:cNvPr id="4" name="Rectangle 3"/>
          <p:cNvSpPr/>
          <p:nvPr/>
        </p:nvSpPr>
        <p:spPr>
          <a:xfrm>
            <a:off x="658368" y="1371600"/>
            <a:ext cx="1005840" cy="33020"/>
          </a:xfrm>
          <a:prstGeom prst="rect">
            <a:avLst/>
          </a:prstGeom>
          <a:solidFill>
            <a:srgbClr val="A6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10607040" cy="4754880"/>
          </a:xfrm>
          <a:prstGeom prst="rect">
            <a:avLst/>
          </a:prstGeom>
          <a:noFill/>
        </p:spPr>
        <p:txBody>
          <a:bodyPr wrap="square">
            <a:spAutoFit/>
          </a:bodyPr>
          <a:lstStyle/>
          <a:p>
            <a:pPr algn="l">
              <a:spcAft>
                <a:spcPts val="200"/>
              </a:spcAft>
            </a:pPr>
            <a:r>
              <a:rPr sz="1500" b="1" i="0">
                <a:solidFill>
                  <a:srgbClr val="A64B2A"/>
                </a:solidFill>
                <a:latin typeface="Arial"/>
              </a:rPr>
              <a:t>•  Perseus (SOSP'24)</a:t>
            </a:r>
            <a:r>
              <a:rPr sz="1400" b="0">
                <a:solidFill>
                  <a:srgbClr val="212528"/>
                </a:solidFill>
                <a:latin typeface="Arial"/>
              </a:rPr>
              <a:t> — each training job has a time-vs-energy Pareto frontier; up to 30% of energy is removable 'bloat'. Leaves open: cluster-level, time-varying allocation.</a:t>
            </a:r>
          </a:p>
          <a:p>
            <a:pPr algn="l">
              <a:spcAft>
                <a:spcPts val="200"/>
              </a:spcAft>
            </a:pPr>
            <a:r>
              <a:rPr sz="1500" b="1" i="0">
                <a:solidFill>
                  <a:srgbClr val="A64B2A"/>
                </a:solidFill>
                <a:latin typeface="Arial"/>
              </a:rPr>
              <a:t>•  Pollux (OSDI'21)</a:t>
            </a:r>
            <a:r>
              <a:rPr sz="1400" b="0">
                <a:solidFill>
                  <a:srgbClr val="212528"/>
                </a:solidFill>
                <a:latin typeface="Arial"/>
              </a:rPr>
              <a:t> — goodput = throughput × statistical efficiency; co-adaptive scheduling. Leaves open: goodput under a power envelope — goodput-per-watt.</a:t>
            </a:r>
          </a:p>
          <a:p>
            <a:pPr algn="l">
              <a:spcAft>
                <a:spcPts val="200"/>
              </a:spcAft>
            </a:pPr>
            <a:r>
              <a:rPr sz="1500" b="1" i="0">
                <a:solidFill>
                  <a:srgbClr val="A64B2A"/>
                </a:solidFill>
                <a:latin typeface="Arial"/>
              </a:rPr>
              <a:t>•  TAPAS (ASPLOS'25)</a:t>
            </a:r>
            <a:r>
              <a:rPr sz="1400" b="0">
                <a:solidFill>
                  <a:srgbClr val="212528"/>
                </a:solidFill>
                <a:latin typeface="Arial"/>
              </a:rPr>
              <a:t> — inference phases/configs have distinct thermal-power profiles; headroom is schedulable. Leaves open: training + inference under one shared envelope.</a:t>
            </a:r>
          </a:p>
          <a:p>
            <a:pPr algn="l">
              <a:spcAft>
                <a:spcPts val="200"/>
              </a:spcAft>
            </a:pPr>
            <a:r>
              <a:rPr sz="1500" b="1" i="0">
                <a:solidFill>
                  <a:srgbClr val="A64B2A"/>
                </a:solidFill>
                <a:latin typeface="Arial"/>
              </a:rPr>
              <a:t>•  Google carbon-aware computing (TPS'23)</a:t>
            </a:r>
            <a:r>
              <a:rPr sz="1400" b="0">
                <a:solidFill>
                  <a:srgbClr val="212528"/>
                </a:solidFill>
                <a:latin typeface="Arial"/>
              </a:rPr>
              <a:t> — hourly Virtual Capacity Curves work as a grid↔scheduler interface. Leaves open: intra-hour response and any goodput pricing.</a:t>
            </a:r>
          </a:p>
          <a:p>
            <a:pPr algn="l">
              <a:spcAft>
                <a:spcPts val="200"/>
              </a:spcAft>
            </a:pPr>
            <a:r>
              <a:rPr sz="1500" b="1" i="0">
                <a:solidFill>
                  <a:srgbClr val="A64B2A"/>
                </a:solidFill>
                <a:latin typeface="Arial"/>
              </a:rPr>
              <a:t>•  Meta reliability (HPCA'25)</a:t>
            </a:r>
            <a:r>
              <a:rPr sz="1400" b="0">
                <a:solidFill>
                  <a:srgbClr val="212528"/>
                </a:solidFill>
                <a:latin typeface="Arial"/>
              </a:rPr>
              <a:t> — MTTF scales with job size; ETTR is the metric. Leaves open: reliability linked to power/thermal actions.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640080" y="164592"/>
            <a:ext cx="10881360" cy="365760"/>
          </a:xfrm>
          <a:prstGeom prst="rect">
            <a:avLst/>
          </a:prstGeom>
          <a:noFill/>
        </p:spPr>
        <p:txBody>
          <a:bodyPr wrap="square">
            <a:spAutoFit/>
          </a:bodyPr>
          <a:lstStyle/>
          <a:p>
            <a:pPr algn="l">
              <a:spcAft>
                <a:spcPts val="600"/>
              </a:spcAft>
            </a:pPr>
            <a:r>
              <a:rPr sz="1200" b="1" i="0">
                <a:solidFill>
                  <a:srgbClr val="A64B2A"/>
                </a:solidFill>
                <a:latin typeface="Arial"/>
              </a:rPr>
              <a:t>PROJECT 1 · HEADROOM</a:t>
            </a:r>
          </a:p>
        </p:txBody>
      </p:sp>
      <p:sp>
        <p:nvSpPr>
          <p:cNvPr id="3" name="TextBox 2"/>
          <p:cNvSpPr txBox="1"/>
          <p:nvPr/>
        </p:nvSpPr>
        <p:spPr>
          <a:xfrm>
            <a:off x="640080" y="457200"/>
            <a:ext cx="10881360" cy="1051560"/>
          </a:xfrm>
          <a:prstGeom prst="rect">
            <a:avLst/>
          </a:prstGeom>
          <a:noFill/>
        </p:spPr>
        <p:txBody>
          <a:bodyPr wrap="square">
            <a:spAutoFit/>
          </a:bodyPr>
          <a:lstStyle/>
          <a:p>
            <a:pPr algn="l">
              <a:spcAft>
                <a:spcPts val="600"/>
              </a:spcAft>
            </a:pPr>
            <a:r>
              <a:rPr sz="3200" b="1" i="0">
                <a:solidFill>
                  <a:srgbClr val="212528"/>
                </a:solidFill>
                <a:latin typeface="Arial"/>
              </a:rPr>
              <a:t>The coupled problem no one solves jointly</a:t>
            </a:r>
          </a:p>
        </p:txBody>
      </p:sp>
      <p:sp>
        <p:nvSpPr>
          <p:cNvPr id="4" name="Rectangle 3"/>
          <p:cNvSpPr/>
          <p:nvPr/>
        </p:nvSpPr>
        <p:spPr>
          <a:xfrm>
            <a:off x="658368" y="1371600"/>
            <a:ext cx="1005840" cy="33020"/>
          </a:xfrm>
          <a:prstGeom prst="rect">
            <a:avLst/>
          </a:prstGeom>
          <a:solidFill>
            <a:srgbClr val="A6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10515600" cy="214884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920240"/>
            <a:ext cx="9966960" cy="1828800"/>
          </a:xfrm>
          <a:prstGeom prst="rect">
            <a:avLst/>
          </a:prstGeom>
          <a:noFill/>
        </p:spPr>
        <p:txBody>
          <a:bodyPr wrap="square">
            <a:spAutoFit/>
          </a:bodyPr>
          <a:lstStyle/>
          <a:p>
            <a:pPr algn="l">
              <a:spcAft>
                <a:spcPts val="600"/>
              </a:spcAft>
            </a:pPr>
            <a:r>
              <a:rPr sz="1700" b="0" i="0">
                <a:solidFill>
                  <a:srgbClr val="212528"/>
                </a:solidFill>
                <a:latin typeface="Arial"/>
              </a:rPr>
              <a:t>Every few minutes, choose: the power mode of every training job, the replica count of every inference service, the coolant supply temperature, and battery dispatch — to deliver a contracted, priced, time-varying power reduction at minimum total cost (energy + demand charges + training delay + SLO violations + reliability), subject to thermal dynamics, ramp limits, deadlines and failure risk, under uncertainty in demand, prices, weather and failures.</a:t>
            </a:r>
          </a:p>
        </p:txBody>
      </p:sp>
      <p:sp>
        <p:nvSpPr>
          <p:cNvPr id="7" name="TextBox 6"/>
          <p:cNvSpPr txBox="1"/>
          <p:nvPr/>
        </p:nvSpPr>
        <p:spPr>
          <a:xfrm>
            <a:off x="822960" y="4160520"/>
            <a:ext cx="10607040" cy="2194560"/>
          </a:xfrm>
          <a:prstGeom prst="rect">
            <a:avLst/>
          </a:prstGeom>
          <a:noFill/>
        </p:spPr>
        <p:txBody>
          <a:bodyPr wrap="square">
            <a:spAutoFit/>
          </a:bodyPr>
          <a:lstStyle/>
          <a:p>
            <a:pPr algn="l">
              <a:spcAft>
                <a:spcPts val="800"/>
              </a:spcAft>
            </a:pPr>
            <a:r>
              <a:rPr sz="1600" b="1" i="0">
                <a:solidFill>
                  <a:srgbClr val="A64B2A"/>
                </a:solidFill>
                <a:latin typeface="Arial"/>
              </a:rPr>
              <a:t>Multi-objective (cost, goodput, SLOs, carbon, reliability)  ·  multi-timescale (day-ahead → 5-min → sub-second)</a:t>
            </a:r>
          </a:p>
          <a:p>
            <a:pPr algn="l">
              <a:spcAft>
                <a:spcPts val="600"/>
              </a:spcAft>
            </a:pPr>
            <a:r>
              <a:rPr sz="1600" b="0" i="0">
                <a:solidFill>
                  <a:srgbClr val="212528"/>
                </a:solidFill>
                <a:latin typeface="Arial"/>
              </a:rPr>
              <a:t>Mixed discrete/continuous  ·  dynamic (thermal + battery state carries)  ·  stochastic  ·  physically grounded (all curves from measurements)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640080" y="164592"/>
            <a:ext cx="10881360" cy="365760"/>
          </a:xfrm>
          <a:prstGeom prst="rect">
            <a:avLst/>
          </a:prstGeom>
          <a:noFill/>
        </p:spPr>
        <p:txBody>
          <a:bodyPr wrap="square">
            <a:spAutoFit/>
          </a:bodyPr>
          <a:lstStyle/>
          <a:p>
            <a:pPr algn="l">
              <a:spcAft>
                <a:spcPts val="600"/>
              </a:spcAft>
            </a:pPr>
            <a:r>
              <a:rPr sz="1200" b="1" i="0">
                <a:solidFill>
                  <a:srgbClr val="A64B2A"/>
                </a:solidFill>
                <a:latin typeface="Arial"/>
              </a:rPr>
              <a:t>PROJECT 1 · HEADROOM</a:t>
            </a:r>
          </a:p>
        </p:txBody>
      </p:sp>
      <p:sp>
        <p:nvSpPr>
          <p:cNvPr id="3" name="TextBox 2"/>
          <p:cNvSpPr txBox="1"/>
          <p:nvPr/>
        </p:nvSpPr>
        <p:spPr>
          <a:xfrm>
            <a:off x="640080" y="457200"/>
            <a:ext cx="10881360" cy="1051560"/>
          </a:xfrm>
          <a:prstGeom prst="rect">
            <a:avLst/>
          </a:prstGeom>
          <a:noFill/>
        </p:spPr>
        <p:txBody>
          <a:bodyPr wrap="square">
            <a:spAutoFit/>
          </a:bodyPr>
          <a:lstStyle/>
          <a:p>
            <a:pPr algn="l">
              <a:spcAft>
                <a:spcPts val="600"/>
              </a:spcAft>
            </a:pPr>
            <a:r>
              <a:rPr sz="3200" b="1" i="0">
                <a:solidFill>
                  <a:srgbClr val="212528"/>
                </a:solidFill>
                <a:latin typeface="Arial"/>
              </a:rPr>
              <a:t>Three timescales, two optimizers, one hardware layer</a:t>
            </a:r>
          </a:p>
        </p:txBody>
      </p:sp>
      <p:sp>
        <p:nvSpPr>
          <p:cNvPr id="4" name="Rectangle 3"/>
          <p:cNvSpPr/>
          <p:nvPr/>
        </p:nvSpPr>
        <p:spPr>
          <a:xfrm>
            <a:off x="658368" y="1371600"/>
            <a:ext cx="1005840" cy="33020"/>
          </a:xfrm>
          <a:prstGeom prst="rect">
            <a:avLst/>
          </a:prstGeom>
          <a:solidFill>
            <a:srgbClr val="A6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10515600" cy="137160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892807"/>
            <a:ext cx="9966960" cy="1188720"/>
          </a:xfrm>
          <a:prstGeom prst="rect">
            <a:avLst/>
          </a:prstGeom>
          <a:noFill/>
        </p:spPr>
        <p:txBody>
          <a:bodyPr wrap="square">
            <a:spAutoFit/>
          </a:bodyPr>
          <a:lstStyle/>
          <a:p>
            <a:pPr algn="l">
              <a:spcAft>
                <a:spcPts val="300"/>
              </a:spcAft>
            </a:pPr>
            <a:r>
              <a:rPr sz="1800" b="1" i="0">
                <a:solidFill>
                  <a:srgbClr val="212528"/>
                </a:solidFill>
                <a:latin typeface="Arial"/>
              </a:rPr>
              <a:t>L0 · Day-ahead commitment   </a:t>
            </a:r>
            <a:r>
              <a:rPr sz="1400" b="0">
                <a:solidFill>
                  <a:srgbClr val="5A6064"/>
                </a:solidFill>
                <a:latin typeface="Arial"/>
              </a:rPr>
              <a:t>· 24–36 h, hourly steps</a:t>
            </a:r>
          </a:p>
          <a:p>
            <a:pPr algn="l">
              <a:spcAft>
                <a:spcPts val="600"/>
              </a:spcAft>
            </a:pPr>
            <a:r>
              <a:rPr sz="1500" b="0" i="0">
                <a:solidFill>
                  <a:srgbClr val="212528"/>
                </a:solidFill>
                <a:latin typeface="Arial"/>
              </a:rPr>
              <a:t>DR commitment per hour, cooling mode, planned batch windows — two-stage stochastic MILP</a:t>
            </a:r>
          </a:p>
        </p:txBody>
      </p:sp>
      <p:sp>
        <p:nvSpPr>
          <p:cNvPr id="7" name="Rounded Rectangle 6"/>
          <p:cNvSpPr/>
          <p:nvPr/>
        </p:nvSpPr>
        <p:spPr>
          <a:xfrm>
            <a:off x="822960" y="3319272"/>
            <a:ext cx="10515600" cy="137160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429000"/>
            <a:ext cx="9966960" cy="1188720"/>
          </a:xfrm>
          <a:prstGeom prst="rect">
            <a:avLst/>
          </a:prstGeom>
          <a:noFill/>
        </p:spPr>
        <p:txBody>
          <a:bodyPr wrap="square">
            <a:spAutoFit/>
          </a:bodyPr>
          <a:lstStyle/>
          <a:p>
            <a:pPr algn="l">
              <a:spcAft>
                <a:spcPts val="300"/>
              </a:spcAft>
            </a:pPr>
            <a:r>
              <a:rPr sz="1800" b="1" i="0">
                <a:solidFill>
                  <a:srgbClr val="A64B2A"/>
                </a:solidFill>
                <a:latin typeface="Arial"/>
              </a:rPr>
              <a:t>L1 · Operational MPC  ★ core   </a:t>
            </a:r>
            <a:r>
              <a:rPr sz="1400" b="0">
                <a:solidFill>
                  <a:srgbClr val="5A6064"/>
                </a:solidFill>
                <a:latin typeface="Arial"/>
              </a:rPr>
              <a:t>· 2 h horizon, re-solved every 5 min</a:t>
            </a:r>
          </a:p>
          <a:p>
            <a:pPr algn="l">
              <a:spcAft>
                <a:spcPts val="600"/>
              </a:spcAft>
            </a:pPr>
            <a:r>
              <a:rPr sz="1500" b="0" i="0">
                <a:solidFill>
                  <a:srgbClr val="212528"/>
                </a:solidFill>
                <a:latin typeface="Arial"/>
              </a:rPr>
              <a:t>Job power modes &amp; suspensions, inference replicas/configs, coolant setpoint, battery — MILP in receding horizon</a:t>
            </a:r>
          </a:p>
        </p:txBody>
      </p:sp>
      <p:sp>
        <p:nvSpPr>
          <p:cNvPr id="9" name="Rounded Rectangle 8"/>
          <p:cNvSpPr/>
          <p:nvPr/>
        </p:nvSpPr>
        <p:spPr>
          <a:xfrm>
            <a:off x="822960" y="4855464"/>
            <a:ext cx="10515600" cy="137160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4965192"/>
            <a:ext cx="9966960" cy="1188720"/>
          </a:xfrm>
          <a:prstGeom prst="rect">
            <a:avLst/>
          </a:prstGeom>
          <a:noFill/>
        </p:spPr>
        <p:txBody>
          <a:bodyPr wrap="square">
            <a:spAutoFit/>
          </a:bodyPr>
          <a:lstStyle/>
          <a:p>
            <a:pPr algn="l">
              <a:spcAft>
                <a:spcPts val="300"/>
              </a:spcAft>
            </a:pPr>
            <a:r>
              <a:rPr sz="1800" b="1" i="0">
                <a:solidFill>
                  <a:srgbClr val="212528"/>
                </a:solidFill>
                <a:latin typeface="Arial"/>
              </a:rPr>
              <a:t>L2 · Sub-second smoothing   </a:t>
            </a:r>
            <a:r>
              <a:rPr sz="1400" b="0">
                <a:solidFill>
                  <a:srgbClr val="5A6064"/>
                </a:solidFill>
                <a:latin typeface="Arial"/>
              </a:rPr>
              <a:t>· milliseconds–seconds</a:t>
            </a:r>
          </a:p>
          <a:p>
            <a:pPr algn="l">
              <a:spcAft>
                <a:spcPts val="600"/>
              </a:spcAft>
            </a:pPr>
            <a:r>
              <a:rPr sz="1500" b="0" i="0">
                <a:solidFill>
                  <a:srgbClr val="212528"/>
                </a:solidFill>
                <a:latin typeface="Arial"/>
              </a:rPr>
              <a:t>Ramp shaping inside a 5-min step — delegated to hardware (GB300 power shelves, firmware caps); modelled only as ramp-rate constraints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640080" y="164592"/>
            <a:ext cx="10881360" cy="365760"/>
          </a:xfrm>
          <a:prstGeom prst="rect">
            <a:avLst/>
          </a:prstGeom>
          <a:noFill/>
        </p:spPr>
        <p:txBody>
          <a:bodyPr wrap="square">
            <a:spAutoFit/>
          </a:bodyPr>
          <a:lstStyle/>
          <a:p>
            <a:pPr algn="l">
              <a:spcAft>
                <a:spcPts val="600"/>
              </a:spcAft>
            </a:pPr>
            <a:r>
              <a:rPr sz="1200" b="1" i="0">
                <a:solidFill>
                  <a:srgbClr val="A64B2A"/>
                </a:solidFill>
                <a:latin typeface="Arial"/>
              </a:rPr>
              <a:t>PROJECT 1 · HEADROOM</a:t>
            </a:r>
          </a:p>
        </p:txBody>
      </p:sp>
      <p:sp>
        <p:nvSpPr>
          <p:cNvPr id="3" name="TextBox 2"/>
          <p:cNvSpPr txBox="1"/>
          <p:nvPr/>
        </p:nvSpPr>
        <p:spPr>
          <a:xfrm>
            <a:off x="640080" y="457200"/>
            <a:ext cx="10881360" cy="1051560"/>
          </a:xfrm>
          <a:prstGeom prst="rect">
            <a:avLst/>
          </a:prstGeom>
          <a:noFill/>
        </p:spPr>
        <p:txBody>
          <a:bodyPr wrap="square">
            <a:spAutoFit/>
          </a:bodyPr>
          <a:lstStyle/>
          <a:p>
            <a:pPr algn="l">
              <a:spcAft>
                <a:spcPts val="600"/>
              </a:spcAft>
            </a:pPr>
            <a:r>
              <a:rPr sz="3200" b="1" i="0">
                <a:solidFill>
                  <a:srgbClr val="212528"/>
                </a:solidFill>
                <a:latin typeface="Arial"/>
              </a:rPr>
              <a:t>One objective, priced in dollars</a:t>
            </a:r>
          </a:p>
        </p:txBody>
      </p:sp>
      <p:sp>
        <p:nvSpPr>
          <p:cNvPr id="4" name="Rectangle 3"/>
          <p:cNvSpPr/>
          <p:nvPr/>
        </p:nvSpPr>
        <p:spPr>
          <a:xfrm>
            <a:off x="658368" y="1371600"/>
            <a:ext cx="1005840" cy="33020"/>
          </a:xfrm>
          <a:prstGeom prst="rect">
            <a:avLst/>
          </a:prstGeom>
          <a:solidFill>
            <a:srgbClr val="A6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2606040" cy="128016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11095"/>
            <a:ext cx="2286000" cy="1051560"/>
          </a:xfrm>
          <a:prstGeom prst="rect">
            <a:avLst/>
          </a:prstGeom>
          <a:noFill/>
        </p:spPr>
        <p:txBody>
          <a:bodyPr wrap="square">
            <a:spAutoFit/>
          </a:bodyPr>
          <a:lstStyle/>
          <a:p>
            <a:pPr algn="l">
              <a:spcAft>
                <a:spcPts val="400"/>
              </a:spcAft>
            </a:pPr>
            <a:r>
              <a:rPr sz="1400" b="1" i="0">
                <a:solidFill>
                  <a:srgbClr val="A64B2A"/>
                </a:solidFill>
                <a:latin typeface="Arial"/>
              </a:rPr>
              <a:t>Energy</a:t>
            </a:r>
          </a:p>
          <a:p>
            <a:pPr algn="l">
              <a:spcAft>
                <a:spcPts val="600"/>
              </a:spcAft>
            </a:pPr>
            <a:r>
              <a:rPr sz="1250" b="0" i="1">
                <a:solidFill>
                  <a:srgbClr val="5A6064"/>
                </a:solidFill>
                <a:latin typeface="Arial"/>
              </a:rPr>
              <a:t>Σ πₜ · P_grid · Δ</a:t>
            </a:r>
          </a:p>
        </p:txBody>
      </p:sp>
      <p:sp>
        <p:nvSpPr>
          <p:cNvPr id="7" name="Rounded Rectangle 6"/>
          <p:cNvSpPr/>
          <p:nvPr/>
        </p:nvSpPr>
        <p:spPr>
          <a:xfrm>
            <a:off x="3657600" y="1783080"/>
            <a:ext cx="2606040" cy="128016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0" y="1911095"/>
            <a:ext cx="2286000" cy="1051560"/>
          </a:xfrm>
          <a:prstGeom prst="rect">
            <a:avLst/>
          </a:prstGeom>
          <a:noFill/>
        </p:spPr>
        <p:txBody>
          <a:bodyPr wrap="square">
            <a:spAutoFit/>
          </a:bodyPr>
          <a:lstStyle/>
          <a:p>
            <a:pPr algn="l">
              <a:spcAft>
                <a:spcPts val="400"/>
              </a:spcAft>
            </a:pPr>
            <a:r>
              <a:rPr sz="1400" b="1" i="0">
                <a:solidFill>
                  <a:srgbClr val="A64B2A"/>
                </a:solidFill>
                <a:latin typeface="Arial"/>
              </a:rPr>
              <a:t>Demand charge</a:t>
            </a:r>
          </a:p>
          <a:p>
            <a:pPr algn="l">
              <a:spcAft>
                <a:spcPts val="600"/>
              </a:spcAft>
            </a:pPr>
            <a:r>
              <a:rPr sz="1250" b="0" i="1">
                <a:solidFill>
                  <a:srgbClr val="5A6064"/>
                </a:solidFill>
                <a:latin typeface="Arial"/>
              </a:rPr>
              <a:t>πᴰ · peak</a:t>
            </a:r>
          </a:p>
        </p:txBody>
      </p:sp>
      <p:sp>
        <p:nvSpPr>
          <p:cNvPr id="9" name="Rounded Rectangle 8"/>
          <p:cNvSpPr/>
          <p:nvPr/>
        </p:nvSpPr>
        <p:spPr>
          <a:xfrm>
            <a:off x="6492240" y="1783080"/>
            <a:ext cx="2606040" cy="128016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1911095"/>
            <a:ext cx="2286000" cy="1051560"/>
          </a:xfrm>
          <a:prstGeom prst="rect">
            <a:avLst/>
          </a:prstGeom>
          <a:noFill/>
        </p:spPr>
        <p:txBody>
          <a:bodyPr wrap="square">
            <a:spAutoFit/>
          </a:bodyPr>
          <a:lstStyle/>
          <a:p>
            <a:pPr algn="l">
              <a:spcAft>
                <a:spcPts val="400"/>
              </a:spcAft>
            </a:pPr>
            <a:r>
              <a:rPr sz="1400" b="1" i="0">
                <a:solidFill>
                  <a:srgbClr val="A64B2A"/>
                </a:solidFill>
                <a:latin typeface="Arial"/>
              </a:rPr>
              <a:t>DR shortfall</a:t>
            </a:r>
          </a:p>
          <a:p>
            <a:pPr algn="l">
              <a:spcAft>
                <a:spcPts val="600"/>
              </a:spcAft>
            </a:pPr>
            <a:r>
              <a:rPr sz="1250" b="0" i="1">
                <a:solidFill>
                  <a:srgbClr val="5A6064"/>
                </a:solidFill>
                <a:latin typeface="Arial"/>
              </a:rPr>
              <a:t>φ · unmet reduction</a:t>
            </a:r>
          </a:p>
        </p:txBody>
      </p:sp>
      <p:sp>
        <p:nvSpPr>
          <p:cNvPr id="11" name="Rounded Rectangle 10"/>
          <p:cNvSpPr/>
          <p:nvPr/>
        </p:nvSpPr>
        <p:spPr>
          <a:xfrm>
            <a:off x="9326880" y="1783080"/>
            <a:ext cx="2606040" cy="128016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59" y="1911095"/>
            <a:ext cx="2286000" cy="1051560"/>
          </a:xfrm>
          <a:prstGeom prst="rect">
            <a:avLst/>
          </a:prstGeom>
          <a:noFill/>
        </p:spPr>
        <p:txBody>
          <a:bodyPr wrap="square">
            <a:spAutoFit/>
          </a:bodyPr>
          <a:lstStyle/>
          <a:p>
            <a:pPr algn="l">
              <a:spcAft>
                <a:spcPts val="400"/>
              </a:spcAft>
            </a:pPr>
            <a:r>
              <a:rPr sz="1400" b="1" i="0">
                <a:solidFill>
                  <a:srgbClr val="A64B2A"/>
                </a:solidFill>
                <a:latin typeface="Arial"/>
              </a:rPr>
              <a:t>Training delay</a:t>
            </a:r>
          </a:p>
          <a:p>
            <a:pPr algn="l">
              <a:spcAft>
                <a:spcPts val="600"/>
              </a:spcAft>
            </a:pPr>
            <a:r>
              <a:rPr sz="1250" b="0" i="1">
                <a:solidFill>
                  <a:srgbClr val="5A6064"/>
                </a:solidFill>
                <a:latin typeface="Arial"/>
              </a:rPr>
              <a:t>Σ vⱼ · hours late</a:t>
            </a:r>
          </a:p>
        </p:txBody>
      </p:sp>
      <p:sp>
        <p:nvSpPr>
          <p:cNvPr id="13" name="Rounded Rectangle 12"/>
          <p:cNvSpPr/>
          <p:nvPr/>
        </p:nvSpPr>
        <p:spPr>
          <a:xfrm>
            <a:off x="822960" y="3246120"/>
            <a:ext cx="2606040" cy="128016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374136"/>
            <a:ext cx="2286000" cy="1051560"/>
          </a:xfrm>
          <a:prstGeom prst="rect">
            <a:avLst/>
          </a:prstGeom>
          <a:noFill/>
        </p:spPr>
        <p:txBody>
          <a:bodyPr wrap="square">
            <a:spAutoFit/>
          </a:bodyPr>
          <a:lstStyle/>
          <a:p>
            <a:pPr algn="l">
              <a:spcAft>
                <a:spcPts val="400"/>
              </a:spcAft>
            </a:pPr>
            <a:r>
              <a:rPr sz="1400" b="1" i="0">
                <a:solidFill>
                  <a:srgbClr val="A64B2A"/>
                </a:solidFill>
                <a:latin typeface="Arial"/>
              </a:rPr>
              <a:t>SLO violations</a:t>
            </a:r>
          </a:p>
          <a:p>
            <a:pPr algn="l">
              <a:spcAft>
                <a:spcPts val="600"/>
              </a:spcAft>
            </a:pPr>
            <a:r>
              <a:rPr sz="1250" b="0" i="1">
                <a:solidFill>
                  <a:srgbClr val="5A6064"/>
                </a:solidFill>
                <a:latin typeface="Arial"/>
              </a:rPr>
              <a:t>Σ uₛ · dropped requests</a:t>
            </a:r>
          </a:p>
        </p:txBody>
      </p:sp>
      <p:sp>
        <p:nvSpPr>
          <p:cNvPr id="15" name="Rounded Rectangle 14"/>
          <p:cNvSpPr/>
          <p:nvPr/>
        </p:nvSpPr>
        <p:spPr>
          <a:xfrm>
            <a:off x="3657600" y="3246120"/>
            <a:ext cx="2606040" cy="128016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0" y="3374136"/>
            <a:ext cx="2286000" cy="1051560"/>
          </a:xfrm>
          <a:prstGeom prst="rect">
            <a:avLst/>
          </a:prstGeom>
          <a:noFill/>
        </p:spPr>
        <p:txBody>
          <a:bodyPr wrap="square">
            <a:spAutoFit/>
          </a:bodyPr>
          <a:lstStyle/>
          <a:p>
            <a:pPr algn="l">
              <a:spcAft>
                <a:spcPts val="400"/>
              </a:spcAft>
            </a:pPr>
            <a:r>
              <a:rPr sz="1400" b="1" i="0">
                <a:solidFill>
                  <a:srgbClr val="A64B2A"/>
                </a:solidFill>
                <a:latin typeface="Arial"/>
              </a:rPr>
              <a:t>Switching &amp; checkpoints</a:t>
            </a:r>
          </a:p>
          <a:p>
            <a:pPr algn="l">
              <a:spcAft>
                <a:spcPts val="600"/>
              </a:spcAft>
            </a:pPr>
            <a:r>
              <a:rPr sz="1250" b="0" i="1">
                <a:solidFill>
                  <a:srgbClr val="5A6064"/>
                </a:solidFill>
                <a:latin typeface="Arial"/>
              </a:rPr>
              <a:t>per mode change</a:t>
            </a:r>
          </a:p>
        </p:txBody>
      </p:sp>
      <p:sp>
        <p:nvSpPr>
          <p:cNvPr id="17" name="Rounded Rectangle 16"/>
          <p:cNvSpPr/>
          <p:nvPr/>
        </p:nvSpPr>
        <p:spPr>
          <a:xfrm>
            <a:off x="6492240" y="3246120"/>
            <a:ext cx="2606040" cy="128016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3374136"/>
            <a:ext cx="2286000" cy="1051560"/>
          </a:xfrm>
          <a:prstGeom prst="rect">
            <a:avLst/>
          </a:prstGeom>
          <a:noFill/>
        </p:spPr>
        <p:txBody>
          <a:bodyPr wrap="square">
            <a:spAutoFit/>
          </a:bodyPr>
          <a:lstStyle/>
          <a:p>
            <a:pPr algn="l">
              <a:spcAft>
                <a:spcPts val="400"/>
              </a:spcAft>
            </a:pPr>
            <a:r>
              <a:rPr sz="1400" b="1" i="0">
                <a:solidFill>
                  <a:srgbClr val="A64B2A"/>
                </a:solidFill>
                <a:latin typeface="Arial"/>
              </a:rPr>
              <a:t>Battery wear</a:t>
            </a:r>
          </a:p>
          <a:p>
            <a:pPr algn="l">
              <a:spcAft>
                <a:spcPts val="600"/>
              </a:spcAft>
            </a:pPr>
            <a:r>
              <a:rPr sz="1250" b="0" i="1">
                <a:solidFill>
                  <a:srgbClr val="5A6064"/>
                </a:solidFill>
                <a:latin typeface="Arial"/>
              </a:rPr>
              <a:t>per kWh throughput</a:t>
            </a:r>
          </a:p>
        </p:txBody>
      </p:sp>
      <p:sp>
        <p:nvSpPr>
          <p:cNvPr id="19" name="Rounded Rectangle 18"/>
          <p:cNvSpPr/>
          <p:nvPr/>
        </p:nvSpPr>
        <p:spPr>
          <a:xfrm>
            <a:off x="9326880" y="3246120"/>
            <a:ext cx="2606040" cy="128016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59" y="3374136"/>
            <a:ext cx="2286000" cy="1051560"/>
          </a:xfrm>
          <a:prstGeom prst="rect">
            <a:avLst/>
          </a:prstGeom>
          <a:noFill/>
        </p:spPr>
        <p:txBody>
          <a:bodyPr wrap="square">
            <a:spAutoFit/>
          </a:bodyPr>
          <a:lstStyle/>
          <a:p>
            <a:pPr algn="l">
              <a:spcAft>
                <a:spcPts val="400"/>
              </a:spcAft>
            </a:pPr>
            <a:r>
              <a:rPr sz="1400" b="1" i="0">
                <a:solidFill>
                  <a:srgbClr val="A64B2A"/>
                </a:solidFill>
                <a:latin typeface="Arial"/>
              </a:rPr>
              <a:t>Carbon (optional)</a:t>
            </a:r>
          </a:p>
          <a:p>
            <a:pPr algn="l">
              <a:spcAft>
                <a:spcPts val="600"/>
              </a:spcAft>
            </a:pPr>
            <a:r>
              <a:rPr sz="1250" b="0" i="1">
                <a:solidFill>
                  <a:srgbClr val="5A6064"/>
                </a:solidFill>
                <a:latin typeface="Arial"/>
              </a:rPr>
              <a:t>CI · energy</a:t>
            </a:r>
          </a:p>
        </p:txBody>
      </p:sp>
      <p:sp>
        <p:nvSpPr>
          <p:cNvPr id="21" name="TextBox 20"/>
          <p:cNvSpPr txBox="1"/>
          <p:nvPr/>
        </p:nvSpPr>
        <p:spPr>
          <a:xfrm>
            <a:off x="822960" y="4800600"/>
            <a:ext cx="10607040" cy="1737360"/>
          </a:xfrm>
          <a:prstGeom prst="rect">
            <a:avLst/>
          </a:prstGeom>
          <a:noFill/>
        </p:spPr>
        <p:txBody>
          <a:bodyPr wrap="square">
            <a:spAutoFit/>
          </a:bodyPr>
          <a:lstStyle/>
          <a:p>
            <a:pPr algn="l">
              <a:spcAft>
                <a:spcPts val="800"/>
              </a:spcAft>
            </a:pPr>
            <a:r>
              <a:rPr sz="1500" b="0" i="0">
                <a:solidFill>
                  <a:srgbClr val="212528"/>
                </a:solidFill>
                <a:latin typeface="Arial"/>
              </a:rPr>
              <a:t>Constraints: site cap &amp; event reductions · ramp limits · linear rack-thermal dynamics · GPU capacity · SLO capacity from demand quantiles · work conservation &amp; deadlines · min-up/min-down · switching limits · checkpoint-before-suspend · battery state-of-charge.</a:t>
            </a:r>
          </a:p>
          <a:p>
            <a:pPr algn="l">
              <a:spcAft>
                <a:spcPts val="600"/>
              </a:spcAft>
            </a:pPr>
            <a:r>
              <a:rPr sz="1500" b="0" i="1">
                <a:solidFill>
                  <a:srgbClr val="5A6064"/>
                </a:solidFill>
                <a:latin typeface="Arial"/>
              </a:rPr>
              <a:t>≈4,000 binaries per step — HiGHS solves in 1–10 seconds. Stochastic via quantile-robust or 5–10-scenario MILP; Pareto frontier via ε-constraint sweeps.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640080" y="164592"/>
            <a:ext cx="10881360" cy="365760"/>
          </a:xfrm>
          <a:prstGeom prst="rect">
            <a:avLst/>
          </a:prstGeom>
          <a:noFill/>
        </p:spPr>
        <p:txBody>
          <a:bodyPr wrap="square">
            <a:spAutoFit/>
          </a:bodyPr>
          <a:lstStyle/>
          <a:p>
            <a:pPr algn="l">
              <a:spcAft>
                <a:spcPts val="600"/>
              </a:spcAft>
            </a:pPr>
            <a:r>
              <a:rPr sz="1200" b="1" i="0">
                <a:solidFill>
                  <a:srgbClr val="A64B2A"/>
                </a:solidFill>
                <a:latin typeface="Arial"/>
              </a:rPr>
              <a:t>PROJECT 1 · HEADROOM</a:t>
            </a:r>
          </a:p>
        </p:txBody>
      </p:sp>
      <p:sp>
        <p:nvSpPr>
          <p:cNvPr id="3" name="TextBox 2"/>
          <p:cNvSpPr txBox="1"/>
          <p:nvPr/>
        </p:nvSpPr>
        <p:spPr>
          <a:xfrm>
            <a:off x="640080" y="457200"/>
            <a:ext cx="10881360" cy="1051560"/>
          </a:xfrm>
          <a:prstGeom prst="rect">
            <a:avLst/>
          </a:prstGeom>
          <a:noFill/>
        </p:spPr>
        <p:txBody>
          <a:bodyPr wrap="square">
            <a:spAutoFit/>
          </a:bodyPr>
          <a:lstStyle/>
          <a:p>
            <a:pPr algn="l">
              <a:spcAft>
                <a:spcPts val="600"/>
              </a:spcAft>
            </a:pPr>
            <a:r>
              <a:rPr sz="3200" b="1" i="0">
                <a:solidFill>
                  <a:srgbClr val="212528"/>
                </a:solidFill>
                <a:latin typeface="Arial"/>
              </a:rPr>
              <a:t>HeadroomSim: a trace-driven digital twin + eight baselines</a:t>
            </a:r>
          </a:p>
        </p:txBody>
      </p:sp>
      <p:sp>
        <p:nvSpPr>
          <p:cNvPr id="4" name="Rectangle 3"/>
          <p:cNvSpPr/>
          <p:nvPr/>
        </p:nvSpPr>
        <p:spPr>
          <a:xfrm>
            <a:off x="658368" y="1371600"/>
            <a:ext cx="1005840" cy="33020"/>
          </a:xfrm>
          <a:prstGeom prst="rect">
            <a:avLst/>
          </a:prstGeom>
          <a:solidFill>
            <a:srgbClr val="A6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10607040" cy="4754880"/>
          </a:xfrm>
          <a:prstGeom prst="rect">
            <a:avLst/>
          </a:prstGeom>
          <a:noFill/>
        </p:spPr>
        <p:txBody>
          <a:bodyPr wrap="square">
            <a:spAutoFit/>
          </a:bodyPr>
          <a:lstStyle/>
          <a:p>
            <a:pPr algn="l">
              <a:spcAft>
                <a:spcPts val="200"/>
              </a:spcAft>
            </a:pPr>
            <a:r>
              <a:rPr sz="1500" b="1" i="0">
                <a:solidFill>
                  <a:srgbClr val="A64B2A"/>
                </a:solidFill>
                <a:latin typeface="Arial"/>
              </a:rPr>
              <a:t>•  Cluster</a:t>
            </a:r>
            <a:r>
              <a:rPr sz="1400" b="0">
                <a:solidFill>
                  <a:srgbClr val="212528"/>
                </a:solidFill>
                <a:latin typeface="Arial"/>
              </a:rPr>
              <a:t> — 2,048 H100-class GPUs in 32 liquid-cooled racks (~2.7 MW IT); optional GB200 NVL72 racks; 1 MWh battery; firm 2.4 MW + 0.8 MW curtailable tranche.</a:t>
            </a:r>
          </a:p>
          <a:p>
            <a:pPr algn="l">
              <a:spcAft>
                <a:spcPts val="200"/>
              </a:spcAft>
            </a:pPr>
            <a:r>
              <a:rPr sz="1500" b="1" i="0">
                <a:solidFill>
                  <a:srgbClr val="A64B2A"/>
                </a:solidFill>
                <a:latin typeface="Arial"/>
              </a:rPr>
              <a:t>•  Workloads from public traces</a:t>
            </a:r>
            <a:r>
              <a:rPr sz="1400" b="0">
                <a:solidFill>
                  <a:srgbClr val="212528"/>
                </a:solidFill>
                <a:latin typeface="Arial"/>
              </a:rPr>
              <a:t> — training arrivals from Alibaba PAI / Acme; inference demand replayed from Azure LLM traces 2023/24; failure process calibrated to Meta/Llama-3 rates.</a:t>
            </a:r>
          </a:p>
          <a:p>
            <a:pPr algn="l">
              <a:spcAft>
                <a:spcPts val="200"/>
              </a:spcAft>
            </a:pPr>
            <a:r>
              <a:rPr sz="1500" b="1" i="0">
                <a:solidFill>
                  <a:srgbClr val="A64B2A"/>
                </a:solidFill>
                <a:latin typeface="Arial"/>
              </a:rPr>
              <a:t>•  Physics</a:t>
            </a:r>
            <a:r>
              <a:rPr sz="1400" b="0">
                <a:solidFill>
                  <a:srgbClr val="212528"/>
                </a:solidFill>
                <a:latin typeface="Arial"/>
              </a:rPr>
              <a:t> — power modes fitted to Zeus/Perseus curves; 0.1-second power waveforms from the NLR H100 dataset for realism; RC thermal model; chiller COP from manufacturer curves; real ERCOT/PJM/CAISO prices.</a:t>
            </a:r>
          </a:p>
          <a:p>
            <a:pPr algn="l">
              <a:spcAft>
                <a:spcPts val="200"/>
              </a:spcAft>
            </a:pPr>
            <a:r>
              <a:rPr sz="1500" b="1" i="0">
                <a:solidFill>
                  <a:srgbClr val="A64B2A"/>
                </a:solidFill>
                <a:latin typeface="Arial"/>
              </a:rPr>
              <a:t>•  Baselines</a:t>
            </a:r>
            <a:r>
              <a:rPr sz="1400" b="0">
                <a:solidFill>
                  <a:srgbClr val="212528"/>
                </a:solidFill>
                <a:latin typeface="Arial"/>
              </a:rPr>
              <a:t> — static-cap kill · uniform capping (nvPAX-like) · priority rules (Emerald/DSX-like) · day-ahead batch shifting (Google-like) · Perseus-only · PPO reinforcement learning — then HEADROOM deterministic and stochastic MPC.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640080" y="164592"/>
            <a:ext cx="10881360" cy="365760"/>
          </a:xfrm>
          <a:prstGeom prst="rect">
            <a:avLst/>
          </a:prstGeom>
          <a:noFill/>
        </p:spPr>
        <p:txBody>
          <a:bodyPr wrap="square">
            <a:spAutoFit/>
          </a:bodyPr>
          <a:lstStyle/>
          <a:p>
            <a:pPr algn="l">
              <a:spcAft>
                <a:spcPts val="600"/>
              </a:spcAft>
            </a:pPr>
            <a:r>
              <a:rPr sz="1200" b="1" i="0">
                <a:solidFill>
                  <a:srgbClr val="A64B2A"/>
                </a:solidFill>
                <a:latin typeface="Arial"/>
              </a:rPr>
              <a:t>PROJECT 1 · HEADROOM</a:t>
            </a:r>
          </a:p>
        </p:txBody>
      </p:sp>
      <p:sp>
        <p:nvSpPr>
          <p:cNvPr id="3" name="TextBox 2"/>
          <p:cNvSpPr txBox="1"/>
          <p:nvPr/>
        </p:nvSpPr>
        <p:spPr>
          <a:xfrm>
            <a:off x="640080" y="457200"/>
            <a:ext cx="10881360" cy="1051560"/>
          </a:xfrm>
          <a:prstGeom prst="rect">
            <a:avLst/>
          </a:prstGeom>
          <a:noFill/>
        </p:spPr>
        <p:txBody>
          <a:bodyPr wrap="square">
            <a:spAutoFit/>
          </a:bodyPr>
          <a:lstStyle/>
          <a:p>
            <a:pPr algn="l">
              <a:spcAft>
                <a:spcPts val="600"/>
              </a:spcAft>
            </a:pPr>
            <a:r>
              <a:rPr sz="3200" b="1" i="0">
                <a:solidFill>
                  <a:srgbClr val="212528"/>
                </a:solidFill>
                <a:latin typeface="Arial"/>
              </a:rPr>
              <a:t>Scored 152.5 / 170 — survives the attack review</a:t>
            </a:r>
          </a:p>
        </p:txBody>
      </p:sp>
      <p:sp>
        <p:nvSpPr>
          <p:cNvPr id="4" name="Rectangle 3"/>
          <p:cNvSpPr/>
          <p:nvPr/>
        </p:nvSpPr>
        <p:spPr>
          <a:xfrm>
            <a:off x="658368" y="1371600"/>
            <a:ext cx="1005840" cy="33020"/>
          </a:xfrm>
          <a:prstGeom prst="rect">
            <a:avLst/>
          </a:prstGeom>
          <a:solidFill>
            <a:srgbClr val="A6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5120640" cy="420624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011680"/>
            <a:ext cx="4572000" cy="3749039"/>
          </a:xfrm>
          <a:prstGeom prst="rect">
            <a:avLst/>
          </a:prstGeom>
          <a:noFill/>
        </p:spPr>
        <p:txBody>
          <a:bodyPr wrap="square">
            <a:spAutoFit/>
          </a:bodyPr>
          <a:lstStyle/>
          <a:p>
            <a:pPr algn="l">
              <a:spcAft>
                <a:spcPts val="1000"/>
              </a:spcAft>
            </a:pPr>
            <a:r>
              <a:rPr sz="1800" b="1" i="0">
                <a:solidFill>
                  <a:srgbClr val="212528"/>
                </a:solidFill>
                <a:latin typeface="Arial"/>
              </a:rPr>
              <a:t>Scoring matrix (top 3)</a:t>
            </a:r>
          </a:p>
          <a:p>
            <a:pPr algn="l">
              <a:spcAft>
                <a:spcPts val="800"/>
              </a:spcAft>
            </a:pPr>
            <a:r>
              <a:rPr sz="1500" b="1" i="0">
                <a:solidFill>
                  <a:srgbClr val="A64B2A"/>
                </a:solidFill>
                <a:latin typeface="Arial"/>
              </a:rPr>
              <a:t>HEADROOM — 152.5  (rank 1)</a:t>
            </a:r>
          </a:p>
          <a:p>
            <a:pPr algn="l">
              <a:spcAft>
                <a:spcPts val="800"/>
              </a:spcAft>
            </a:pPr>
            <a:r>
              <a:rPr sz="1500" b="0" i="0">
                <a:solidFill>
                  <a:srgbClr val="212528"/>
                </a:solidFill>
                <a:latin typeface="Arial"/>
              </a:rPr>
              <a:t>ETTR-MAX (failure-aware orchestration) — 125.5</a:t>
            </a:r>
          </a:p>
          <a:p>
            <a:pPr algn="l">
              <a:spcAft>
                <a:spcPts val="800"/>
              </a:spcAft>
            </a:pPr>
            <a:r>
              <a:rPr sz="1500" b="0" i="0">
                <a:solidFill>
                  <a:srgbClr val="212528"/>
                </a:solidFill>
                <a:latin typeface="Arial"/>
              </a:rPr>
              <a:t>COLDPLAN (cooling MPC) — 120.5</a:t>
            </a:r>
          </a:p>
          <a:p>
            <a:pPr algn="l">
              <a:spcAft>
                <a:spcPts val="800"/>
              </a:spcAft>
            </a:pPr>
            <a:r>
              <a:rPr sz="1500" b="0" i="0">
                <a:solidFill>
                  <a:srgbClr val="212528"/>
                </a:solidFill>
                <a:latin typeface="Arial"/>
              </a:rPr>
              <a:t>SKYFLEX (geo-serving) — 119.5</a:t>
            </a:r>
          </a:p>
          <a:p>
            <a:pPr algn="l">
              <a:spcAft>
                <a:spcPts val="800"/>
              </a:spcAft>
            </a:pPr>
            <a:r>
              <a:rPr sz="1500" b="0" i="0">
                <a:solidFill>
                  <a:srgbClr val="212528"/>
                </a:solidFill>
                <a:latin typeface="Arial"/>
              </a:rPr>
              <a:t>PACKWATT (placement) — 119.0</a:t>
            </a:r>
          </a:p>
          <a:p>
            <a:pPr algn="l">
              <a:spcAft>
                <a:spcPts val="600"/>
              </a:spcAft>
            </a:pPr>
            <a:r>
              <a:rPr sz="1350" b="0" i="1">
                <a:solidFill>
                  <a:srgbClr val="5A6064"/>
                </a:solidFill>
                <a:latin typeface="Arial"/>
              </a:rPr>
              <a:t>HEADROOM wins on relevance, optimization depth, novelty and hiring value — and is weakest on no criterion. COLDPLAN is absorbed as its thermal sub-model.</a:t>
            </a:r>
          </a:p>
        </p:txBody>
      </p:sp>
      <p:sp>
        <p:nvSpPr>
          <p:cNvPr id="7" name="Rounded Rectangle 6"/>
          <p:cNvSpPr/>
          <p:nvPr/>
        </p:nvSpPr>
        <p:spPr>
          <a:xfrm>
            <a:off x="6355080" y="1783080"/>
            <a:ext cx="4983480" cy="420624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2011680"/>
            <a:ext cx="4389120" cy="3749039"/>
          </a:xfrm>
          <a:prstGeom prst="rect">
            <a:avLst/>
          </a:prstGeom>
          <a:noFill/>
        </p:spPr>
        <p:txBody>
          <a:bodyPr wrap="square">
            <a:spAutoFit/>
          </a:bodyPr>
          <a:lstStyle/>
          <a:p>
            <a:pPr algn="l">
              <a:spcAft>
                <a:spcPts val="1000"/>
              </a:spcAft>
            </a:pPr>
            <a:r>
              <a:rPr sz="1800" b="1" i="0">
                <a:solidFill>
                  <a:srgbClr val="212528"/>
                </a:solidFill>
                <a:latin typeface="Arial"/>
              </a:rPr>
              <a:t>Toughest attacks, answered</a:t>
            </a:r>
          </a:p>
          <a:p>
            <a:pPr algn="l">
              <a:spcAft>
                <a:spcPts val="900"/>
              </a:spcAft>
            </a:pPr>
            <a:r>
              <a:rPr sz="1350" b="0" i="0">
                <a:solidFill>
                  <a:srgbClr val="212528"/>
                </a:solidFill>
                <a:latin typeface="Arial"/>
              </a:rPr>
              <a:t>•  “Is it already solved commercially?” — systems exist but are rule-based, undisclosed, and publish no cost frontier. The gap is the open benchmark + optimal controller.</a:t>
            </a:r>
          </a:p>
          <a:p>
            <a:pPr algn="l">
              <a:spcAft>
                <a:spcPts val="900"/>
              </a:spcAft>
            </a:pPr>
            <a:r>
              <a:rPr sz="1350" b="0" i="0">
                <a:solidFill>
                  <a:srgbClr val="212528"/>
                </a:solidFill>
                <a:latin typeface="Arial"/>
              </a:rPr>
              <a:t>•  “Can one student build it?” — SimPy twin, Pyomo/HiGHS MILP, LightGBM, Grafana: all standard, laptop-scale.</a:t>
            </a:r>
          </a:p>
          <a:p>
            <a:pPr algn="l">
              <a:spcAft>
                <a:spcPts val="900"/>
              </a:spcAft>
            </a:pPr>
            <a:r>
              <a:rPr sz="1350" b="0" i="0">
                <a:solidFill>
                  <a:srgbClr val="212528"/>
                </a:solidFill>
                <a:latin typeface="Arial"/>
              </a:rPr>
              <a:t>•  “Is it just a dashboard?” — no: a closed-loop controller with a defined objective, dynamics and baselines.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640080" y="164592"/>
            <a:ext cx="10881360" cy="365760"/>
          </a:xfrm>
          <a:prstGeom prst="rect">
            <a:avLst/>
          </a:prstGeom>
          <a:noFill/>
        </p:spPr>
        <p:txBody>
          <a:bodyPr wrap="square">
            <a:spAutoFit/>
          </a:bodyPr>
          <a:lstStyle/>
          <a:p>
            <a:pPr algn="l">
              <a:spcAft>
                <a:spcPts val="600"/>
              </a:spcAft>
            </a:pPr>
            <a:r>
              <a:rPr sz="1200" b="1" i="0">
                <a:solidFill>
                  <a:srgbClr val="2E45B0"/>
                </a:solidFill>
                <a:latin typeface="Arial"/>
              </a:rPr>
              <a:t>PROJECT 2 · SETU</a:t>
            </a:r>
          </a:p>
        </p:txBody>
      </p:sp>
      <p:sp>
        <p:nvSpPr>
          <p:cNvPr id="3" name="TextBox 2"/>
          <p:cNvSpPr txBox="1"/>
          <p:nvPr/>
        </p:nvSpPr>
        <p:spPr>
          <a:xfrm>
            <a:off x="640080" y="457200"/>
            <a:ext cx="10881360" cy="1051560"/>
          </a:xfrm>
          <a:prstGeom prst="rect">
            <a:avLst/>
          </a:prstGeom>
          <a:noFill/>
        </p:spPr>
        <p:txBody>
          <a:bodyPr wrap="square">
            <a:spAutoFit/>
          </a:bodyPr>
          <a:lstStyle/>
          <a:p>
            <a:pPr algn="l">
              <a:spcAft>
                <a:spcPts val="600"/>
              </a:spcAft>
            </a:pPr>
            <a:r>
              <a:rPr sz="3200" b="1" i="0">
                <a:solidFill>
                  <a:srgbClr val="212528"/>
                </a:solidFill>
                <a:latin typeface="Arial"/>
              </a:rPr>
              <a:t>One share, two settlement rails</a:t>
            </a:r>
          </a:p>
        </p:txBody>
      </p:sp>
      <p:sp>
        <p:nvSpPr>
          <p:cNvPr id="4" name="Rectangle 3"/>
          <p:cNvSpPr/>
          <p:nvPr/>
        </p:nvSpPr>
        <p:spPr>
          <a:xfrm>
            <a:off x="658368" y="1371600"/>
            <a:ext cx="1005840" cy="33020"/>
          </a:xfrm>
          <a:prstGeom prst="rect">
            <a:avLst/>
          </a:prstGeom>
          <a:solidFill>
            <a:srgbClr val="A6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5120640" cy="224028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47672"/>
            <a:ext cx="4572000" cy="1920240"/>
          </a:xfrm>
          <a:prstGeom prst="rect">
            <a:avLst/>
          </a:prstGeom>
          <a:noFill/>
        </p:spPr>
        <p:txBody>
          <a:bodyPr wrap="square">
            <a:spAutoFit/>
          </a:bodyPr>
          <a:lstStyle/>
          <a:p>
            <a:pPr algn="l">
              <a:spcAft>
                <a:spcPts val="600"/>
              </a:spcAft>
            </a:pPr>
            <a:r>
              <a:rPr sz="1700" b="1" i="0">
                <a:solidFill>
                  <a:srgbClr val="A64B2A"/>
                </a:solidFill>
                <a:latin typeface="Arial"/>
              </a:rPr>
              <a:t>Rail N · Netted (traditional)</a:t>
            </a:r>
          </a:p>
          <a:p>
            <a:pPr algn="l">
              <a:spcAft>
                <a:spcPts val="600"/>
              </a:spcAft>
            </a:pPr>
            <a:r>
              <a:rPr sz="1400" b="0" i="0">
                <a:solidFill>
                  <a:srgbClr val="212528"/>
                </a:solidFill>
                <a:latin typeface="Arial"/>
              </a:rPr>
              <a:t>NSCC-style multilateral netting, T+1, deferred finality. Netting removes ~98% of cash movement (SIFMA). Low liquidity need; counterparty exposure over the cycle; fails possible.</a:t>
            </a:r>
          </a:p>
        </p:txBody>
      </p:sp>
      <p:sp>
        <p:nvSpPr>
          <p:cNvPr id="7" name="Rounded Rectangle 6"/>
          <p:cNvSpPr/>
          <p:nvPr/>
        </p:nvSpPr>
        <p:spPr>
          <a:xfrm>
            <a:off x="6263640" y="1783080"/>
            <a:ext cx="5120640" cy="224028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59" y="1947672"/>
            <a:ext cx="4572000" cy="1920240"/>
          </a:xfrm>
          <a:prstGeom prst="rect">
            <a:avLst/>
          </a:prstGeom>
          <a:noFill/>
        </p:spPr>
        <p:txBody>
          <a:bodyPr wrap="square">
            <a:spAutoFit/>
          </a:bodyPr>
          <a:lstStyle/>
          <a:p>
            <a:pPr algn="l">
              <a:spcAft>
                <a:spcPts val="600"/>
              </a:spcAft>
            </a:pPr>
            <a:r>
              <a:rPr sz="1700" b="1" i="0">
                <a:solidFill>
                  <a:srgbClr val="A64B2A"/>
                </a:solidFill>
                <a:latin typeface="Arial"/>
              </a:rPr>
              <a:t>Rail A · Atomic (tokenized)</a:t>
            </a:r>
          </a:p>
          <a:p>
            <a:pPr algn="l">
              <a:spcAft>
                <a:spcPts val="600"/>
              </a:spcAft>
            </a:pPr>
            <a:r>
              <a:rPr sz="1400" b="0" i="0">
                <a:solidFill>
                  <a:srgbClr val="212528"/>
                </a:solidFill>
                <a:latin typeface="Arial"/>
              </a:rPr>
              <a:t>Permissioned security token + cash token; delivery-versus-payment in one transaction, T+0, any hour. Zero replacement risk — but every trade consumes gross, pre-funded liquidity.</a:t>
            </a:r>
          </a:p>
        </p:txBody>
      </p:sp>
      <p:sp>
        <p:nvSpPr>
          <p:cNvPr id="9" name="TextBox 8"/>
          <p:cNvSpPr txBox="1"/>
          <p:nvPr/>
        </p:nvSpPr>
        <p:spPr>
          <a:xfrm>
            <a:off x="822960" y="4343400"/>
            <a:ext cx="10607040" cy="1828800"/>
          </a:xfrm>
          <a:prstGeom prst="rect">
            <a:avLst/>
          </a:prstGeom>
          <a:noFill/>
        </p:spPr>
        <p:txBody>
          <a:bodyPr wrap="square">
            <a:spAutoFit/>
          </a:bodyPr>
          <a:lstStyle/>
          <a:p>
            <a:pPr algn="l">
              <a:spcAft>
                <a:spcPts val="600"/>
              </a:spcAft>
            </a:pPr>
            <a:r>
              <a:rPr sz="1600" b="0" i="0">
                <a:solidFill>
                  <a:srgbClr val="212528"/>
                </a:solidFill>
                <a:latin typeface="Arial"/>
              </a:rPr>
              <a:t>From H2 2026 the same U.S. share can settle both ways: DTC's 'tokenized entitlements' move wallet-to-wallet while the book-entry position stays netted. Institutions resolve the trade-off by defaulting to all-netted — or to bespoke atomic silos. Nobody has published how to allocate flow between the rails.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640080" y="164592"/>
            <a:ext cx="10881360" cy="365760"/>
          </a:xfrm>
          <a:prstGeom prst="rect">
            <a:avLst/>
          </a:prstGeom>
          <a:noFill/>
        </p:spPr>
        <p:txBody>
          <a:bodyPr wrap="square">
            <a:spAutoFit/>
          </a:bodyPr>
          <a:lstStyle/>
          <a:p>
            <a:pPr algn="l">
              <a:spcAft>
                <a:spcPts val="600"/>
              </a:spcAft>
            </a:pPr>
            <a:r>
              <a:rPr sz="1200" b="1" i="0">
                <a:solidFill>
                  <a:srgbClr val="2E45B0"/>
                </a:solidFill>
                <a:latin typeface="Arial"/>
              </a:rPr>
              <a:t>PROJECT 2 · SETU</a:t>
            </a:r>
          </a:p>
        </p:txBody>
      </p:sp>
      <p:sp>
        <p:nvSpPr>
          <p:cNvPr id="3" name="TextBox 2"/>
          <p:cNvSpPr txBox="1"/>
          <p:nvPr/>
        </p:nvSpPr>
        <p:spPr>
          <a:xfrm>
            <a:off x="640080" y="457200"/>
            <a:ext cx="10881360" cy="1051560"/>
          </a:xfrm>
          <a:prstGeom prst="rect">
            <a:avLst/>
          </a:prstGeom>
          <a:noFill/>
        </p:spPr>
        <p:txBody>
          <a:bodyPr wrap="square">
            <a:spAutoFit/>
          </a:bodyPr>
          <a:lstStyle/>
          <a:p>
            <a:pPr algn="l">
              <a:spcAft>
                <a:spcPts val="600"/>
              </a:spcAft>
            </a:pPr>
            <a:r>
              <a:rPr sz="3200" b="1" i="0">
                <a:solidFill>
                  <a:srgbClr val="212528"/>
                </a:solidFill>
                <a:latin typeface="Arial"/>
              </a:rPr>
              <a:t>2026: every serious programme adds an atomic rail beside the netted one</a:t>
            </a:r>
          </a:p>
        </p:txBody>
      </p:sp>
      <p:sp>
        <p:nvSpPr>
          <p:cNvPr id="4" name="Rectangle 3"/>
          <p:cNvSpPr/>
          <p:nvPr/>
        </p:nvSpPr>
        <p:spPr>
          <a:xfrm>
            <a:off x="658368" y="1371600"/>
            <a:ext cx="1005840" cy="33020"/>
          </a:xfrm>
          <a:prstGeom prst="rect">
            <a:avLst/>
          </a:prstGeom>
          <a:solidFill>
            <a:srgbClr val="A6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10607040" cy="4754880"/>
          </a:xfrm>
          <a:prstGeom prst="rect">
            <a:avLst/>
          </a:prstGeom>
          <a:noFill/>
        </p:spPr>
        <p:txBody>
          <a:bodyPr wrap="square">
            <a:spAutoFit/>
          </a:bodyPr>
          <a:lstStyle/>
          <a:p>
            <a:pPr algn="l">
              <a:spcAft>
                <a:spcPts val="200"/>
              </a:spcAft>
            </a:pPr>
            <a:r>
              <a:rPr sz="1500" b="1" i="0">
                <a:solidFill>
                  <a:srgbClr val="A64B2A"/>
                </a:solidFill>
                <a:latin typeface="Arial"/>
              </a:rPr>
              <a:t>•  11 Dec 2025 — SEC no-action letter to DTC</a:t>
            </a:r>
            <a:r>
              <a:rPr sz="1400" b="0">
                <a:solidFill>
                  <a:srgbClr val="212528"/>
                </a:solidFill>
                <a:latin typeface="Arial"/>
              </a:rPr>
              <a:t> — tokenize Russell 1000 stocks, ETFs, Treasuries for 3 years; tokens move wallet-to-wallet at any time — but carry no settlement or collateral value at DTC during the pilot.</a:t>
            </a:r>
          </a:p>
          <a:p>
            <a:pPr algn="l">
              <a:spcAft>
                <a:spcPts val="200"/>
              </a:spcAft>
            </a:pPr>
            <a:r>
              <a:rPr sz="1500" b="1" i="0">
                <a:solidFill>
                  <a:srgbClr val="A64B2A"/>
                </a:solidFill>
                <a:latin typeface="Arial"/>
              </a:rPr>
              <a:t>•  18 Mar 2026 — Nasdaq approval</a:t>
            </a:r>
            <a:r>
              <a:rPr sz="1400" b="0">
                <a:solidFill>
                  <a:srgbClr val="212528"/>
                </a:solidFill>
                <a:latin typeface="Arial"/>
              </a:rPr>
              <a:t> — tokenized stocks trade on the same order book, with the same priority, as traditional shares. Trading unified; settlement not.</a:t>
            </a:r>
          </a:p>
          <a:p>
            <a:pPr algn="l">
              <a:spcAft>
                <a:spcPts val="200"/>
              </a:spcAft>
            </a:pPr>
            <a:r>
              <a:rPr sz="1500" b="1" i="0">
                <a:solidFill>
                  <a:srgbClr val="A64B2A"/>
                </a:solidFill>
                <a:latin typeface="Arial"/>
              </a:rPr>
              <a:t>•  15 Jul 2026 — DTC production pilot</a:t>
            </a:r>
            <a:r>
              <a:rPr sz="1400" b="0">
                <a:solidFill>
                  <a:srgbClr val="212528"/>
                </a:solidFill>
                <a:latin typeface="Arial"/>
              </a:rPr>
              <a:t> — 50+ firms; first live tokenized trades (MSFT, QQQ, SPY, Treasuries) on Hyperledger Besu and Canton; full launch October 2026.</a:t>
            </a:r>
          </a:p>
          <a:p>
            <a:pPr algn="l">
              <a:spcAft>
                <a:spcPts val="200"/>
              </a:spcAft>
            </a:pPr>
            <a:r>
              <a:rPr sz="1500" b="1" i="0">
                <a:solidFill>
                  <a:srgbClr val="A64B2A"/>
                </a:solidFill>
                <a:latin typeface="Arial"/>
              </a:rPr>
              <a:t>•  10 Sep 2026 — RBI–SEBI pilot (India)</a:t>
            </a:r>
            <a:r>
              <a:rPr sz="1400" b="0">
                <a:solidFill>
                  <a:srgbClr val="212528"/>
                </a:solidFill>
                <a:latin typeface="Arial"/>
              </a:rPr>
              <a:t> — tokenised corporate bonds settling in CBDC — the same two-rail coexistence, one year later, and locally legible.</a:t>
            </a:r>
          </a:p>
          <a:p>
            <a:pPr algn="l">
              <a:spcAft>
                <a:spcPts val="200"/>
              </a:spcAft>
            </a:pPr>
            <a:r>
              <a:rPr sz="1500" b="1" i="0">
                <a:solidFill>
                  <a:srgbClr val="A64B2A"/>
                </a:solidFill>
                <a:latin typeface="Arial"/>
              </a:rPr>
              <a:t>•  21 Sep 2026 — ECB Pontes</a:t>
            </a:r>
            <a:r>
              <a:rPr sz="1400" b="0">
                <a:solidFill>
                  <a:srgbClr val="212528"/>
                </a:solidFill>
                <a:latin typeface="Arial"/>
              </a:rPr>
              <a:t> — DLT settlement in central-bank money goes live; BIS Project Agorá confirms atomic multi-currency settlement is feasible.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640080" y="164592"/>
            <a:ext cx="10881360" cy="365760"/>
          </a:xfrm>
          <a:prstGeom prst="rect">
            <a:avLst/>
          </a:prstGeom>
          <a:noFill/>
        </p:spPr>
        <p:txBody>
          <a:bodyPr wrap="square">
            <a:spAutoFit/>
          </a:bodyPr>
          <a:lstStyle/>
          <a:p>
            <a:pPr algn="l">
              <a:spcAft>
                <a:spcPts val="600"/>
              </a:spcAft>
            </a:pPr>
            <a:r>
              <a:rPr sz="1200" b="1" i="0">
                <a:solidFill>
                  <a:srgbClr val="2E45B0"/>
                </a:solidFill>
                <a:latin typeface="Arial"/>
              </a:rPr>
              <a:t>PROJECT 2 · SETU</a:t>
            </a:r>
          </a:p>
        </p:txBody>
      </p:sp>
      <p:sp>
        <p:nvSpPr>
          <p:cNvPr id="3" name="TextBox 2"/>
          <p:cNvSpPr txBox="1"/>
          <p:nvPr/>
        </p:nvSpPr>
        <p:spPr>
          <a:xfrm>
            <a:off x="640080" y="457200"/>
            <a:ext cx="10881360" cy="1051560"/>
          </a:xfrm>
          <a:prstGeom prst="rect">
            <a:avLst/>
          </a:prstGeom>
          <a:noFill/>
        </p:spPr>
        <p:txBody>
          <a:bodyPr wrap="square">
            <a:spAutoFit/>
          </a:bodyPr>
          <a:lstStyle/>
          <a:p>
            <a:pPr algn="l">
              <a:spcAft>
                <a:spcPts val="600"/>
              </a:spcAft>
            </a:pPr>
            <a:r>
              <a:rPr sz="3200" b="1" i="0">
                <a:solidFill>
                  <a:srgbClr val="212528"/>
                </a:solidFill>
                <a:latin typeface="Arial"/>
              </a:rPr>
              <a:t>Five anchor papers — all single-rail</a:t>
            </a:r>
          </a:p>
        </p:txBody>
      </p:sp>
      <p:sp>
        <p:nvSpPr>
          <p:cNvPr id="4" name="Rectangle 3"/>
          <p:cNvSpPr/>
          <p:nvPr/>
        </p:nvSpPr>
        <p:spPr>
          <a:xfrm>
            <a:off x="658368" y="1371600"/>
            <a:ext cx="1005840" cy="33020"/>
          </a:xfrm>
          <a:prstGeom prst="rect">
            <a:avLst/>
          </a:prstGeom>
          <a:solidFill>
            <a:srgbClr val="A6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10607040" cy="4754880"/>
          </a:xfrm>
          <a:prstGeom prst="rect">
            <a:avLst/>
          </a:prstGeom>
          <a:noFill/>
        </p:spPr>
        <p:txBody>
          <a:bodyPr wrap="square">
            <a:spAutoFit/>
          </a:bodyPr>
          <a:lstStyle/>
          <a:p>
            <a:pPr algn="l">
              <a:spcAft>
                <a:spcPts val="200"/>
              </a:spcAft>
            </a:pPr>
            <a:r>
              <a:rPr sz="1500" b="1" i="0">
                <a:solidFill>
                  <a:srgbClr val="A64B2A"/>
                </a:solidFill>
                <a:latin typeface="Arial"/>
              </a:rPr>
              <a:t>•  Khapko &amp; Zoican 2020 (Management Science)</a:t>
            </a:r>
            <a:r>
              <a:rPr sz="1400" b="0">
                <a:solidFill>
                  <a:srgbClr val="212528"/>
                </a:solidFill>
                <a:latin typeface="Arial"/>
              </a:rPr>
              <a:t> — optimal settlement speed is flexible, not a fixed cycle; fail penalties act like options. Gap: one rail, no per-trade choice.</a:t>
            </a:r>
          </a:p>
          <a:p>
            <a:pPr algn="l">
              <a:spcAft>
                <a:spcPts val="200"/>
              </a:spcAft>
            </a:pPr>
            <a:r>
              <a:rPr sz="1500" b="1" i="0">
                <a:solidFill>
                  <a:srgbClr val="A64B2A"/>
                </a:solidFill>
                <a:latin typeface="Arial"/>
              </a:rPr>
              <a:t>•  Chiu &amp; Koeppl 2019 (RFS)</a:t>
            </a:r>
            <a:r>
              <a:rPr sz="1400" b="0">
                <a:solidFill>
                  <a:srgbClr val="212528"/>
                </a:solidFill>
                <a:latin typeface="Arial"/>
              </a:rPr>
              <a:t> — settlement speed is a priced good investors pay for. Gap: proof-of-work model, no netting, no hybrid.</a:t>
            </a:r>
          </a:p>
          <a:p>
            <a:pPr algn="l">
              <a:spcAft>
                <a:spcPts val="200"/>
              </a:spcAft>
            </a:pPr>
            <a:r>
              <a:rPr sz="1500" b="1" i="0">
                <a:solidFill>
                  <a:srgbClr val="A64B2A"/>
                </a:solidFill>
                <a:latin typeface="Arial"/>
              </a:rPr>
              <a:t>•  Lee, Martin &amp; Townsend 2024 (NY Fed)</a:t>
            </a:r>
            <a:r>
              <a:rPr sz="1400" b="0">
                <a:solidFill>
                  <a:srgbClr val="212528"/>
                </a:solidFill>
                <a:latin typeface="Arial"/>
              </a:rPr>
              <a:t> — trading and settlement must be designed jointly; tokens suit direct trading. Gap: no liquidity cost, no interior optimum.</a:t>
            </a:r>
          </a:p>
          <a:p>
            <a:pPr algn="l">
              <a:spcAft>
                <a:spcPts val="200"/>
              </a:spcAft>
            </a:pPr>
            <a:r>
              <a:rPr sz="1500" b="1" i="0">
                <a:solidFill>
                  <a:srgbClr val="A64B2A"/>
                </a:solidFill>
                <a:latin typeface="Arial"/>
              </a:rPr>
              <a:t>•  Cong, Mayer &amp; Rabetti 2026 (Wharton)</a:t>
            </a:r>
            <a:r>
              <a:rPr sz="1400" b="0">
                <a:solidFill>
                  <a:srgbClr val="212528"/>
                </a:solidFill>
                <a:latin typeface="Arial"/>
              </a:rPr>
              <a:t> — speed-matching principle: token speed should not exceed the underlying's capacity; removing market 'pauses' amplifies stress. Gap: a principle, not an algorithm.</a:t>
            </a:r>
          </a:p>
          <a:p>
            <a:pPr algn="l">
              <a:spcAft>
                <a:spcPts val="200"/>
              </a:spcAft>
            </a:pPr>
            <a:r>
              <a:rPr sz="1500" b="1" i="0">
                <a:solidFill>
                  <a:srgbClr val="A64B2A"/>
                </a:solidFill>
                <a:latin typeface="Arial"/>
              </a:rPr>
              <a:t>•  Benos, Garratt &amp; Gurrola-Perez 2017 (BoE)</a:t>
            </a:r>
            <a:r>
              <a:rPr sz="1400" b="0">
                <a:solidFill>
                  <a:srgbClr val="212528"/>
                </a:solidFill>
                <a:latin typeface="Arial"/>
              </a:rPr>
              <a:t> — DLT still needs netting; gains concentrate in reconciliation. Gap: says both rails are needed — stops there.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640080" y="164592"/>
            <a:ext cx="10881360" cy="365760"/>
          </a:xfrm>
          <a:prstGeom prst="rect">
            <a:avLst/>
          </a:prstGeom>
          <a:noFill/>
        </p:spPr>
        <p:txBody>
          <a:bodyPr wrap="square">
            <a:spAutoFit/>
          </a:bodyPr>
          <a:lstStyle/>
          <a:p>
            <a:pPr algn="l">
              <a:spcAft>
                <a:spcPts val="600"/>
              </a:spcAft>
            </a:pPr>
            <a:r>
              <a:rPr sz="1200" b="1" i="0">
                <a:solidFill>
                  <a:srgbClr val="2E45B0"/>
                </a:solidFill>
                <a:latin typeface="Arial"/>
              </a:rPr>
              <a:t>PROJECT 2 · SETU</a:t>
            </a:r>
          </a:p>
        </p:txBody>
      </p:sp>
      <p:sp>
        <p:nvSpPr>
          <p:cNvPr id="3" name="TextBox 2"/>
          <p:cNvSpPr txBox="1"/>
          <p:nvPr/>
        </p:nvSpPr>
        <p:spPr>
          <a:xfrm>
            <a:off x="640080" y="457200"/>
            <a:ext cx="10881360" cy="1051560"/>
          </a:xfrm>
          <a:prstGeom prst="rect">
            <a:avLst/>
          </a:prstGeom>
          <a:noFill/>
        </p:spPr>
        <p:txBody>
          <a:bodyPr wrap="square">
            <a:spAutoFit/>
          </a:bodyPr>
          <a:lstStyle/>
          <a:p>
            <a:pPr algn="l">
              <a:spcAft>
                <a:spcPts val="600"/>
              </a:spcAft>
            </a:pPr>
            <a:r>
              <a:rPr sz="3200" b="1" i="0">
                <a:solidFill>
                  <a:srgbClr val="212528"/>
                </a:solidFill>
                <a:latin typeface="Arial"/>
              </a:rPr>
              <a:t>The gap: no one allocates flow between the rails</a:t>
            </a:r>
          </a:p>
        </p:txBody>
      </p:sp>
      <p:sp>
        <p:nvSpPr>
          <p:cNvPr id="4" name="Rectangle 3"/>
          <p:cNvSpPr/>
          <p:nvPr/>
        </p:nvSpPr>
        <p:spPr>
          <a:xfrm>
            <a:off x="658368" y="1371600"/>
            <a:ext cx="1005840" cy="33020"/>
          </a:xfrm>
          <a:prstGeom prst="rect">
            <a:avLst/>
          </a:prstGeom>
          <a:solidFill>
            <a:srgbClr val="A6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10515600" cy="173736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901952"/>
            <a:ext cx="9966960" cy="1463040"/>
          </a:xfrm>
          <a:prstGeom prst="rect">
            <a:avLst/>
          </a:prstGeom>
          <a:noFill/>
        </p:spPr>
        <p:txBody>
          <a:bodyPr wrap="square">
            <a:spAutoFit/>
          </a:bodyPr>
          <a:lstStyle/>
          <a:p>
            <a:pPr algn="l">
              <a:spcAft>
                <a:spcPts val="600"/>
              </a:spcAft>
            </a:pPr>
            <a:r>
              <a:rPr sz="1650" b="0" i="0">
                <a:solidFill>
                  <a:srgbClr val="212528"/>
                </a:solidFill>
                <a:latin typeface="Arial"/>
              </a:rPr>
              <a:t>Research question: can a liquidity-aware router — choosing per trade between netted T+1 and atomic T+0 using a fail-probability model and a cost-minimising allocation — cut total settlement cost by ≥15% versus both pure regimes, while holding fails and peak liquidity within the netted baseline, in calm and stressed conditions?</a:t>
            </a:r>
          </a:p>
        </p:txBody>
      </p:sp>
      <p:sp>
        <p:nvSpPr>
          <p:cNvPr id="7" name="TextBox 6"/>
          <p:cNvSpPr txBox="1"/>
          <p:nvPr/>
        </p:nvSpPr>
        <p:spPr>
          <a:xfrm>
            <a:off x="822960" y="3749039"/>
            <a:ext cx="10607040" cy="2560320"/>
          </a:xfrm>
          <a:prstGeom prst="rect">
            <a:avLst/>
          </a:prstGeom>
          <a:noFill/>
        </p:spPr>
        <p:txBody>
          <a:bodyPr wrap="square">
            <a:spAutoFit/>
          </a:bodyPr>
          <a:lstStyle/>
          <a:p>
            <a:pPr algn="l">
              <a:spcAft>
                <a:spcPts val="800"/>
              </a:spcAft>
            </a:pPr>
            <a:r>
              <a:rPr sz="1700" b="1" i="0">
                <a:solidFill>
                  <a:srgbClr val="2E45B0"/>
                </a:solidFill>
                <a:latin typeface="Arial"/>
              </a:rPr>
              <a:t>Six falsifiable hypotheses</a:t>
            </a:r>
          </a:p>
          <a:p>
            <a:pPr algn="l">
              <a:spcAft>
                <a:spcPts val="500"/>
              </a:spcAft>
            </a:pPr>
            <a:r>
              <a:rPr sz="1400" b="0" i="0">
                <a:solidFill>
                  <a:srgbClr val="212528"/>
                </a:solidFill>
                <a:latin typeface="Arial"/>
              </a:rPr>
              <a:t>H1  Gross atomic settlement raises peak intraday liquidity demand ~10× (netting ≈ 98% efficient).</a:t>
            </a:r>
          </a:p>
          <a:p>
            <a:pPr algn="l">
              <a:spcAft>
                <a:spcPts val="500"/>
              </a:spcAft>
            </a:pPr>
            <a:r>
              <a:rPr sz="1400" b="0" i="0">
                <a:solidFill>
                  <a:srgbClr val="212528"/>
                </a:solidFill>
                <a:latin typeface="Arial"/>
              </a:rPr>
              <a:t>H2  An interior optimum exists: total cost is U-shaped in the atomic share, minimum strictly between 0 and 1.</a:t>
            </a:r>
          </a:p>
          <a:p>
            <a:pPr algn="l">
              <a:spcAft>
                <a:spcPts val="500"/>
              </a:spcAft>
            </a:pPr>
            <a:r>
              <a:rPr sz="1400" b="0" i="0">
                <a:solidFill>
                  <a:srgbClr val="212528"/>
                </a:solidFill>
                <a:latin typeface="Arial"/>
              </a:rPr>
              <a:t>H3  Adaptive routing beats the best static share (≤95% of its cost).</a:t>
            </a:r>
          </a:p>
          <a:p>
            <a:pPr algn="l">
              <a:spcAft>
                <a:spcPts val="500"/>
              </a:spcAft>
            </a:pPr>
            <a:r>
              <a:rPr sz="1400" b="0" i="0">
                <a:solidFill>
                  <a:srgbClr val="212528"/>
                </a:solidFill>
                <a:latin typeface="Arial"/>
              </a:rPr>
              <a:t>H4  A gradient-boosted fail predictor beats a logistic baseline when fed to the router.</a:t>
            </a:r>
          </a:p>
          <a:p>
            <a:pPr algn="l">
              <a:spcAft>
                <a:spcPts val="500"/>
              </a:spcAft>
            </a:pPr>
            <a:r>
              <a:rPr sz="1400" b="0" i="0">
                <a:solidFill>
                  <a:srgbClr val="212528"/>
                </a:solidFill>
                <a:latin typeface="Arial"/>
              </a:rPr>
              <a:t>H5  Under stress (vol ×3, funding ×4, default hazard ×5) the optimal atomic share falls — and SETU adapts.</a:t>
            </a:r>
          </a:p>
          <a:p>
            <a:pPr algn="l">
              <a:spcAft>
                <a:spcPts val="500"/>
              </a:spcAft>
            </a:pPr>
            <a:r>
              <a:rPr sz="1400" b="0" i="0">
                <a:solidFill>
                  <a:srgbClr val="212528"/>
                </a:solidFill>
                <a:latin typeface="Arial"/>
              </a:rPr>
              <a:t>H6  Outage-aware fallback keeps fails within baseline for chain outages up to 4 hours.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640080" y="164592"/>
            <a:ext cx="10881360" cy="365760"/>
          </a:xfrm>
          <a:prstGeom prst="rect">
            <a:avLst/>
          </a:prstGeom>
          <a:noFill/>
        </p:spPr>
        <p:txBody>
          <a:bodyPr wrap="square">
            <a:spAutoFit/>
          </a:bodyPr>
          <a:lstStyle/>
          <a:p>
            <a:pPr algn="l">
              <a:spcAft>
                <a:spcPts val="600"/>
              </a:spcAft>
            </a:pPr>
            <a:r>
              <a:rPr sz="1200" b="1" i="0">
                <a:solidFill>
                  <a:srgbClr val="2E45B0"/>
                </a:solidFill>
                <a:latin typeface="Arial"/>
              </a:rPr>
              <a:t>PROJECT 2 · SETU</a:t>
            </a:r>
          </a:p>
        </p:txBody>
      </p:sp>
      <p:sp>
        <p:nvSpPr>
          <p:cNvPr id="3" name="TextBox 2"/>
          <p:cNvSpPr txBox="1"/>
          <p:nvPr/>
        </p:nvSpPr>
        <p:spPr>
          <a:xfrm>
            <a:off x="640080" y="457200"/>
            <a:ext cx="10881360" cy="1051560"/>
          </a:xfrm>
          <a:prstGeom prst="rect">
            <a:avLst/>
          </a:prstGeom>
          <a:noFill/>
        </p:spPr>
        <p:txBody>
          <a:bodyPr wrap="square">
            <a:spAutoFit/>
          </a:bodyPr>
          <a:lstStyle/>
          <a:p>
            <a:pPr algn="l">
              <a:spcAft>
                <a:spcPts val="600"/>
              </a:spcAft>
            </a:pPr>
            <a:r>
              <a:rPr sz="3200" b="1" i="0">
                <a:solidFill>
                  <a:srgbClr val="212528"/>
                </a:solidFill>
                <a:latin typeface="Arial"/>
              </a:rPr>
              <a:t>Every term of the routing decision, priced</a:t>
            </a:r>
          </a:p>
        </p:txBody>
      </p:sp>
      <p:sp>
        <p:nvSpPr>
          <p:cNvPr id="4" name="Rectangle 3"/>
          <p:cNvSpPr/>
          <p:nvPr/>
        </p:nvSpPr>
        <p:spPr>
          <a:xfrm>
            <a:off x="658368" y="1371600"/>
            <a:ext cx="1005840" cy="33020"/>
          </a:xfrm>
          <a:prstGeom prst="rect">
            <a:avLst/>
          </a:prstGeom>
          <a:solidFill>
            <a:srgbClr val="A6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5120640" cy="228600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01952"/>
            <a:ext cx="4572000" cy="1965960"/>
          </a:xfrm>
          <a:prstGeom prst="rect">
            <a:avLst/>
          </a:prstGeom>
          <a:noFill/>
        </p:spPr>
        <p:txBody>
          <a:bodyPr wrap="square">
            <a:spAutoFit/>
          </a:bodyPr>
          <a:lstStyle/>
          <a:p>
            <a:pPr algn="l">
              <a:spcAft>
                <a:spcPts val="600"/>
              </a:spcAft>
            </a:pPr>
            <a:r>
              <a:rPr sz="1700" b="1" i="0">
                <a:solidFill>
                  <a:srgbClr val="A64B2A"/>
                </a:solidFill>
                <a:latin typeface="Arial"/>
              </a:rPr>
              <a:t>Rail A (atomic) pays</a:t>
            </a:r>
          </a:p>
          <a:p>
            <a:pPr algn="l">
              <a:spcAft>
                <a:spcPts val="600"/>
              </a:spcAft>
            </a:pPr>
            <a:r>
              <a:rPr sz="1400" b="0" i="0">
                <a:solidFill>
                  <a:srgbClr val="212528"/>
                </a:solidFill>
                <a:latin typeface="Arial"/>
              </a:rPr>
              <a:t>Liquidity: value × funding rate × pre-funding time. Smart-contract expected loss: hazard rate × exposure. Cash-leg haircut by settlement asset. All gross — no netting benefit.</a:t>
            </a:r>
          </a:p>
        </p:txBody>
      </p:sp>
      <p:sp>
        <p:nvSpPr>
          <p:cNvPr id="7" name="Rounded Rectangle 6"/>
          <p:cNvSpPr/>
          <p:nvPr/>
        </p:nvSpPr>
        <p:spPr>
          <a:xfrm>
            <a:off x="6263640" y="1737360"/>
            <a:ext cx="5120640" cy="228600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59" y="1901952"/>
            <a:ext cx="4572000" cy="1965960"/>
          </a:xfrm>
          <a:prstGeom prst="rect">
            <a:avLst/>
          </a:prstGeom>
          <a:noFill/>
        </p:spPr>
        <p:txBody>
          <a:bodyPr wrap="square">
            <a:spAutoFit/>
          </a:bodyPr>
          <a:lstStyle/>
          <a:p>
            <a:pPr algn="l">
              <a:spcAft>
                <a:spcPts val="600"/>
              </a:spcAft>
            </a:pPr>
            <a:r>
              <a:rPr sz="1700" b="1" i="0">
                <a:solidFill>
                  <a:srgbClr val="A64B2A"/>
                </a:solidFill>
                <a:latin typeface="Arial"/>
              </a:rPr>
              <a:t>Rail N (netted) pays</a:t>
            </a:r>
          </a:p>
          <a:p>
            <a:pPr algn="l">
              <a:spcAft>
                <a:spcPts val="600"/>
              </a:spcAft>
            </a:pPr>
            <a:r>
              <a:rPr sz="1400" b="0" i="0">
                <a:solidFill>
                  <a:srgbClr val="212528"/>
                </a:solidFill>
                <a:latin typeface="Arial"/>
              </a:rPr>
              <a:t>Counterparty/replacement cost: exposure over the settlement lag × PD × LGD. Fail cost: predicted fail probability × (penalty + buy-in). Shared net-debit liquidity at cycle end.</a:t>
            </a:r>
          </a:p>
        </p:txBody>
      </p:sp>
      <p:sp>
        <p:nvSpPr>
          <p:cNvPr id="9" name="TextBox 8"/>
          <p:cNvSpPr txBox="1"/>
          <p:nvPr/>
        </p:nvSpPr>
        <p:spPr>
          <a:xfrm>
            <a:off x="822960" y="4297680"/>
            <a:ext cx="10607040" cy="1920240"/>
          </a:xfrm>
          <a:prstGeom prst="rect">
            <a:avLst/>
          </a:prstGeom>
          <a:noFill/>
        </p:spPr>
        <p:txBody>
          <a:bodyPr wrap="square">
            <a:spAutoFit/>
          </a:bodyPr>
          <a:lstStyle/>
          <a:p>
            <a:pPr algn="l">
              <a:spcAft>
                <a:spcPts val="800"/>
              </a:spcAft>
            </a:pPr>
            <a:r>
              <a:rPr sz="1600" b="1" i="0">
                <a:solidFill>
                  <a:srgbClr val="2E45B0"/>
                </a:solidFill>
                <a:latin typeface="Arial"/>
              </a:rPr>
              <a:t>Objective:  min Σ [ atomic terms + netted terms ] + net-debit liquidity + operational cost</a:t>
            </a:r>
          </a:p>
          <a:p>
            <a:pPr algn="l">
              <a:spcAft>
                <a:spcPts val="600"/>
              </a:spcAft>
            </a:pPr>
            <a:r>
              <a:rPr sz="1450" b="0" i="1">
                <a:solidFill>
                  <a:srgbClr val="5A6064"/>
                </a:solidFill>
                <a:latin typeface="Arial"/>
              </a:rPr>
              <a:t>Calibrated from public data only: SEC fails-to-deliver files, FINRA short interest, FRED/SOFR, CSDR penalty rates, NSCC netting ratios, volatility from prices. Impact parameters come from published research and are swept across their full range — the output is a band, not a point.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640080" y="164592"/>
            <a:ext cx="10881360" cy="365760"/>
          </a:xfrm>
          <a:prstGeom prst="rect">
            <a:avLst/>
          </a:prstGeom>
          <a:noFill/>
        </p:spPr>
        <p:txBody>
          <a:bodyPr wrap="square">
            <a:spAutoFit/>
          </a:bodyPr>
          <a:lstStyle/>
          <a:p>
            <a:pPr algn="l">
              <a:spcAft>
                <a:spcPts val="600"/>
              </a:spcAft>
            </a:pPr>
            <a:r>
              <a:rPr sz="1200" b="1" i="0">
                <a:solidFill>
                  <a:srgbClr val="2E45B0"/>
                </a:solidFill>
                <a:latin typeface="Arial"/>
              </a:rPr>
              <a:t>PROJECT 2 · SETU</a:t>
            </a:r>
          </a:p>
        </p:txBody>
      </p:sp>
      <p:sp>
        <p:nvSpPr>
          <p:cNvPr id="3" name="TextBox 2"/>
          <p:cNvSpPr txBox="1"/>
          <p:nvPr/>
        </p:nvSpPr>
        <p:spPr>
          <a:xfrm>
            <a:off x="640080" y="457200"/>
            <a:ext cx="10881360" cy="1051560"/>
          </a:xfrm>
          <a:prstGeom prst="rect">
            <a:avLst/>
          </a:prstGeom>
          <a:noFill/>
        </p:spPr>
        <p:txBody>
          <a:bodyPr wrap="square">
            <a:spAutoFit/>
          </a:bodyPr>
          <a:lstStyle/>
          <a:p>
            <a:pPr algn="l">
              <a:spcAft>
                <a:spcPts val="600"/>
              </a:spcAft>
            </a:pPr>
            <a:r>
              <a:rPr sz="3200" b="1" i="0">
                <a:solidFill>
                  <a:srgbClr val="212528"/>
                </a:solidFill>
                <a:latin typeface="Arial"/>
              </a:rPr>
              <a:t>Contracts that mirror DTC's actual structure</a:t>
            </a:r>
          </a:p>
        </p:txBody>
      </p:sp>
      <p:sp>
        <p:nvSpPr>
          <p:cNvPr id="4" name="Rectangle 3"/>
          <p:cNvSpPr/>
          <p:nvPr/>
        </p:nvSpPr>
        <p:spPr>
          <a:xfrm>
            <a:off x="658368" y="1371600"/>
            <a:ext cx="1005840" cy="33020"/>
          </a:xfrm>
          <a:prstGeom prst="rect">
            <a:avLst/>
          </a:prstGeom>
          <a:solidFill>
            <a:srgbClr val="A6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10607040" cy="4754880"/>
          </a:xfrm>
          <a:prstGeom prst="rect">
            <a:avLst/>
          </a:prstGeom>
          <a:noFill/>
        </p:spPr>
        <p:txBody>
          <a:bodyPr wrap="square">
            <a:spAutoFit/>
          </a:bodyPr>
          <a:lstStyle/>
          <a:p>
            <a:pPr algn="l">
              <a:spcAft>
                <a:spcPts val="200"/>
              </a:spcAft>
            </a:pPr>
            <a:r>
              <a:rPr sz="1500" b="1" i="0">
                <a:solidFill>
                  <a:srgbClr val="A64B2A"/>
                </a:solidFill>
                <a:latin typeface="Arial"/>
              </a:rPr>
              <a:t>•  ERC-3643 permissioned security token</a:t>
            </a:r>
            <a:r>
              <a:rPr sz="1400" b="0">
                <a:solidFill>
                  <a:srgbClr val="212528"/>
                </a:solidFill>
                <a:latin typeface="Arial"/>
              </a:rPr>
              <a:t> — tokenized entitlement backed 1:1 by a locked omnibus position; mint/burn invariant: supply equals locked position, checked on every call.</a:t>
            </a:r>
          </a:p>
          <a:p>
            <a:pPr algn="l">
              <a:spcAft>
                <a:spcPts val="200"/>
              </a:spcAft>
            </a:pPr>
            <a:r>
              <a:rPr sz="1500" b="1" i="0">
                <a:solidFill>
                  <a:srgbClr val="A64B2A"/>
                </a:solidFill>
                <a:latin typeface="Arial"/>
              </a:rPr>
              <a:t>•  DvP escrow contract (Rail A)</a:t>
            </a:r>
            <a:r>
              <a:rPr sz="1400" b="0">
                <a:solidFill>
                  <a:srgbClr val="212528"/>
                </a:solidFill>
                <a:latin typeface="Arial"/>
              </a:rPr>
              <a:t> — both legs locked and settled in one transaction; reverts if compliance fails; auto-refund on outage, then re-enter the next netting cycle.</a:t>
            </a:r>
          </a:p>
          <a:p>
            <a:pPr algn="l">
              <a:spcAft>
                <a:spcPts val="200"/>
              </a:spcAft>
            </a:pPr>
            <a:r>
              <a:rPr sz="1500" b="1" i="0">
                <a:solidFill>
                  <a:srgbClr val="A64B2A"/>
                </a:solidFill>
                <a:latin typeface="Arial"/>
              </a:rPr>
              <a:t>•  Netting engine + settlement contract (Rail N)</a:t>
            </a:r>
            <a:r>
              <a:rPr sz="1400" b="0">
                <a:solidFill>
                  <a:srgbClr val="212528"/>
                </a:solidFill>
                <a:latin typeface="Arial"/>
              </a:rPr>
              <a:t> — multilateral net obligations computed deterministically off-chain, executed on-chain at cut-off; pure off-chain variant as the legacy baseline.</a:t>
            </a:r>
          </a:p>
          <a:p>
            <a:pPr algn="l">
              <a:spcAft>
                <a:spcPts val="200"/>
              </a:spcAft>
            </a:pPr>
            <a:r>
              <a:rPr sz="1500" b="1" i="0">
                <a:solidFill>
                  <a:srgbClr val="A64B2A"/>
                </a:solidFill>
                <a:latin typeface="Arial"/>
              </a:rPr>
              <a:t>•  Depository root authority</a:t>
            </a:r>
            <a:r>
              <a:rPr sz="1400" b="0">
                <a:solidFill>
                  <a:srgbClr val="212528"/>
                </a:solidFill>
                <a:latin typeface="Arial"/>
              </a:rPr>
              <a:t> — mint/burn/freeze/recover roles mirroring DTC's root wallet; every use emitted as an event — DTC must report root-wallet use quarterly.</a:t>
            </a:r>
          </a:p>
          <a:p>
            <a:pPr algn="l">
              <a:spcAft>
                <a:spcPts val="200"/>
              </a:spcAft>
            </a:pPr>
            <a:r>
              <a:rPr sz="1500" b="1" i="0">
                <a:solidFill>
                  <a:srgbClr val="A64B2A"/>
                </a:solidFill>
                <a:latin typeface="Arial"/>
              </a:rPr>
              <a:t>•  Off-chain by design</a:t>
            </a:r>
            <a:r>
              <a:rPr sz="1400" b="0">
                <a:solidFill>
                  <a:srgbClr val="212528"/>
                </a:solidFill>
                <a:latin typeface="Arial"/>
              </a:rPr>
              <a:t> — order matching, the ML model, the router's optimisation, KYC evidence and the official record — the chain holds only what needs shared, atomic, tamper-evident state.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640080" y="164592"/>
            <a:ext cx="10881360" cy="365760"/>
          </a:xfrm>
          <a:prstGeom prst="rect">
            <a:avLst/>
          </a:prstGeom>
          <a:noFill/>
        </p:spPr>
        <p:txBody>
          <a:bodyPr wrap="square">
            <a:spAutoFit/>
          </a:bodyPr>
          <a:lstStyle/>
          <a:p>
            <a:pPr algn="l">
              <a:spcAft>
                <a:spcPts val="600"/>
              </a:spcAft>
            </a:pPr>
            <a:r>
              <a:rPr sz="1200" b="1" i="0">
                <a:solidFill>
                  <a:srgbClr val="2E45B0"/>
                </a:solidFill>
                <a:latin typeface="Arial"/>
              </a:rPr>
              <a:t>PROJECT 2 · SETU</a:t>
            </a:r>
          </a:p>
        </p:txBody>
      </p:sp>
      <p:sp>
        <p:nvSpPr>
          <p:cNvPr id="3" name="TextBox 2"/>
          <p:cNvSpPr txBox="1"/>
          <p:nvPr/>
        </p:nvSpPr>
        <p:spPr>
          <a:xfrm>
            <a:off x="640080" y="457200"/>
            <a:ext cx="10881360" cy="1051560"/>
          </a:xfrm>
          <a:prstGeom prst="rect">
            <a:avLst/>
          </a:prstGeom>
          <a:noFill/>
        </p:spPr>
        <p:txBody>
          <a:bodyPr wrap="square">
            <a:spAutoFit/>
          </a:bodyPr>
          <a:lstStyle/>
          <a:p>
            <a:pPr algn="l">
              <a:spcAft>
                <a:spcPts val="600"/>
              </a:spcAft>
            </a:pPr>
            <a:r>
              <a:rPr sz="3200" b="1" i="0">
                <a:solidFill>
                  <a:srgbClr val="212528"/>
                </a:solidFill>
                <a:latin typeface="Arial"/>
              </a:rPr>
              <a:t>A two-rail simulator, four regimes, stress scenarios</a:t>
            </a:r>
          </a:p>
        </p:txBody>
      </p:sp>
      <p:sp>
        <p:nvSpPr>
          <p:cNvPr id="4" name="Rectangle 3"/>
          <p:cNvSpPr/>
          <p:nvPr/>
        </p:nvSpPr>
        <p:spPr>
          <a:xfrm>
            <a:off x="658368" y="1371600"/>
            <a:ext cx="1005840" cy="33020"/>
          </a:xfrm>
          <a:prstGeom prst="rect">
            <a:avLst/>
          </a:prstGeom>
          <a:solidFill>
            <a:srgbClr val="A6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10607040" cy="4754880"/>
          </a:xfrm>
          <a:prstGeom prst="rect">
            <a:avLst/>
          </a:prstGeom>
          <a:noFill/>
        </p:spPr>
        <p:txBody>
          <a:bodyPr wrap="square">
            <a:spAutoFit/>
          </a:bodyPr>
          <a:lstStyle/>
          <a:p>
            <a:pPr algn="l">
              <a:spcAft>
                <a:spcPts val="200"/>
              </a:spcAft>
            </a:pPr>
            <a:r>
              <a:rPr sz="1500" b="1" i="0">
                <a:solidFill>
                  <a:srgbClr val="A64B2A"/>
                </a:solidFill>
                <a:latin typeface="Arial"/>
              </a:rPr>
              <a:t>•  Four regimes compared</a:t>
            </a:r>
            <a:r>
              <a:rPr sz="1400" b="0">
                <a:solidFill>
                  <a:srgbClr val="212528"/>
                </a:solidFill>
                <a:latin typeface="Arial"/>
              </a:rPr>
              <a:t> — all-netted · all-atomic · static hybrid (fixed atomic share) · SETU adaptive router — run on identical seeds, 250 simulated days.</a:t>
            </a:r>
          </a:p>
          <a:p>
            <a:pPr algn="l">
              <a:spcAft>
                <a:spcPts val="200"/>
              </a:spcAft>
            </a:pPr>
            <a:r>
              <a:rPr sz="1500" b="1" i="0">
                <a:solidFill>
                  <a:srgbClr val="A64B2A"/>
                </a:solidFill>
                <a:latin typeface="Arial"/>
              </a:rPr>
              <a:t>•  Asset universe</a:t>
            </a:r>
            <a:r>
              <a:rPr sz="1400" b="0">
                <a:solidFill>
                  <a:srgbClr val="212528"/>
                </a:solidFill>
                <a:latin typeface="Arial"/>
              </a:rPr>
              <a:t> — 40 Russell 1000 names across liquidity deciles, SPY/QQQ/SGOV, 15 Treasuries, a BUIDL-like MMF token and a deposit token as cash legs.</a:t>
            </a:r>
          </a:p>
          <a:p>
            <a:pPr algn="l">
              <a:spcAft>
                <a:spcPts val="200"/>
              </a:spcAft>
            </a:pPr>
            <a:r>
              <a:rPr sz="1500" b="1" i="0">
                <a:solidFill>
                  <a:srgbClr val="A64B2A"/>
                </a:solidFill>
                <a:latin typeface="Arial"/>
              </a:rPr>
              <a:t>•  Stress scenarios</a:t>
            </a:r>
            <a:r>
              <a:rPr sz="1400" b="0">
                <a:solidFill>
                  <a:srgbClr val="212528"/>
                </a:solidFill>
                <a:latin typeface="Arial"/>
              </a:rPr>
              <a:t> — volatility ×3 and funding ×4; chain outage up to 4 hours (DTC's Tier-2 RTO); oracle staleness; record-date snapshot with tokens in flight; cyber/key compromise.</a:t>
            </a:r>
          </a:p>
          <a:p>
            <a:pPr algn="l">
              <a:spcAft>
                <a:spcPts val="200"/>
              </a:spcAft>
            </a:pPr>
            <a:r>
              <a:rPr sz="1500" b="1" i="0">
                <a:solidFill>
                  <a:srgbClr val="A64B2A"/>
                </a:solidFill>
                <a:latin typeface="Arial"/>
              </a:rPr>
              <a:t>•  Metrics</a:t>
            </a:r>
            <a:r>
              <a:rPr sz="1400" b="0">
                <a:solidFill>
                  <a:srgbClr val="212528"/>
                </a:solidFill>
                <a:latin typeface="Arial"/>
              </a:rPr>
              <a:t> — total settlement cost · peak intraday liquidity · fail rate · counterparty exposure · divergence time between chain and official record · adoption-share vs. cost curve.</a:t>
            </a:r>
          </a:p>
          <a:p>
            <a:pPr algn="l">
              <a:spcAft>
                <a:spcPts val="200"/>
              </a:spcAft>
            </a:pPr>
            <a:r>
              <a:rPr sz="1500" b="1" i="0">
                <a:solidFill>
                  <a:srgbClr val="A64B2A"/>
                </a:solidFill>
                <a:latin typeface="Arial"/>
              </a:rPr>
              <a:t>•  ML benchmark</a:t>
            </a:r>
            <a:r>
              <a:rPr sz="1400" b="0">
                <a:solidFill>
                  <a:srgbClr val="212528"/>
                </a:solidFill>
                <a:latin typeface="Arial"/>
              </a:rPr>
              <a:t> — gradient-boosted fail predictor vs. logistic baseline on public SEC FTD data (2022–2026 time split) — its decision value measured as router cost reduction.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640080" y="164592"/>
            <a:ext cx="10881360" cy="365760"/>
          </a:xfrm>
          <a:prstGeom prst="rect">
            <a:avLst/>
          </a:prstGeom>
          <a:noFill/>
        </p:spPr>
        <p:txBody>
          <a:bodyPr wrap="square">
            <a:spAutoFit/>
          </a:bodyPr>
          <a:lstStyle/>
          <a:p>
            <a:pPr algn="l">
              <a:spcAft>
                <a:spcPts val="600"/>
              </a:spcAft>
            </a:pPr>
            <a:r>
              <a:rPr sz="1200" b="1" i="0">
                <a:solidFill>
                  <a:srgbClr val="2E45B0"/>
                </a:solidFill>
                <a:latin typeface="Arial"/>
              </a:rPr>
              <a:t>PROJECT 2 · SETU</a:t>
            </a:r>
          </a:p>
        </p:txBody>
      </p:sp>
      <p:sp>
        <p:nvSpPr>
          <p:cNvPr id="3" name="TextBox 2"/>
          <p:cNvSpPr txBox="1"/>
          <p:nvPr/>
        </p:nvSpPr>
        <p:spPr>
          <a:xfrm>
            <a:off x="640080" y="457200"/>
            <a:ext cx="10881360" cy="1051560"/>
          </a:xfrm>
          <a:prstGeom prst="rect">
            <a:avLst/>
          </a:prstGeom>
          <a:noFill/>
        </p:spPr>
        <p:txBody>
          <a:bodyPr wrap="square">
            <a:spAutoFit/>
          </a:bodyPr>
          <a:lstStyle/>
          <a:p>
            <a:pPr algn="l">
              <a:spcAft>
                <a:spcPts val="600"/>
              </a:spcAft>
            </a:pPr>
            <a:r>
              <a:rPr sz="3200" b="1" i="0">
                <a:solidFill>
                  <a:srgbClr val="212528"/>
                </a:solidFill>
                <a:latin typeface="Arial"/>
              </a:rPr>
              <a:t>Scored 8.18 / 10 — survives the attack review</a:t>
            </a:r>
          </a:p>
        </p:txBody>
      </p:sp>
      <p:sp>
        <p:nvSpPr>
          <p:cNvPr id="4" name="Rectangle 3"/>
          <p:cNvSpPr/>
          <p:nvPr/>
        </p:nvSpPr>
        <p:spPr>
          <a:xfrm>
            <a:off x="658368" y="1371600"/>
            <a:ext cx="1005840" cy="33020"/>
          </a:xfrm>
          <a:prstGeom prst="rect">
            <a:avLst/>
          </a:prstGeom>
          <a:solidFill>
            <a:srgbClr val="A6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5120640" cy="420624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011680"/>
            <a:ext cx="4572000" cy="3749039"/>
          </a:xfrm>
          <a:prstGeom prst="rect">
            <a:avLst/>
          </a:prstGeom>
          <a:noFill/>
        </p:spPr>
        <p:txBody>
          <a:bodyPr wrap="square">
            <a:spAutoFit/>
          </a:bodyPr>
          <a:lstStyle/>
          <a:p>
            <a:pPr algn="l">
              <a:spcAft>
                <a:spcPts val="1000"/>
              </a:spcAft>
            </a:pPr>
            <a:r>
              <a:rPr sz="1800" b="1" i="0">
                <a:solidFill>
                  <a:srgbClr val="212528"/>
                </a:solidFill>
                <a:latin typeface="Arial"/>
              </a:rPr>
              <a:t>Scoring matrix (top 3)</a:t>
            </a:r>
          </a:p>
          <a:p>
            <a:pPr algn="l">
              <a:spcAft>
                <a:spcPts val="800"/>
              </a:spcAft>
            </a:pPr>
            <a:r>
              <a:rPr sz="1500" b="1" i="0">
                <a:solidFill>
                  <a:srgbClr val="2E45B0"/>
                </a:solidFill>
                <a:latin typeface="Arial"/>
              </a:rPr>
              <a:t>SETU — 8.18  (rank 1)</a:t>
            </a:r>
          </a:p>
          <a:p>
            <a:pPr algn="l">
              <a:spcAft>
                <a:spcPts val="800"/>
              </a:spcAft>
            </a:pPr>
            <a:r>
              <a:rPr sz="1500" b="0" i="0">
                <a:solidFill>
                  <a:srgbClr val="212528"/>
                </a:solidFill>
                <a:latin typeface="Arial"/>
              </a:rPr>
              <a:t>BASIS (token price discovery) — 7.52</a:t>
            </a:r>
          </a:p>
          <a:p>
            <a:pPr algn="l">
              <a:spcAft>
                <a:spcPts val="800"/>
              </a:spcAft>
            </a:pPr>
            <a:r>
              <a:rPr sz="1500" b="0" i="0">
                <a:solidFill>
                  <a:srgbClr val="212528"/>
                </a:solidFill>
                <a:latin typeface="Arial"/>
              </a:rPr>
              <a:t>COLLATERA (collateral optimiser) — 7.10</a:t>
            </a:r>
          </a:p>
          <a:p>
            <a:pPr algn="l">
              <a:spcAft>
                <a:spcPts val="800"/>
              </a:spcAft>
            </a:pPr>
            <a:r>
              <a:rPr sz="1500" b="0" i="0">
                <a:solidFill>
                  <a:srgbClr val="212528"/>
                </a:solidFill>
                <a:latin typeface="Arial"/>
              </a:rPr>
              <a:t>RECON (reconciliation) — 6.50</a:t>
            </a:r>
          </a:p>
          <a:p>
            <a:pPr algn="l">
              <a:spcAft>
                <a:spcPts val="800"/>
              </a:spcAft>
            </a:pPr>
            <a:r>
              <a:rPr sz="1500" b="0" i="0">
                <a:solidFill>
                  <a:srgbClr val="212528"/>
                </a:solidFill>
                <a:latin typeface="Arial"/>
              </a:rPr>
              <a:t>GATEKEEPER (ZK compliance) — 6.39</a:t>
            </a:r>
          </a:p>
          <a:p>
            <a:pPr algn="l">
              <a:spcAft>
                <a:spcPts val="600"/>
              </a:spcAft>
            </a:pPr>
            <a:r>
              <a:rPr sz="1350" b="0" i="1">
                <a:solidFill>
                  <a:srgbClr val="5A6064"/>
                </a:solidFill>
                <a:latin typeface="Arial"/>
              </a:rPr>
              <a:t>SETU wins on capital-markets relevance, quantitative depth, novelty and differentiation; BASIS lost on scoop risk, COLLATERA on unavailable margin data.</a:t>
            </a:r>
          </a:p>
        </p:txBody>
      </p:sp>
      <p:sp>
        <p:nvSpPr>
          <p:cNvPr id="7" name="Rounded Rectangle 6"/>
          <p:cNvSpPr/>
          <p:nvPr/>
        </p:nvSpPr>
        <p:spPr>
          <a:xfrm>
            <a:off x="6355080" y="1783080"/>
            <a:ext cx="4983480" cy="4206240"/>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2011680"/>
            <a:ext cx="4389120" cy="3749039"/>
          </a:xfrm>
          <a:prstGeom prst="rect">
            <a:avLst/>
          </a:prstGeom>
          <a:noFill/>
        </p:spPr>
        <p:txBody>
          <a:bodyPr wrap="square">
            <a:spAutoFit/>
          </a:bodyPr>
          <a:lstStyle/>
          <a:p>
            <a:pPr algn="l">
              <a:spcAft>
                <a:spcPts val="1000"/>
              </a:spcAft>
            </a:pPr>
            <a:r>
              <a:rPr sz="1800" b="1" i="0">
                <a:solidFill>
                  <a:srgbClr val="212528"/>
                </a:solidFill>
                <a:latin typeface="Arial"/>
              </a:rPr>
              <a:t>Toughest attacks, answered</a:t>
            </a:r>
          </a:p>
          <a:p>
            <a:pPr algn="l">
              <a:spcAft>
                <a:spcPts val="900"/>
              </a:spcAft>
            </a:pPr>
            <a:r>
              <a:rPr sz="1350" b="0" i="0">
                <a:solidFill>
                  <a:srgbClr val="212528"/>
                </a:solidFill>
                <a:latin typeface="Arial"/>
              </a:rPr>
              <a:t>•  “Is this just a trading bot?” — no live trading, no profit claims, all models standard; the contribution is the evaluation methodology.</a:t>
            </a:r>
          </a:p>
          <a:p>
            <a:pPr algn="l">
              <a:spcAft>
                <a:spcPts val="900"/>
              </a:spcAft>
            </a:pPr>
            <a:r>
              <a:rPr sz="1350" b="0" i="0">
                <a:solidFill>
                  <a:srgbClr val="212528"/>
                </a:solidFill>
                <a:latin typeface="Arial"/>
              </a:rPr>
              <a:t>•  “Could a database do it?” — the router could; the atomic rail's finality across distrusting parties is what tokens uniquely provide. The project measures that value instead of assuming it.</a:t>
            </a:r>
          </a:p>
          <a:p>
            <a:pPr algn="l">
              <a:spcAft>
                <a:spcPts val="900"/>
              </a:spcAft>
            </a:pPr>
            <a:r>
              <a:rPr sz="1350" b="0" i="0">
                <a:solidFill>
                  <a:srgbClr val="212528"/>
                </a:solidFill>
                <a:latin typeface="Arial"/>
              </a:rPr>
              <a:t>•  “Biggest risk?” — impact parameters need intraday data; mitigated by published ranges → results as bands.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640080" y="164592"/>
            <a:ext cx="10881360" cy="365760"/>
          </a:xfrm>
          <a:prstGeom prst="rect">
            <a:avLst/>
          </a:prstGeom>
          <a:noFill/>
        </p:spPr>
        <p:txBody>
          <a:bodyPr wrap="square">
            <a:spAutoFit/>
          </a:bodyPr>
          <a:lstStyle/>
          <a:p>
            <a:pPr algn="l">
              <a:spcAft>
                <a:spcPts val="600"/>
              </a:spcAft>
            </a:pPr>
            <a:r>
              <a:rPr sz="1200" b="1" i="0">
                <a:solidFill>
                  <a:srgbClr val="A64B2A"/>
                </a:solidFill>
                <a:latin typeface="Arial"/>
              </a:rPr>
              <a:t>COMPARISON</a:t>
            </a:r>
          </a:p>
        </p:txBody>
      </p:sp>
      <p:sp>
        <p:nvSpPr>
          <p:cNvPr id="3" name="TextBox 2"/>
          <p:cNvSpPr txBox="1"/>
          <p:nvPr/>
        </p:nvSpPr>
        <p:spPr>
          <a:xfrm>
            <a:off x="640080" y="457200"/>
            <a:ext cx="10881360" cy="1051560"/>
          </a:xfrm>
          <a:prstGeom prst="rect">
            <a:avLst/>
          </a:prstGeom>
          <a:noFill/>
        </p:spPr>
        <p:txBody>
          <a:bodyPr wrap="square">
            <a:spAutoFit/>
          </a:bodyPr>
          <a:lstStyle/>
          <a:p>
            <a:pPr algn="l">
              <a:spcAft>
                <a:spcPts val="600"/>
              </a:spcAft>
            </a:pPr>
            <a:r>
              <a:rPr sz="3200" b="1" i="0">
                <a:solidFill>
                  <a:srgbClr val="212528"/>
                </a:solidFill>
                <a:latin typeface="Arial"/>
              </a:rPr>
              <a:t>Different domains, identical anatomy</a:t>
            </a:r>
          </a:p>
        </p:txBody>
      </p:sp>
      <p:sp>
        <p:nvSpPr>
          <p:cNvPr id="4" name="Rectangle 3"/>
          <p:cNvSpPr/>
          <p:nvPr/>
        </p:nvSpPr>
        <p:spPr>
          <a:xfrm>
            <a:off x="658368" y="1371600"/>
            <a:ext cx="1005840" cy="33020"/>
          </a:xfrm>
          <a:prstGeom prst="rect">
            <a:avLst/>
          </a:prstGeom>
          <a:solidFill>
            <a:srgbClr val="A6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2834640" cy="749808"/>
          </a:xfrm>
          <a:prstGeom prst="roundRect">
            <a:avLst>
              <a:gd name="adj" fmla="val 5000"/>
            </a:avLst>
          </a:prstGeom>
          <a:solidFill>
            <a:srgbClr val="EEE9E0"/>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10512"/>
            <a:ext cx="2606040" cy="640080"/>
          </a:xfrm>
          <a:prstGeom prst="rect">
            <a:avLst/>
          </a:prstGeom>
          <a:noFill/>
        </p:spPr>
        <p:txBody>
          <a:bodyPr wrap="square">
            <a:spAutoFit/>
          </a:bodyPr>
          <a:lstStyle/>
          <a:p>
            <a:pPr algn="l">
              <a:spcAft>
                <a:spcPts val="600"/>
              </a:spcAft>
            </a:pPr>
            <a:r>
              <a:rPr sz="1350" b="1" i="0">
                <a:solidFill>
                  <a:srgbClr val="212528"/>
                </a:solidFill>
                <a:latin typeface="Arial"/>
              </a:rPr>
              <a:t>The bottleneck</a:t>
            </a:r>
          </a:p>
        </p:txBody>
      </p:sp>
      <p:sp>
        <p:nvSpPr>
          <p:cNvPr id="7" name="Rounded Rectangle 6"/>
          <p:cNvSpPr/>
          <p:nvPr/>
        </p:nvSpPr>
        <p:spPr>
          <a:xfrm>
            <a:off x="3794760" y="1737360"/>
            <a:ext cx="3749039" cy="749808"/>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31920" y="1792224"/>
            <a:ext cx="3520440" cy="658368"/>
          </a:xfrm>
          <a:prstGeom prst="rect">
            <a:avLst/>
          </a:prstGeom>
          <a:noFill/>
        </p:spPr>
        <p:txBody>
          <a:bodyPr wrap="square">
            <a:spAutoFit/>
          </a:bodyPr>
          <a:lstStyle/>
          <a:p>
            <a:pPr algn="l">
              <a:spcAft>
                <a:spcPts val="600"/>
              </a:spcAft>
            </a:pPr>
            <a:r>
              <a:rPr sz="1150" b="0" i="0">
                <a:solidFill>
                  <a:srgbClr val="212528"/>
                </a:solidFill>
                <a:latin typeface="Arial"/>
              </a:rPr>
              <a:t>Power: interconnection queues, capacity auctions at the cap</a:t>
            </a:r>
          </a:p>
        </p:txBody>
      </p:sp>
      <p:sp>
        <p:nvSpPr>
          <p:cNvPr id="9" name="Rounded Rectangle 8"/>
          <p:cNvSpPr/>
          <p:nvPr/>
        </p:nvSpPr>
        <p:spPr>
          <a:xfrm>
            <a:off x="7680960" y="1737360"/>
            <a:ext cx="3657600" cy="749808"/>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1792224"/>
            <a:ext cx="3429000" cy="658368"/>
          </a:xfrm>
          <a:prstGeom prst="rect">
            <a:avLst/>
          </a:prstGeom>
          <a:noFill/>
        </p:spPr>
        <p:txBody>
          <a:bodyPr wrap="square">
            <a:spAutoFit/>
          </a:bodyPr>
          <a:lstStyle/>
          <a:p>
            <a:pPr algn="l">
              <a:spcAft>
                <a:spcPts val="600"/>
              </a:spcAft>
            </a:pPr>
            <a:r>
              <a:rPr sz="1150" b="0" i="0">
                <a:solidFill>
                  <a:srgbClr val="212528"/>
                </a:solidFill>
                <a:latin typeface="Arial"/>
              </a:rPr>
              <a:t>Liquidity: netting removes ~98% of cash; atomic settlement forfeits it</a:t>
            </a:r>
          </a:p>
        </p:txBody>
      </p:sp>
      <p:sp>
        <p:nvSpPr>
          <p:cNvPr id="11" name="Rounded Rectangle 10"/>
          <p:cNvSpPr/>
          <p:nvPr/>
        </p:nvSpPr>
        <p:spPr>
          <a:xfrm>
            <a:off x="822960" y="2624328"/>
            <a:ext cx="2834640" cy="749808"/>
          </a:xfrm>
          <a:prstGeom prst="roundRect">
            <a:avLst>
              <a:gd name="adj" fmla="val 5000"/>
            </a:avLst>
          </a:prstGeom>
          <a:solidFill>
            <a:srgbClr val="EEE9E0"/>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697480"/>
            <a:ext cx="2606040" cy="640080"/>
          </a:xfrm>
          <a:prstGeom prst="rect">
            <a:avLst/>
          </a:prstGeom>
          <a:noFill/>
        </p:spPr>
        <p:txBody>
          <a:bodyPr wrap="square">
            <a:spAutoFit/>
          </a:bodyPr>
          <a:lstStyle/>
          <a:p>
            <a:pPr algn="l">
              <a:spcAft>
                <a:spcPts val="600"/>
              </a:spcAft>
            </a:pPr>
            <a:r>
              <a:rPr sz="1350" b="1" i="0">
                <a:solidFill>
                  <a:srgbClr val="212528"/>
                </a:solidFill>
                <a:latin typeface="Arial"/>
              </a:rPr>
              <a:t>The proven concept</a:t>
            </a:r>
          </a:p>
        </p:txBody>
      </p:sp>
      <p:sp>
        <p:nvSpPr>
          <p:cNvPr id="13" name="Rounded Rectangle 12"/>
          <p:cNvSpPr/>
          <p:nvPr/>
        </p:nvSpPr>
        <p:spPr>
          <a:xfrm>
            <a:off x="3794760" y="2624328"/>
            <a:ext cx="3749039" cy="749808"/>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31920" y="2679192"/>
            <a:ext cx="3520440" cy="658368"/>
          </a:xfrm>
          <a:prstGeom prst="rect">
            <a:avLst/>
          </a:prstGeom>
          <a:noFill/>
        </p:spPr>
        <p:txBody>
          <a:bodyPr wrap="square">
            <a:spAutoFit/>
          </a:bodyPr>
          <a:lstStyle/>
          <a:p>
            <a:pPr algn="l">
              <a:spcAft>
                <a:spcPts val="600"/>
              </a:spcAft>
            </a:pPr>
            <a:r>
              <a:rPr sz="1150" b="0" i="0">
                <a:solidFill>
                  <a:srgbClr val="212528"/>
                </a:solidFill>
                <a:latin typeface="Arial"/>
              </a:rPr>
              <a:t>Google 1 GW DR; Emerald 25%/3 h demo in Nature Energy</a:t>
            </a:r>
          </a:p>
        </p:txBody>
      </p:sp>
      <p:sp>
        <p:nvSpPr>
          <p:cNvPr id="15" name="Rounded Rectangle 14"/>
          <p:cNvSpPr/>
          <p:nvPr/>
        </p:nvSpPr>
        <p:spPr>
          <a:xfrm>
            <a:off x="7680960" y="2624328"/>
            <a:ext cx="3657600" cy="749808"/>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18120" y="2679192"/>
            <a:ext cx="3429000" cy="658368"/>
          </a:xfrm>
          <a:prstGeom prst="rect">
            <a:avLst/>
          </a:prstGeom>
          <a:noFill/>
        </p:spPr>
        <p:txBody>
          <a:bodyPr wrap="square">
            <a:spAutoFit/>
          </a:bodyPr>
          <a:lstStyle/>
          <a:p>
            <a:pPr algn="l">
              <a:spcAft>
                <a:spcPts val="600"/>
              </a:spcAft>
            </a:pPr>
            <a:r>
              <a:rPr sz="1150" b="0" i="0">
                <a:solidFill>
                  <a:srgbClr val="212528"/>
                </a:solidFill>
                <a:latin typeface="Arial"/>
              </a:rPr>
              <a:t>DTC pilot live; Broadridge DLR at $354bn/day in tokenized repo</a:t>
            </a:r>
          </a:p>
        </p:txBody>
      </p:sp>
      <p:sp>
        <p:nvSpPr>
          <p:cNvPr id="17" name="Rounded Rectangle 16"/>
          <p:cNvSpPr/>
          <p:nvPr/>
        </p:nvSpPr>
        <p:spPr>
          <a:xfrm>
            <a:off x="822960" y="3511296"/>
            <a:ext cx="2834640" cy="749808"/>
          </a:xfrm>
          <a:prstGeom prst="roundRect">
            <a:avLst>
              <a:gd name="adj" fmla="val 5000"/>
            </a:avLst>
          </a:prstGeom>
          <a:solidFill>
            <a:srgbClr val="EEE9E0"/>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3584448"/>
            <a:ext cx="2606040" cy="640080"/>
          </a:xfrm>
          <a:prstGeom prst="rect">
            <a:avLst/>
          </a:prstGeom>
          <a:noFill/>
        </p:spPr>
        <p:txBody>
          <a:bodyPr wrap="square">
            <a:spAutoFit/>
          </a:bodyPr>
          <a:lstStyle/>
          <a:p>
            <a:pPr algn="l">
              <a:spcAft>
                <a:spcPts val="600"/>
              </a:spcAft>
            </a:pPr>
            <a:r>
              <a:rPr sz="1350" b="1" i="0">
                <a:solidFill>
                  <a:srgbClr val="212528"/>
                </a:solidFill>
                <a:latin typeface="Arial"/>
              </a:rPr>
              <a:t>The missing layer</a:t>
            </a:r>
          </a:p>
        </p:txBody>
      </p:sp>
      <p:sp>
        <p:nvSpPr>
          <p:cNvPr id="19" name="Rounded Rectangle 18"/>
          <p:cNvSpPr/>
          <p:nvPr/>
        </p:nvSpPr>
        <p:spPr>
          <a:xfrm>
            <a:off x="3794760" y="3511296"/>
            <a:ext cx="3749039" cy="749808"/>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31920" y="3566160"/>
            <a:ext cx="3520440" cy="658368"/>
          </a:xfrm>
          <a:prstGeom prst="rect">
            <a:avLst/>
          </a:prstGeom>
          <a:noFill/>
        </p:spPr>
        <p:txBody>
          <a:bodyPr wrap="square">
            <a:spAutoFit/>
          </a:bodyPr>
          <a:lstStyle/>
          <a:p>
            <a:pPr algn="l">
              <a:spcAft>
                <a:spcPts val="600"/>
              </a:spcAft>
            </a:pPr>
            <a:r>
              <a:rPr sz="1150" b="0" i="0">
                <a:solidFill>
                  <a:srgbClr val="212528"/>
                </a:solidFill>
                <a:latin typeface="Arial"/>
              </a:rPr>
              <a:t>A joint, cost-priced controller across all flexibility levers</a:t>
            </a:r>
          </a:p>
        </p:txBody>
      </p:sp>
      <p:sp>
        <p:nvSpPr>
          <p:cNvPr id="21" name="Rounded Rectangle 20"/>
          <p:cNvSpPr/>
          <p:nvPr/>
        </p:nvSpPr>
        <p:spPr>
          <a:xfrm>
            <a:off x="7680960" y="3511296"/>
            <a:ext cx="3657600" cy="749808"/>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18120" y="3566160"/>
            <a:ext cx="3429000" cy="658368"/>
          </a:xfrm>
          <a:prstGeom prst="rect">
            <a:avLst/>
          </a:prstGeom>
          <a:noFill/>
        </p:spPr>
        <p:txBody>
          <a:bodyPr wrap="square">
            <a:spAutoFit/>
          </a:bodyPr>
          <a:lstStyle/>
          <a:p>
            <a:pPr algn="l">
              <a:spcAft>
                <a:spcPts val="600"/>
              </a:spcAft>
            </a:pPr>
            <a:r>
              <a:rPr sz="1150" b="0" i="0">
                <a:solidFill>
                  <a:srgbClr val="212528"/>
                </a:solidFill>
                <a:latin typeface="Arial"/>
              </a:rPr>
              <a:t>A per-trade routing rule across both settlement rails</a:t>
            </a:r>
          </a:p>
        </p:txBody>
      </p:sp>
      <p:sp>
        <p:nvSpPr>
          <p:cNvPr id="23" name="Rounded Rectangle 22"/>
          <p:cNvSpPr/>
          <p:nvPr/>
        </p:nvSpPr>
        <p:spPr>
          <a:xfrm>
            <a:off x="822960" y="4398264"/>
            <a:ext cx="2834640" cy="749808"/>
          </a:xfrm>
          <a:prstGeom prst="roundRect">
            <a:avLst>
              <a:gd name="adj" fmla="val 5000"/>
            </a:avLst>
          </a:prstGeom>
          <a:solidFill>
            <a:srgbClr val="EEE9E0"/>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4471416"/>
            <a:ext cx="2606040" cy="640080"/>
          </a:xfrm>
          <a:prstGeom prst="rect">
            <a:avLst/>
          </a:prstGeom>
          <a:noFill/>
        </p:spPr>
        <p:txBody>
          <a:bodyPr wrap="square">
            <a:spAutoFit/>
          </a:bodyPr>
          <a:lstStyle/>
          <a:p>
            <a:pPr algn="l">
              <a:spcAft>
                <a:spcPts val="600"/>
              </a:spcAft>
            </a:pPr>
            <a:r>
              <a:rPr sz="1350" b="1" i="0">
                <a:solidFill>
                  <a:srgbClr val="212528"/>
                </a:solidFill>
                <a:latin typeface="Arial"/>
              </a:rPr>
              <a:t>The method</a:t>
            </a:r>
          </a:p>
        </p:txBody>
      </p:sp>
      <p:sp>
        <p:nvSpPr>
          <p:cNvPr id="25" name="Rounded Rectangle 24"/>
          <p:cNvSpPr/>
          <p:nvPr/>
        </p:nvSpPr>
        <p:spPr>
          <a:xfrm>
            <a:off x="3794760" y="4398264"/>
            <a:ext cx="3749039" cy="749808"/>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31920" y="4453127"/>
            <a:ext cx="3520440" cy="658368"/>
          </a:xfrm>
          <a:prstGeom prst="rect">
            <a:avLst/>
          </a:prstGeom>
          <a:noFill/>
        </p:spPr>
        <p:txBody>
          <a:bodyPr wrap="square">
            <a:spAutoFit/>
          </a:bodyPr>
          <a:lstStyle/>
          <a:p>
            <a:pPr algn="l">
              <a:spcAft>
                <a:spcPts val="600"/>
              </a:spcAft>
            </a:pPr>
            <a:r>
              <a:rPr sz="1150" b="0" i="0">
                <a:solidFill>
                  <a:srgbClr val="212528"/>
                </a:solidFill>
                <a:latin typeface="Arial"/>
              </a:rPr>
              <a:t>Hierarchical MILP-MPC + LightGBM forecasts + digital twin</a:t>
            </a:r>
          </a:p>
        </p:txBody>
      </p:sp>
      <p:sp>
        <p:nvSpPr>
          <p:cNvPr id="27" name="Rounded Rectangle 26"/>
          <p:cNvSpPr/>
          <p:nvPr/>
        </p:nvSpPr>
        <p:spPr>
          <a:xfrm>
            <a:off x="7680960" y="4398264"/>
            <a:ext cx="3657600" cy="749808"/>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18120" y="4453127"/>
            <a:ext cx="3429000" cy="658368"/>
          </a:xfrm>
          <a:prstGeom prst="rect">
            <a:avLst/>
          </a:prstGeom>
          <a:noFill/>
        </p:spPr>
        <p:txBody>
          <a:bodyPr wrap="square">
            <a:spAutoFit/>
          </a:bodyPr>
          <a:lstStyle/>
          <a:p>
            <a:pPr algn="l">
              <a:spcAft>
                <a:spcPts val="600"/>
              </a:spcAft>
            </a:pPr>
            <a:r>
              <a:rPr sz="1150" b="0" i="0">
                <a:solidFill>
                  <a:srgbClr val="212528"/>
                </a:solidFill>
                <a:latin typeface="Arial"/>
              </a:rPr>
              <a:t>Rolling MILP + gradient-boosted fail predictor + two-rail simulator</a:t>
            </a:r>
          </a:p>
        </p:txBody>
      </p:sp>
      <p:sp>
        <p:nvSpPr>
          <p:cNvPr id="29" name="Rounded Rectangle 28"/>
          <p:cNvSpPr/>
          <p:nvPr/>
        </p:nvSpPr>
        <p:spPr>
          <a:xfrm>
            <a:off x="822960" y="5285231"/>
            <a:ext cx="2834640" cy="749808"/>
          </a:xfrm>
          <a:prstGeom prst="roundRect">
            <a:avLst>
              <a:gd name="adj" fmla="val 5000"/>
            </a:avLst>
          </a:prstGeom>
          <a:solidFill>
            <a:srgbClr val="EEE9E0"/>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58383"/>
            <a:ext cx="2606040" cy="640080"/>
          </a:xfrm>
          <a:prstGeom prst="rect">
            <a:avLst/>
          </a:prstGeom>
          <a:noFill/>
        </p:spPr>
        <p:txBody>
          <a:bodyPr wrap="square">
            <a:spAutoFit/>
          </a:bodyPr>
          <a:lstStyle/>
          <a:p>
            <a:pPr algn="l">
              <a:spcAft>
                <a:spcPts val="600"/>
              </a:spcAft>
            </a:pPr>
            <a:r>
              <a:rPr sz="1350" b="1" i="0">
                <a:solidFill>
                  <a:srgbClr val="212528"/>
                </a:solidFill>
                <a:latin typeface="Arial"/>
              </a:rPr>
              <a:t>The honesty rule</a:t>
            </a:r>
          </a:p>
        </p:txBody>
      </p:sp>
      <p:sp>
        <p:nvSpPr>
          <p:cNvPr id="31" name="Rounded Rectangle 30"/>
          <p:cNvSpPr/>
          <p:nvPr/>
        </p:nvSpPr>
        <p:spPr>
          <a:xfrm>
            <a:off x="3794760" y="5285231"/>
            <a:ext cx="3749039" cy="749808"/>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31920" y="5340095"/>
            <a:ext cx="3520440" cy="658368"/>
          </a:xfrm>
          <a:prstGeom prst="rect">
            <a:avLst/>
          </a:prstGeom>
          <a:noFill/>
        </p:spPr>
        <p:txBody>
          <a:bodyPr wrap="square">
            <a:spAutoFit/>
          </a:bodyPr>
          <a:lstStyle/>
          <a:p>
            <a:pPr algn="l">
              <a:spcAft>
                <a:spcPts val="600"/>
              </a:spcAft>
            </a:pPr>
            <a:r>
              <a:rPr sz="1150" b="0" i="0">
                <a:solidFill>
                  <a:srgbClr val="212528"/>
                </a:solidFill>
                <a:latin typeface="Arial"/>
              </a:rPr>
              <a:t>Results as Pareto frontiers; negative results publishable</a:t>
            </a:r>
          </a:p>
        </p:txBody>
      </p:sp>
      <p:sp>
        <p:nvSpPr>
          <p:cNvPr id="33" name="Rounded Rectangle 32"/>
          <p:cNvSpPr/>
          <p:nvPr/>
        </p:nvSpPr>
        <p:spPr>
          <a:xfrm>
            <a:off x="7680960" y="5285231"/>
            <a:ext cx="3657600" cy="749808"/>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18120" y="5340095"/>
            <a:ext cx="3429000" cy="658368"/>
          </a:xfrm>
          <a:prstGeom prst="rect">
            <a:avLst/>
          </a:prstGeom>
          <a:noFill/>
        </p:spPr>
        <p:txBody>
          <a:bodyPr wrap="square">
            <a:spAutoFit/>
          </a:bodyPr>
          <a:lstStyle/>
          <a:p>
            <a:pPr algn="l">
              <a:spcAft>
                <a:spcPts val="600"/>
              </a:spcAft>
            </a:pPr>
            <a:r>
              <a:rPr sz="1150" b="0" i="0">
                <a:solidFill>
                  <a:srgbClr val="212528"/>
                </a:solidFill>
                <a:latin typeface="Arial"/>
              </a:rPr>
              <a:t>Parameters from published research, swept → results as bands</a:t>
            </a:r>
          </a:p>
        </p:txBody>
      </p:sp>
      <p:sp>
        <p:nvSpPr>
          <p:cNvPr id="35" name="Rounded Rectangle 34"/>
          <p:cNvSpPr/>
          <p:nvPr/>
        </p:nvSpPr>
        <p:spPr>
          <a:xfrm>
            <a:off x="822960" y="6172199"/>
            <a:ext cx="2834640" cy="749808"/>
          </a:xfrm>
          <a:prstGeom prst="roundRect">
            <a:avLst>
              <a:gd name="adj" fmla="val 5000"/>
            </a:avLst>
          </a:prstGeom>
          <a:solidFill>
            <a:srgbClr val="EEE9E0"/>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20" y="6245351"/>
            <a:ext cx="2606040" cy="640080"/>
          </a:xfrm>
          <a:prstGeom prst="rect">
            <a:avLst/>
          </a:prstGeom>
          <a:noFill/>
        </p:spPr>
        <p:txBody>
          <a:bodyPr wrap="square">
            <a:spAutoFit/>
          </a:bodyPr>
          <a:lstStyle/>
          <a:p>
            <a:pPr algn="l">
              <a:spcAft>
                <a:spcPts val="600"/>
              </a:spcAft>
            </a:pPr>
            <a:r>
              <a:rPr sz="1350" b="1" i="0">
                <a:solidFill>
                  <a:srgbClr val="212528"/>
                </a:solidFill>
                <a:latin typeface="Arial"/>
              </a:rPr>
              <a:t>The safety property</a:t>
            </a:r>
          </a:p>
        </p:txBody>
      </p:sp>
      <p:sp>
        <p:nvSpPr>
          <p:cNvPr id="37" name="Rounded Rectangle 36"/>
          <p:cNvSpPr/>
          <p:nvPr/>
        </p:nvSpPr>
        <p:spPr>
          <a:xfrm>
            <a:off x="3794760" y="6172199"/>
            <a:ext cx="3749039" cy="749808"/>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31920" y="6227063"/>
            <a:ext cx="3520440" cy="658368"/>
          </a:xfrm>
          <a:prstGeom prst="rect">
            <a:avLst/>
          </a:prstGeom>
          <a:noFill/>
        </p:spPr>
        <p:txBody>
          <a:bodyPr wrap="square">
            <a:spAutoFit/>
          </a:bodyPr>
          <a:lstStyle/>
          <a:p>
            <a:pPr algn="l">
              <a:spcAft>
                <a:spcPts val="600"/>
              </a:spcAft>
            </a:pPr>
            <a:r>
              <a:rPr sz="1150" b="0" i="0">
                <a:solidFill>
                  <a:srgbClr val="212528"/>
                </a:solidFill>
                <a:latin typeface="Arial"/>
              </a:rPr>
              <a:t>Cannot fail by not working — the deliverable is a measured trade-off</a:t>
            </a:r>
          </a:p>
        </p:txBody>
      </p:sp>
      <p:sp>
        <p:nvSpPr>
          <p:cNvPr id="39" name="Rounded Rectangle 38"/>
          <p:cNvSpPr/>
          <p:nvPr/>
        </p:nvSpPr>
        <p:spPr>
          <a:xfrm>
            <a:off x="7680960" y="6172199"/>
            <a:ext cx="3657600" cy="749808"/>
          </a:xfrm>
          <a:prstGeom prst="roundRect">
            <a:avLst>
              <a:gd name="adj" fmla="val 5000"/>
            </a:avLst>
          </a:prstGeom>
          <a:solidFill>
            <a:srgbClr val="FFFFFF"/>
          </a:solidFill>
          <a:ln w="12700">
            <a:solidFill>
              <a:srgbClr val="C9C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18120" y="6227063"/>
            <a:ext cx="3429000" cy="658368"/>
          </a:xfrm>
          <a:prstGeom prst="rect">
            <a:avLst/>
          </a:prstGeom>
          <a:noFill/>
        </p:spPr>
        <p:txBody>
          <a:bodyPr wrap="square">
            <a:spAutoFit/>
          </a:bodyPr>
          <a:lstStyle/>
          <a:p>
            <a:pPr algn="l">
              <a:spcAft>
                <a:spcPts val="600"/>
              </a:spcAft>
            </a:pPr>
            <a:r>
              <a:rPr sz="1150" b="0" i="0">
                <a:solidFill>
                  <a:srgbClr val="212528"/>
                </a:solidFill>
                <a:latin typeface="Arial"/>
              </a:rPr>
              <a:t>A corner solution ('atomic never pays') is itself the requested evidence</a:t>
            </a:r>
          </a:p>
        </p:txBody>
      </p:sp>
      <p:sp>
        <p:nvSpPr>
          <p:cNvPr id="41" name="TextBox 40"/>
          <p:cNvSpPr txBox="1"/>
          <p:nvPr/>
        </p:nvSpPr>
        <p:spPr>
          <a:xfrm>
            <a:off x="822960" y="7104887"/>
            <a:ext cx="10515600" cy="457200"/>
          </a:xfrm>
          <a:prstGeom prst="rect">
            <a:avLst/>
          </a:prstGeom>
          <a:noFill/>
        </p:spPr>
        <p:txBody>
          <a:bodyPr wrap="square">
            <a:spAutoFit/>
          </a:bodyPr>
          <a:lstStyle/>
          <a:p>
            <a:pPr algn="l">
              <a:spcAft>
                <a:spcPts val="600"/>
              </a:spcAft>
            </a:pPr>
            <a:r>
              <a:rPr sz="1200" b="0" i="1">
                <a:solidFill>
                  <a:srgbClr val="5A6064"/>
                </a:solidFill>
                <a:latin typeface="Arial"/>
              </a:rPr>
              <a:t>Left column: HEADROOM · AI infrastructure      Right column: SETU · market infrastructure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640080" y="164592"/>
            <a:ext cx="10881360" cy="365760"/>
          </a:xfrm>
          <a:prstGeom prst="rect">
            <a:avLst/>
          </a:prstGeom>
          <a:noFill/>
        </p:spPr>
        <p:txBody>
          <a:bodyPr wrap="square">
            <a:spAutoFit/>
          </a:bodyPr>
          <a:lstStyle/>
          <a:p>
            <a:pPr algn="l">
              <a:spcAft>
                <a:spcPts val="600"/>
              </a:spcAft>
            </a:pPr>
            <a:r>
              <a:rPr sz="1200" b="1" i="0">
                <a:solidFill>
                  <a:srgbClr val="A64B2A"/>
                </a:solidFill>
                <a:latin typeface="Arial"/>
              </a:rPr>
              <a:t>SUMMARY</a:t>
            </a:r>
          </a:p>
        </p:txBody>
      </p:sp>
      <p:sp>
        <p:nvSpPr>
          <p:cNvPr id="3" name="TextBox 2"/>
          <p:cNvSpPr txBox="1"/>
          <p:nvPr/>
        </p:nvSpPr>
        <p:spPr>
          <a:xfrm>
            <a:off x="640080" y="457200"/>
            <a:ext cx="10881360" cy="1051560"/>
          </a:xfrm>
          <a:prstGeom prst="rect">
            <a:avLst/>
          </a:prstGeom>
          <a:noFill/>
        </p:spPr>
        <p:txBody>
          <a:bodyPr wrap="square">
            <a:spAutoFit/>
          </a:bodyPr>
          <a:lstStyle/>
          <a:p>
            <a:pPr algn="l">
              <a:spcAft>
                <a:spcPts val="600"/>
              </a:spcAft>
            </a:pPr>
            <a:r>
              <a:rPr sz="3200" b="1" i="0">
                <a:solidFill>
                  <a:srgbClr val="212528"/>
                </a:solidFill>
                <a:latin typeface="Arial"/>
              </a:rPr>
              <a:t>Two bridges across the same gap</a:t>
            </a:r>
          </a:p>
        </p:txBody>
      </p:sp>
      <p:sp>
        <p:nvSpPr>
          <p:cNvPr id="4" name="Rectangle 3"/>
          <p:cNvSpPr/>
          <p:nvPr/>
        </p:nvSpPr>
        <p:spPr>
          <a:xfrm>
            <a:off x="658368" y="1371600"/>
            <a:ext cx="1005840" cy="33020"/>
          </a:xfrm>
          <a:prstGeom prst="rect">
            <a:avLst/>
          </a:prstGeom>
          <a:solidFill>
            <a:srgbClr val="A64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10515600" cy="3291840"/>
          </a:xfrm>
          <a:prstGeom prst="rect">
            <a:avLst/>
          </a:prstGeom>
          <a:noFill/>
        </p:spPr>
        <p:txBody>
          <a:bodyPr wrap="square">
            <a:spAutoFit/>
          </a:bodyPr>
          <a:lstStyle/>
          <a:p>
            <a:pPr algn="l">
              <a:spcAft>
                <a:spcPts val="400"/>
              </a:spcAft>
            </a:pPr>
            <a:r>
              <a:rPr sz="2200" b="1" i="0">
                <a:solidFill>
                  <a:srgbClr val="A64B2A"/>
                </a:solidFill>
                <a:latin typeface="Arial"/>
              </a:rPr>
              <a:t>HEADROOM</a:t>
            </a:r>
          </a:p>
          <a:p>
            <a:pPr algn="l">
              <a:spcAft>
                <a:spcPts val="1600"/>
              </a:spcAft>
            </a:pPr>
            <a:r>
              <a:rPr sz="1500" b="0" i="0">
                <a:solidFill>
                  <a:srgbClr val="212528"/>
                </a:solidFill>
                <a:latin typeface="Arial"/>
              </a:rPr>
              <a:t>When the grid says 'cut 25% for three hours', a mixed training-and-inference cluster must decide what to slow. HEADROOM is the first open, cost-priced, forecast-driven controller that answers jointly — job power modes, inference replicas, coolant temperature, battery — with a digital twin and benchmark to prove the rules wrong.</a:t>
            </a:r>
          </a:p>
          <a:p>
            <a:pPr algn="l">
              <a:spcAft>
                <a:spcPts val="400"/>
              </a:spcAft>
            </a:pPr>
            <a:r>
              <a:rPr sz="2200" b="1" i="0">
                <a:solidFill>
                  <a:srgbClr val="2E45B0"/>
                </a:solidFill>
                <a:latin typeface="Arial"/>
              </a:rPr>
              <a:t>SETU</a:t>
            </a:r>
          </a:p>
          <a:p>
            <a:pPr algn="l">
              <a:spcAft>
                <a:spcPts val="600"/>
              </a:spcAft>
            </a:pPr>
            <a:r>
              <a:rPr sz="1500" b="0" i="0">
                <a:solidFill>
                  <a:srgbClr val="212528"/>
                </a:solidFill>
                <a:latin typeface="Arial"/>
              </a:rPr>
              <a:t>When one share can settle netted tomorrow or atomically tonight, someone must choose per trade. SETU is the first quantitative router for that choice — cost-minimising, fail-aware, legally faithful to DTC's structure — measured in a calibrated two-rail simulator with real contracts on the atomic rail.</a:t>
            </a:r>
          </a:p>
        </p:txBody>
      </p:sp>
      <p:sp>
        <p:nvSpPr>
          <p:cNvPr id="6" name="Rectangle 5"/>
          <p:cNvSpPr/>
          <p:nvPr/>
        </p:nvSpPr>
        <p:spPr>
          <a:xfrm>
            <a:off x="841248" y="5349240"/>
            <a:ext cx="10515600" cy="19050"/>
          </a:xfrm>
          <a:prstGeom prst="rect">
            <a:avLst/>
          </a:prstGeom>
          <a:solidFill>
            <a:srgbClr val="C9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5532120"/>
            <a:ext cx="10515600" cy="1097280"/>
          </a:xfrm>
          <a:prstGeom prst="rect">
            <a:avLst/>
          </a:prstGeom>
          <a:noFill/>
        </p:spPr>
        <p:txBody>
          <a:bodyPr wrap="square">
            <a:spAutoFit/>
          </a:bodyPr>
          <a:lstStyle/>
          <a:p>
            <a:pPr algn="l">
              <a:spcAft>
                <a:spcPts val="600"/>
              </a:spcAft>
            </a:pPr>
            <a:r>
              <a:rPr sz="1600" b="1" i="0">
                <a:solidFill>
                  <a:srgbClr val="212528"/>
                </a:solidFill>
                <a:latin typeface="Arial"/>
              </a:rPr>
              <a:t>Both use:  discrete-event simulation · mixed-integer programming · gradient-boosted forecasting · public data only · laptop-scale · a falsifiable hypothesis stated in advance.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